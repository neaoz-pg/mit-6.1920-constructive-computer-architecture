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35"/>
  </p:notesMasterIdLst>
  <p:handoutMasterIdLst>
    <p:handoutMasterId r:id="rId36"/>
  </p:handoutMasterIdLst>
  <p:sldIdLst>
    <p:sldId id="1476" r:id="rId2"/>
    <p:sldId id="1558" r:id="rId3"/>
    <p:sldId id="1560" r:id="rId4"/>
    <p:sldId id="1561" r:id="rId5"/>
    <p:sldId id="1481" r:id="rId6"/>
    <p:sldId id="1555" r:id="rId7"/>
    <p:sldId id="1549" r:id="rId8"/>
    <p:sldId id="1559" r:id="rId9"/>
    <p:sldId id="1562" r:id="rId10"/>
    <p:sldId id="1482" r:id="rId11"/>
    <p:sldId id="1552" r:id="rId12"/>
    <p:sldId id="1483" r:id="rId13"/>
    <p:sldId id="1556" r:id="rId14"/>
    <p:sldId id="1488" r:id="rId15"/>
    <p:sldId id="1536" r:id="rId16"/>
    <p:sldId id="1490" r:id="rId17"/>
    <p:sldId id="1491" r:id="rId18"/>
    <p:sldId id="1566" r:id="rId19"/>
    <p:sldId id="1567" r:id="rId20"/>
    <p:sldId id="1551" r:id="rId21"/>
    <p:sldId id="1563" r:id="rId22"/>
    <p:sldId id="1486" r:id="rId23"/>
    <p:sldId id="1485" r:id="rId24"/>
    <p:sldId id="1541" r:id="rId25"/>
    <p:sldId id="1542" r:id="rId26"/>
    <p:sldId id="1544" r:id="rId27"/>
    <p:sldId id="1543" r:id="rId28"/>
    <p:sldId id="1484" r:id="rId29"/>
    <p:sldId id="1565" r:id="rId30"/>
    <p:sldId id="1557" r:id="rId31"/>
    <p:sldId id="1540" r:id="rId32"/>
    <p:sldId id="1546" r:id="rId33"/>
    <p:sldId id="1553" r:id="rId34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19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FBD2D"/>
    <a:srgbClr val="F6FD71"/>
    <a:srgbClr val="FF3333"/>
    <a:srgbClr val="FD7E71"/>
    <a:srgbClr val="CC3300"/>
    <a:srgbClr val="000000"/>
    <a:srgbClr val="707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3" autoAdjust="0"/>
    <p:restoredTop sz="84885" autoAdjust="0"/>
  </p:normalViewPr>
  <p:slideViewPr>
    <p:cSldViewPr snapToGrid="0">
      <p:cViewPr varScale="1">
        <p:scale>
          <a:sx n="95" d="100"/>
          <a:sy n="95" d="100"/>
        </p:scale>
        <p:origin x="720" y="184"/>
      </p:cViewPr>
      <p:guideLst>
        <p:guide orient="horz" pos="2448"/>
        <p:guide pos="1968"/>
      </p:guideLst>
    </p:cSldViewPr>
  </p:slideViewPr>
  <p:outlineViewPr>
    <p:cViewPr>
      <p:scale>
        <a:sx n="33" d="100"/>
        <a:sy n="33" d="100"/>
      </p:scale>
      <p:origin x="0" y="1008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3932"/>
    </p:cViewPr>
  </p:sorterViewPr>
  <p:notesViewPr>
    <p:cSldViewPr snapToGrid="0">
      <p:cViewPr>
        <p:scale>
          <a:sx n="75" d="100"/>
          <a:sy n="75" d="100"/>
        </p:scale>
        <p:origin x="4104" y="440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43665" cy="466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t" anchorCtr="0" compatLnSpc="1">
            <a:prstTxWarp prst="textNoShape">
              <a:avLst/>
            </a:prstTxWarp>
          </a:bodyPr>
          <a:lstStyle>
            <a:lvl1pPr defTabSz="931807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9436" y="1"/>
            <a:ext cx="3043664" cy="466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t" anchorCtr="0" compatLnSpc="1">
            <a:prstTxWarp prst="textNoShape">
              <a:avLst/>
            </a:prstTxWarp>
          </a:bodyPr>
          <a:lstStyle>
            <a:lvl1pPr algn="r" defTabSz="931807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684"/>
            <a:ext cx="3043665" cy="466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b" anchorCtr="0" compatLnSpc="1">
            <a:prstTxWarp prst="textNoShape">
              <a:avLst/>
            </a:prstTxWarp>
          </a:bodyPr>
          <a:lstStyle>
            <a:lvl1pPr defTabSz="931807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9436" y="8842684"/>
            <a:ext cx="3043664" cy="466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b" anchorCtr="0" compatLnSpc="1">
            <a:prstTxWarp prst="textNoShape">
              <a:avLst/>
            </a:prstTxWarp>
          </a:bodyPr>
          <a:lstStyle>
            <a:lvl1pPr algn="r" defTabSz="931807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fld id="{1260C9C6-A0DB-4607-A497-77CF885E1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19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82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43665" cy="466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t" anchorCtr="0" compatLnSpc="1">
            <a:prstTxWarp prst="textNoShape">
              <a:avLst/>
            </a:prstTxWarp>
          </a:bodyPr>
          <a:lstStyle>
            <a:lvl1pPr defTabSz="931807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5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6913"/>
            <a:ext cx="46545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5584" name="Rectangle 1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770" y="4422144"/>
            <a:ext cx="5151560" cy="4189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5585" name="Rectangle 17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436" y="1"/>
            <a:ext cx="3043664" cy="466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t" anchorCtr="0" compatLnSpc="1">
            <a:prstTxWarp prst="textNoShape">
              <a:avLst/>
            </a:prstTxWarp>
          </a:bodyPr>
          <a:lstStyle>
            <a:lvl1pPr algn="r" defTabSz="931807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6" name="Rectangle 1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684"/>
            <a:ext cx="3043665" cy="466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b" anchorCtr="0" compatLnSpc="1">
            <a:prstTxWarp prst="textNoShape">
              <a:avLst/>
            </a:prstTxWarp>
          </a:bodyPr>
          <a:lstStyle>
            <a:lvl1pPr defTabSz="931807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7" name="Rectangle 1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436" y="8842684"/>
            <a:ext cx="3043664" cy="466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6" tIns="46639" rIns="93286" bIns="46639" numCol="1" anchor="b" anchorCtr="0" compatLnSpc="1">
            <a:prstTxWarp prst="textNoShape">
              <a:avLst/>
            </a:prstTxWarp>
          </a:bodyPr>
          <a:lstStyle>
            <a:lvl1pPr algn="r" defTabSz="931807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charset="0"/>
              </a:defRPr>
            </a:lvl1pPr>
          </a:lstStyle>
          <a:p>
            <a:pPr>
              <a:defRPr/>
            </a:pPr>
            <a:fld id="{48EF068C-896A-4B1F-83B4-1F2D5CC2D7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060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9ECD1-CED9-471E-95FB-4B0E3A8B05F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4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 you disambiguate between different threads.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Share code, share PC.  .. </a:t>
            </a:r>
            <a:r>
              <a:rPr lang="en-US" dirty="0" err="1"/>
              <a:t>Thread_id</a:t>
            </a:r>
            <a:r>
              <a:rPr lang="en-US" dirty="0"/>
              <a:t> stored in a special control status register 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EF068C-896A-4B1F-83B4-1F2D5CC2D72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77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 you disambiguate between different threads.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Share code, share PC.  .. </a:t>
            </a:r>
            <a:r>
              <a:rPr lang="en-US" dirty="0" err="1"/>
              <a:t>Thread_id</a:t>
            </a:r>
            <a:r>
              <a:rPr lang="en-US" dirty="0"/>
              <a:t> stored in a special control status register 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EF068C-896A-4B1F-83B4-1F2D5CC2D72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36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66D489-1E22-4BAA-BBDC-3BD2A4A8E8F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Shared Memory Abstraction </a:t>
            </a:r>
          </a:p>
          <a:p>
            <a:pPr marL="171450" indent="-171450" eaLnBrk="1" hangingPunct="1">
              <a:buFontTx/>
              <a:buChar char="-"/>
            </a:pPr>
            <a:r>
              <a:rPr lang="en-US" dirty="0"/>
              <a:t>Case 1: same cores</a:t>
            </a:r>
          </a:p>
          <a:p>
            <a:pPr marL="171450" indent="-171450" eaLnBrk="1" hangingPunct="1">
              <a:buFontTx/>
              <a:buChar char="-"/>
            </a:pPr>
            <a:r>
              <a:rPr lang="en-US" dirty="0"/>
              <a:t>Case 2: multiple cores.</a:t>
            </a:r>
          </a:p>
          <a:p>
            <a:pPr marL="171450" indent="-171450" eaLnBrk="1" hangingPunct="1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612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66D489-1E22-4BAA-BBDC-3BD2A4A8E8F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[Maybe move it later?]</a:t>
            </a:r>
          </a:p>
        </p:txBody>
      </p:sp>
    </p:spTree>
    <p:extLst>
      <p:ext uri="{BB962C8B-B14F-4D97-AF65-F5344CB8AC3E}">
        <p14:creationId xmlns:p14="http://schemas.microsoft.com/office/powerpoint/2010/main" val="1996143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147D1B-9F19-4C40-87BE-0B6264EB25B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2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01B910-4983-4BCD-97FC-FC5D7F6C998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79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01B910-4983-4BCD-97FC-FC5D7F6C998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79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CB73E0-059B-4D60-80E0-F19FB66BD87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69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EF068C-896A-4B1F-83B4-1F2D5CC2D72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67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440E93-B155-429E-A76F-CD6BDC07B54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example of multi-thread programming: </a:t>
            </a:r>
            <a:r>
              <a:rPr lang="en-US" dirty="0" err="1"/>
              <a:t>pthreads</a:t>
            </a:r>
            <a:endParaRPr lang="en-US" dirty="0"/>
          </a:p>
          <a:p>
            <a:pPr eaLnBrk="1" hangingPunct="1"/>
            <a:r>
              <a:rPr lang="en-US" dirty="0"/>
              <a:t>It provides a function calls to lock, which is implemented via these instructions in the compiled code</a:t>
            </a:r>
          </a:p>
        </p:txBody>
      </p:sp>
    </p:spTree>
    <p:extLst>
      <p:ext uri="{BB962C8B-B14F-4D97-AF65-F5344CB8AC3E}">
        <p14:creationId xmlns:p14="http://schemas.microsoft.com/office/powerpoint/2010/main" val="243217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A68CF-A53F-4D5B-9AD9-80420C09CB5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critical sections too large, leads to loss of concurrency</a:t>
            </a:r>
          </a:p>
        </p:txBody>
      </p:sp>
    </p:spTree>
    <p:extLst>
      <p:ext uri="{BB962C8B-B14F-4D97-AF65-F5344CB8AC3E}">
        <p14:creationId xmlns:p14="http://schemas.microsoft.com/office/powerpoint/2010/main" val="590190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197704-1D87-4A64-8118-6C7C92370E7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93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B618B7-FEAC-4D7D-B904-7C8ED1A0563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22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C56C29-7B6E-4AF7-A4F5-A2D5D047488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83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1D3022-90EB-4960-A87A-76C3E3EC6EE7}" type="slidenum">
              <a:rPr lang="en-US"/>
              <a:pPr/>
              <a:t>25</a:t>
            </a:fld>
            <a:endParaRPr lang="en-US"/>
          </a:p>
        </p:txBody>
      </p:sp>
      <p:sp>
        <p:nvSpPr>
          <p:cNvPr id="195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LSQ, the Store Queue can be rolled back.</a:t>
            </a:r>
          </a:p>
          <a:p>
            <a:r>
              <a:rPr lang="en-US" dirty="0"/>
              <a:t>Store Buffer is committed stores on the way to memory. </a:t>
            </a:r>
          </a:p>
          <a:p>
            <a:endParaRPr lang="en-US" dirty="0"/>
          </a:p>
          <a:p>
            <a:r>
              <a:rPr lang="en-US" dirty="0"/>
              <a:t>Clarify “Store Buffer” here different from the one in the lab.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895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88C107-D796-424E-A6B5-C971EFF78C86}" type="slidenum">
              <a:rPr lang="en-US"/>
              <a:pPr/>
              <a:t>26</a:t>
            </a:fld>
            <a:endParaRPr lang="en-US"/>
          </a:p>
        </p:txBody>
      </p:sp>
      <p:sp>
        <p:nvSpPr>
          <p:cNvPr id="195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75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4DDDB1-E2A2-4CD4-9683-14B2DF8FBA52}" type="slidenum">
              <a:rPr lang="en-US"/>
              <a:pPr/>
              <a:t>27</a:t>
            </a:fld>
            <a:endParaRPr lang="en-US"/>
          </a:p>
        </p:txBody>
      </p:sp>
      <p:sp>
        <p:nvSpPr>
          <p:cNvPr id="195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90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4D685A-3C0D-48C8-B8D9-3778637F3E74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Subtle question – what does ‘store completion’ really mean?</a:t>
            </a:r>
          </a:p>
        </p:txBody>
      </p:sp>
    </p:spTree>
    <p:extLst>
      <p:ext uri="{BB962C8B-B14F-4D97-AF65-F5344CB8AC3E}">
        <p14:creationId xmlns:p14="http://schemas.microsoft.com/office/powerpoint/2010/main" val="57960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Monolithic Memory is the memory hierarchy (L1, L2, ..)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EF068C-896A-4B1F-83B4-1F2D5CC2D72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9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216012-40DE-4447-AB65-C55A3C46C66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3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</p:grpSp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1400" smtClean="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70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 smtClean="0"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L12-</a:t>
            </a:r>
            <a:fld id="{6D66DF8F-9E10-4DDB-8C1E-68662AECA33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1" name="Rectangle 72"/>
          <p:cNvSpPr>
            <a:spLocks noGrp="1" noChangeArrowheads="1"/>
          </p:cNvSpPr>
          <p:nvPr>
            <p:ph type="ftr" sz="quarter" idx="12"/>
          </p:nvPr>
        </p:nvSpPr>
        <p:spPr>
          <a:xfrm>
            <a:off x="3098800" y="6400800"/>
            <a:ext cx="3149600" cy="457200"/>
          </a:xfrm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L12-</a:t>
            </a:r>
            <a:fld id="{53294580-05E8-4585-908E-66FCC5062CA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26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7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</p:grpSp>
        </p:grpSp>
        <p:sp>
          <p:nvSpPr>
            <p:cNvPr id="4127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5000"/>
                </a:spcBef>
                <a:buClr>
                  <a:schemeClr val="bg1"/>
                </a:buClr>
                <a:buSzPct val="100000"/>
                <a:buFont typeface="Wingdings" pitchFamily="2" charset="2"/>
                <a:buChar char="•"/>
                <a:defRPr/>
              </a:pPr>
              <a:endParaRPr lang="en-US"/>
            </a:p>
          </p:txBody>
        </p:sp>
        <p:sp>
          <p:nvSpPr>
            <p:cNvPr id="4127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5000"/>
                </a:spcBef>
                <a:buClr>
                  <a:schemeClr val="bg1"/>
                </a:buClr>
                <a:buSzPct val="100000"/>
                <a:buFont typeface="Wingdings" pitchFamily="2" charset="2"/>
                <a:buChar char="•"/>
                <a:defRPr/>
              </a:pPr>
              <a:endParaRPr 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27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4127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4127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27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4127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dirty="0" smtClean="0"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 dirty="0"/>
              <a:t>L12-</a:t>
            </a:r>
            <a:fld id="{D0401301-61DA-4AD1-B56D-F835E5556F1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2741" name="Rectangle 6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98800" y="6400800"/>
            <a:ext cx="314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dirty="0" smtClean="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4" r:id="rId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816271" y="1025043"/>
            <a:ext cx="7899400" cy="46513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6F89F7"/>
              </a:buClr>
            </a:pPr>
            <a:r>
              <a:rPr lang="en-US" sz="2400" dirty="0">
                <a:solidFill>
                  <a:srgbClr val="660066"/>
                </a:solidFill>
              </a:rPr>
              <a:t>Constructive Computer Architecture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</a:pPr>
            <a:r>
              <a:rPr lang="en-US" sz="3600" dirty="0">
                <a:solidFill>
                  <a:schemeClr val="tx2"/>
                </a:solidFill>
              </a:rPr>
              <a:t>Multithreaded Programming:   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</a:pPr>
            <a:r>
              <a:rPr lang="en-US" sz="3600" dirty="0">
                <a:solidFill>
                  <a:schemeClr val="tx2"/>
                </a:solidFill>
              </a:rPr>
              <a:t>	Synchronization and 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</a:pPr>
            <a:r>
              <a:rPr lang="en-US" sz="3600" dirty="0">
                <a:solidFill>
                  <a:schemeClr val="tx2"/>
                </a:solidFill>
              </a:rPr>
              <a:t>		Sequential Consistency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</a:pPr>
            <a:endParaRPr lang="en-US" sz="36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Tushar Krishna (+ Arvind)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Electrical Engineering and Computer Science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Massachusetts Institute of Technology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F5104-3DC8-4D77-F15D-1DAA143BCF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5F351-B46B-F853-D7C2-FC9D00DB4B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AFC58-9F69-63A9-8722-9FA21E3E0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6D66DF8F-9E10-4DDB-8C1E-68662AECA33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3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73DB5-2C84-B2F2-8085-B8AE268A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Threads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8291-E128-15A5-0587-AB3958F3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3895D-19B0-F0B0-BF70-34AD36DC62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E3CF8-CB4D-7EBF-47DD-B0346B06C3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B3DF5-2C98-CEA1-E390-E3FC7C7310D5}"/>
              </a:ext>
            </a:extLst>
          </p:cNvPr>
          <p:cNvSpPr txBox="1"/>
          <p:nvPr/>
        </p:nvSpPr>
        <p:spPr>
          <a:xfrm>
            <a:off x="837487" y="1847580"/>
            <a:ext cx="1251289" cy="25137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38CD2DD3-ADF8-140F-10B8-FABFC616786C}"/>
              </a:ext>
            </a:extLst>
          </p:cNvPr>
          <p:cNvSpPr>
            <a:spLocks noChangeAspect="1"/>
          </p:cNvSpPr>
          <p:nvPr/>
        </p:nvSpPr>
        <p:spPr bwMode="auto">
          <a:xfrm>
            <a:off x="986117" y="2022835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DAC07537-F1BF-A90D-7201-3B7A2D9496D6}"/>
              </a:ext>
            </a:extLst>
          </p:cNvPr>
          <p:cNvSpPr>
            <a:spLocks noChangeAspect="1"/>
          </p:cNvSpPr>
          <p:nvPr/>
        </p:nvSpPr>
        <p:spPr bwMode="auto">
          <a:xfrm>
            <a:off x="1400526" y="2025128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DB0088F8-F226-6D47-E310-0591219C2859}"/>
              </a:ext>
            </a:extLst>
          </p:cNvPr>
          <p:cNvSpPr>
            <a:spLocks noChangeAspect="1"/>
          </p:cNvSpPr>
          <p:nvPr/>
        </p:nvSpPr>
        <p:spPr bwMode="auto">
          <a:xfrm>
            <a:off x="1719768" y="2025127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F6A8E-66CA-29E8-B999-85A0E160F946}"/>
              </a:ext>
            </a:extLst>
          </p:cNvPr>
          <p:cNvSpPr txBox="1"/>
          <p:nvPr/>
        </p:nvSpPr>
        <p:spPr>
          <a:xfrm>
            <a:off x="2264519" y="1852998"/>
            <a:ext cx="1251289" cy="2508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26F04EA-48D7-527D-C2F1-C3F5E92BBB3F}"/>
              </a:ext>
            </a:extLst>
          </p:cNvPr>
          <p:cNvSpPr>
            <a:spLocks noChangeAspect="1"/>
          </p:cNvSpPr>
          <p:nvPr/>
        </p:nvSpPr>
        <p:spPr bwMode="auto">
          <a:xfrm>
            <a:off x="2413149" y="2028253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6B0222A1-2B88-D619-0385-482D8FAD76ED}"/>
              </a:ext>
            </a:extLst>
          </p:cNvPr>
          <p:cNvSpPr>
            <a:spLocks noChangeAspect="1"/>
          </p:cNvSpPr>
          <p:nvPr/>
        </p:nvSpPr>
        <p:spPr bwMode="auto">
          <a:xfrm>
            <a:off x="3146800" y="2030545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48282-A841-4BF8-D6E6-359E98071F21}"/>
              </a:ext>
            </a:extLst>
          </p:cNvPr>
          <p:cNvSpPr txBox="1"/>
          <p:nvPr/>
        </p:nvSpPr>
        <p:spPr>
          <a:xfrm>
            <a:off x="3721533" y="1856648"/>
            <a:ext cx="979330" cy="250468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7F7FDBC-C040-7F70-13C3-9783D907161E}"/>
              </a:ext>
            </a:extLst>
          </p:cNvPr>
          <p:cNvSpPr>
            <a:spLocks noChangeAspect="1"/>
          </p:cNvSpPr>
          <p:nvPr/>
        </p:nvSpPr>
        <p:spPr bwMode="auto">
          <a:xfrm>
            <a:off x="3870163" y="2028253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928496-B7F2-72CA-0BF0-6F5FF0C8C142}"/>
              </a:ext>
            </a:extLst>
          </p:cNvPr>
          <p:cNvSpPr txBox="1"/>
          <p:nvPr/>
        </p:nvSpPr>
        <p:spPr>
          <a:xfrm>
            <a:off x="4881749" y="1856648"/>
            <a:ext cx="1549350" cy="250468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2EEE91A-38A2-E604-93CA-4BFEA45548EB}"/>
              </a:ext>
            </a:extLst>
          </p:cNvPr>
          <p:cNvSpPr>
            <a:spLocks noChangeAspect="1"/>
          </p:cNvSpPr>
          <p:nvPr/>
        </p:nvSpPr>
        <p:spPr bwMode="auto">
          <a:xfrm>
            <a:off x="5030379" y="2031903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B8F30249-366B-2D38-376D-1E1B9E3109BC}"/>
              </a:ext>
            </a:extLst>
          </p:cNvPr>
          <p:cNvSpPr>
            <a:spLocks noChangeAspect="1"/>
          </p:cNvSpPr>
          <p:nvPr/>
        </p:nvSpPr>
        <p:spPr bwMode="auto">
          <a:xfrm>
            <a:off x="5444788" y="2034196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C37E7CBF-5563-9884-3F19-115B3DCB46CC}"/>
              </a:ext>
            </a:extLst>
          </p:cNvPr>
          <p:cNvSpPr>
            <a:spLocks noChangeAspect="1"/>
          </p:cNvSpPr>
          <p:nvPr/>
        </p:nvSpPr>
        <p:spPr bwMode="auto">
          <a:xfrm>
            <a:off x="5764030" y="2034195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618C345A-84FC-0A9F-4F6E-61C05FDE6CE0}"/>
              </a:ext>
            </a:extLst>
          </p:cNvPr>
          <p:cNvSpPr>
            <a:spLocks noChangeAspect="1"/>
          </p:cNvSpPr>
          <p:nvPr/>
        </p:nvSpPr>
        <p:spPr bwMode="auto">
          <a:xfrm>
            <a:off x="6113388" y="2043416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BCB66-9CFD-18A9-B8FE-B3291B6BA194}"/>
              </a:ext>
            </a:extLst>
          </p:cNvPr>
          <p:cNvSpPr txBox="1"/>
          <p:nvPr/>
        </p:nvSpPr>
        <p:spPr>
          <a:xfrm>
            <a:off x="1052992" y="2986096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7D01A-5379-C6C8-0587-637DB3DC1842}"/>
              </a:ext>
            </a:extLst>
          </p:cNvPr>
          <p:cNvSpPr txBox="1"/>
          <p:nvPr/>
        </p:nvSpPr>
        <p:spPr>
          <a:xfrm>
            <a:off x="1055003" y="3422492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6AA0F1-8A05-FC6A-76BF-AEA89E5C513C}"/>
              </a:ext>
            </a:extLst>
          </p:cNvPr>
          <p:cNvSpPr txBox="1"/>
          <p:nvPr/>
        </p:nvSpPr>
        <p:spPr>
          <a:xfrm>
            <a:off x="2503571" y="2959677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D0BE07-4340-B79D-FA01-61B265391A2E}"/>
              </a:ext>
            </a:extLst>
          </p:cNvPr>
          <p:cNvSpPr txBox="1"/>
          <p:nvPr/>
        </p:nvSpPr>
        <p:spPr>
          <a:xfrm>
            <a:off x="2505582" y="3396073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B882D-28E1-6570-746D-8BAA8533FB46}"/>
              </a:ext>
            </a:extLst>
          </p:cNvPr>
          <p:cNvSpPr txBox="1"/>
          <p:nvPr/>
        </p:nvSpPr>
        <p:spPr>
          <a:xfrm>
            <a:off x="3847040" y="2986096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02068E-B52D-454A-4C33-B010DBCE622A}"/>
              </a:ext>
            </a:extLst>
          </p:cNvPr>
          <p:cNvSpPr txBox="1"/>
          <p:nvPr/>
        </p:nvSpPr>
        <p:spPr>
          <a:xfrm>
            <a:off x="3854556" y="3396073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88CF62-47CE-8513-D649-E0A6BD50BBB7}"/>
              </a:ext>
            </a:extLst>
          </p:cNvPr>
          <p:cNvSpPr txBox="1"/>
          <p:nvPr/>
        </p:nvSpPr>
        <p:spPr>
          <a:xfrm>
            <a:off x="5305302" y="2986096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E42DA2-078B-A91F-6AB2-BC0F8A60F46E}"/>
              </a:ext>
            </a:extLst>
          </p:cNvPr>
          <p:cNvSpPr txBox="1"/>
          <p:nvPr/>
        </p:nvSpPr>
        <p:spPr>
          <a:xfrm>
            <a:off x="5307313" y="3422492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E45D66-FEB4-D125-85A4-2E0650D5D12D}"/>
              </a:ext>
            </a:extLst>
          </p:cNvPr>
          <p:cNvSpPr txBox="1"/>
          <p:nvPr/>
        </p:nvSpPr>
        <p:spPr>
          <a:xfrm>
            <a:off x="1065612" y="3867020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E2584B-4E40-A6CA-223A-84435E2C6F11}"/>
              </a:ext>
            </a:extLst>
          </p:cNvPr>
          <p:cNvSpPr txBox="1"/>
          <p:nvPr/>
        </p:nvSpPr>
        <p:spPr>
          <a:xfrm>
            <a:off x="2469776" y="3867020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47E3CF-FFF3-4B68-3525-59079F0334F3}"/>
              </a:ext>
            </a:extLst>
          </p:cNvPr>
          <p:cNvSpPr txBox="1"/>
          <p:nvPr/>
        </p:nvSpPr>
        <p:spPr>
          <a:xfrm>
            <a:off x="3863038" y="3844677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11435A-6A3A-5DC5-6F76-9DDA2CCCFF6B}"/>
              </a:ext>
            </a:extLst>
          </p:cNvPr>
          <p:cNvSpPr txBox="1"/>
          <p:nvPr/>
        </p:nvSpPr>
        <p:spPr>
          <a:xfrm>
            <a:off x="5305142" y="3867599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5EB175-BC0F-CB05-9EB9-7320FF3986C1}"/>
              </a:ext>
            </a:extLst>
          </p:cNvPr>
          <p:cNvSpPr txBox="1"/>
          <p:nvPr/>
        </p:nvSpPr>
        <p:spPr>
          <a:xfrm>
            <a:off x="7678424" y="264210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Thread</a:t>
            </a:r>
          </a:p>
        </p:txBody>
      </p:sp>
      <p:sp>
        <p:nvSpPr>
          <p:cNvPr id="39" name="Freeform 2">
            <a:extLst>
              <a:ext uri="{FF2B5EF4-FFF2-40B4-BE49-F238E27FC236}">
                <a16:creationId xmlns:a16="http://schemas.microsoft.com/office/drawing/2014/main" id="{3BED5283-6324-7C60-230D-120A92324F06}"/>
              </a:ext>
            </a:extLst>
          </p:cNvPr>
          <p:cNvSpPr>
            <a:spLocks noChangeAspect="1"/>
          </p:cNvSpPr>
          <p:nvPr/>
        </p:nvSpPr>
        <p:spPr bwMode="auto">
          <a:xfrm>
            <a:off x="7293245" y="2550090"/>
            <a:ext cx="249603" cy="72695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96C7BE-0EAF-4440-5FAC-A4B7EAECE721}"/>
              </a:ext>
            </a:extLst>
          </p:cNvPr>
          <p:cNvSpPr txBox="1"/>
          <p:nvPr/>
        </p:nvSpPr>
        <p:spPr>
          <a:xfrm>
            <a:off x="7907449" y="186571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Process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4FC54A-8DAD-56DC-066B-02BE9106FC27}"/>
              </a:ext>
            </a:extLst>
          </p:cNvPr>
          <p:cNvSpPr txBox="1"/>
          <p:nvPr/>
        </p:nvSpPr>
        <p:spPr>
          <a:xfrm>
            <a:off x="6948009" y="1876422"/>
            <a:ext cx="952446" cy="41119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8ABA6E-491B-C8D4-44E7-0A24E850EC26}"/>
              </a:ext>
            </a:extLst>
          </p:cNvPr>
          <p:cNvSpPr txBox="1"/>
          <p:nvPr/>
        </p:nvSpPr>
        <p:spPr>
          <a:xfrm>
            <a:off x="6538541" y="3399612"/>
            <a:ext cx="2659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PCB: Process Control Block</a:t>
            </a:r>
          </a:p>
          <a:p>
            <a:r>
              <a:rPr lang="en-US" sz="1800" dirty="0"/>
              <a:t>(PC, stack pointer, ..)</a:t>
            </a:r>
            <a:r>
              <a:rPr lang="en-US" sz="1800" b="1" dirty="0"/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6C1779-3399-6D1B-4AE8-A61CBBE23F69}"/>
              </a:ext>
            </a:extLst>
          </p:cNvPr>
          <p:cNvSpPr txBox="1"/>
          <p:nvPr/>
        </p:nvSpPr>
        <p:spPr>
          <a:xfrm>
            <a:off x="12051686" y="5356435"/>
            <a:ext cx="3334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Running multiple threads concurrently on same CPU</a:t>
            </a:r>
          </a:p>
        </p:txBody>
      </p:sp>
    </p:spTree>
    <p:extLst>
      <p:ext uri="{BB962C8B-B14F-4D97-AF65-F5344CB8AC3E}">
        <p14:creationId xmlns:p14="http://schemas.microsoft.com/office/powerpoint/2010/main" val="112569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  <p:bldP spid="39" grpId="0" animBg="1"/>
      <p:bldP spid="40" grpId="0"/>
      <p:bldP spid="41" grpId="0" animBg="1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9833-84A7-7332-18AC-22604057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threads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9FC63-4811-35F7-AA06-FCF37606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B0B46-97B6-9337-0373-9EB21163EE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524F5-C3EC-E66A-2D93-E7C623E4CD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F714851F-0F52-71BC-A7C0-A7489B28D83E}"/>
              </a:ext>
            </a:extLst>
          </p:cNvPr>
          <p:cNvSpPr>
            <a:spLocks noChangeAspect="1"/>
          </p:cNvSpPr>
          <p:nvPr/>
        </p:nvSpPr>
        <p:spPr bwMode="auto">
          <a:xfrm>
            <a:off x="1715575" y="1423020"/>
            <a:ext cx="157163" cy="933450"/>
          </a:xfrm>
          <a:custGeom>
            <a:avLst/>
            <a:gdLst>
              <a:gd name="T0" fmla="*/ 0 w 277"/>
              <a:gd name="T1" fmla="*/ 0 h 1664"/>
              <a:gd name="T2" fmla="*/ 2147483647 w 277"/>
              <a:gd name="T3" fmla="*/ 2147483647 h 1664"/>
              <a:gd name="T4" fmla="*/ 2147483647 w 277"/>
              <a:gd name="T5" fmla="*/ 2147483647 h 1664"/>
              <a:gd name="T6" fmla="*/ 2147483647 w 277"/>
              <a:gd name="T7" fmla="*/ 2147483647 h 1664"/>
              <a:gd name="T8" fmla="*/ 2147483647 w 277"/>
              <a:gd name="T9" fmla="*/ 2147483647 h 1664"/>
              <a:gd name="T10" fmla="*/ 2147483647 w 277"/>
              <a:gd name="T11" fmla="*/ 2147483647 h 1664"/>
              <a:gd name="T12" fmla="*/ 2147483647 w 277"/>
              <a:gd name="T13" fmla="*/ 2147483647 h 1664"/>
              <a:gd name="T14" fmla="*/ 2147483647 w 277"/>
              <a:gd name="T15" fmla="*/ 2147483647 h 1664"/>
              <a:gd name="T16" fmla="*/ 2147483647 w 277"/>
              <a:gd name="T17" fmla="*/ 2147483647 h 1664"/>
              <a:gd name="T18" fmla="*/ 2147483647 w 277"/>
              <a:gd name="T19" fmla="*/ 2147483647 h 1664"/>
              <a:gd name="T20" fmla="*/ 2147483647 w 277"/>
              <a:gd name="T21" fmla="*/ 2147483647 h 1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77"/>
              <a:gd name="T34" fmla="*/ 0 h 1664"/>
              <a:gd name="T35" fmla="*/ 277 w 277"/>
              <a:gd name="T36" fmla="*/ 1664 h 1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1716FE-959B-48F8-4B98-1E0DAA04C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575" y="2380283"/>
            <a:ext cx="157163" cy="5461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0FDB07D3-4A07-8EE1-18CF-F9BBED2E29E9}"/>
              </a:ext>
            </a:extLst>
          </p:cNvPr>
          <p:cNvSpPr>
            <a:spLocks noChangeAspect="1"/>
          </p:cNvSpPr>
          <p:nvPr/>
        </p:nvSpPr>
        <p:spPr bwMode="auto">
          <a:xfrm>
            <a:off x="1715575" y="2934320"/>
            <a:ext cx="157163" cy="933450"/>
          </a:xfrm>
          <a:custGeom>
            <a:avLst/>
            <a:gdLst>
              <a:gd name="T0" fmla="*/ 0 w 277"/>
              <a:gd name="T1" fmla="*/ 0 h 1664"/>
              <a:gd name="T2" fmla="*/ 2147483647 w 277"/>
              <a:gd name="T3" fmla="*/ 2147483647 h 1664"/>
              <a:gd name="T4" fmla="*/ 2147483647 w 277"/>
              <a:gd name="T5" fmla="*/ 2147483647 h 1664"/>
              <a:gd name="T6" fmla="*/ 2147483647 w 277"/>
              <a:gd name="T7" fmla="*/ 2147483647 h 1664"/>
              <a:gd name="T8" fmla="*/ 2147483647 w 277"/>
              <a:gd name="T9" fmla="*/ 2147483647 h 1664"/>
              <a:gd name="T10" fmla="*/ 2147483647 w 277"/>
              <a:gd name="T11" fmla="*/ 2147483647 h 1664"/>
              <a:gd name="T12" fmla="*/ 2147483647 w 277"/>
              <a:gd name="T13" fmla="*/ 2147483647 h 1664"/>
              <a:gd name="T14" fmla="*/ 2147483647 w 277"/>
              <a:gd name="T15" fmla="*/ 2147483647 h 1664"/>
              <a:gd name="T16" fmla="*/ 2147483647 w 277"/>
              <a:gd name="T17" fmla="*/ 2147483647 h 1664"/>
              <a:gd name="T18" fmla="*/ 2147483647 w 277"/>
              <a:gd name="T19" fmla="*/ 2147483647 h 1664"/>
              <a:gd name="T20" fmla="*/ 2147483647 w 277"/>
              <a:gd name="T21" fmla="*/ 2147483647 h 1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77"/>
              <a:gd name="T34" fmla="*/ 0 h 1664"/>
              <a:gd name="T35" fmla="*/ 277 w 277"/>
              <a:gd name="T36" fmla="*/ 1664 h 1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DF579614-5B2C-1D79-6479-EF8681C3F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788" y="1637333"/>
            <a:ext cx="9223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compute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C24C49A7-2316-D7FE-3F66-A85164239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488" y="3429620"/>
            <a:ext cx="9223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compute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A44B3C84-0A55-2DF4-2B8F-B8BAC3AA2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825" y="2348533"/>
            <a:ext cx="4206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I/O</a:t>
            </a:r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AB27E8C8-BCFD-8AEB-82D9-B0D5E67A5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075" y="3518520"/>
            <a:ext cx="444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B422980B-79FF-F015-A2E2-A53C225CB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88" y="3212133"/>
            <a:ext cx="10699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I/O result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Needed     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A786A82-22AE-B390-74F2-545F7C8C1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731" y="3885825"/>
            <a:ext cx="2003819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Sequential process    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84E5750A-D4AE-B1A1-60D5-103820FB633A}"/>
              </a:ext>
            </a:extLst>
          </p:cNvPr>
          <p:cNvSpPr>
            <a:spLocks noChangeAspect="1"/>
          </p:cNvSpPr>
          <p:nvPr/>
        </p:nvSpPr>
        <p:spPr bwMode="auto">
          <a:xfrm>
            <a:off x="6374552" y="1976064"/>
            <a:ext cx="155575" cy="933450"/>
          </a:xfrm>
          <a:custGeom>
            <a:avLst/>
            <a:gdLst>
              <a:gd name="T0" fmla="*/ 0 w 277"/>
              <a:gd name="T1" fmla="*/ 0 h 1664"/>
              <a:gd name="T2" fmla="*/ 2147483647 w 277"/>
              <a:gd name="T3" fmla="*/ 2147483647 h 1664"/>
              <a:gd name="T4" fmla="*/ 2147483647 w 277"/>
              <a:gd name="T5" fmla="*/ 2147483647 h 1664"/>
              <a:gd name="T6" fmla="*/ 2147483647 w 277"/>
              <a:gd name="T7" fmla="*/ 2147483647 h 1664"/>
              <a:gd name="T8" fmla="*/ 2147483647 w 277"/>
              <a:gd name="T9" fmla="*/ 2147483647 h 1664"/>
              <a:gd name="T10" fmla="*/ 2147483647 w 277"/>
              <a:gd name="T11" fmla="*/ 2147483647 h 1664"/>
              <a:gd name="T12" fmla="*/ 2147483647 w 277"/>
              <a:gd name="T13" fmla="*/ 2147483647 h 1664"/>
              <a:gd name="T14" fmla="*/ 2147483647 w 277"/>
              <a:gd name="T15" fmla="*/ 2147483647 h 1664"/>
              <a:gd name="T16" fmla="*/ 2147483647 w 277"/>
              <a:gd name="T17" fmla="*/ 2147483647 h 1664"/>
              <a:gd name="T18" fmla="*/ 2147483647 w 277"/>
              <a:gd name="T19" fmla="*/ 2147483647 h 1664"/>
              <a:gd name="T20" fmla="*/ 2147483647 w 277"/>
              <a:gd name="T21" fmla="*/ 2147483647 h 1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77"/>
              <a:gd name="T34" fmla="*/ 0 h 1664"/>
              <a:gd name="T35" fmla="*/ 277 w 277"/>
              <a:gd name="T36" fmla="*/ 1664 h 1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514AAC5A-2DDB-C837-D498-EFE414C90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052" y="2780926"/>
            <a:ext cx="155575" cy="5461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FDE0B3DE-E8D0-49AF-B5D3-E2E695E184AD}"/>
              </a:ext>
            </a:extLst>
          </p:cNvPr>
          <p:cNvSpPr>
            <a:spLocks noChangeAspect="1"/>
          </p:cNvSpPr>
          <p:nvPr/>
        </p:nvSpPr>
        <p:spPr bwMode="auto">
          <a:xfrm>
            <a:off x="6387252" y="2928564"/>
            <a:ext cx="155575" cy="933450"/>
          </a:xfrm>
          <a:custGeom>
            <a:avLst/>
            <a:gdLst>
              <a:gd name="T0" fmla="*/ 0 w 277"/>
              <a:gd name="T1" fmla="*/ 0 h 1664"/>
              <a:gd name="T2" fmla="*/ 2147483647 w 277"/>
              <a:gd name="T3" fmla="*/ 2147483647 h 1664"/>
              <a:gd name="T4" fmla="*/ 2147483647 w 277"/>
              <a:gd name="T5" fmla="*/ 2147483647 h 1664"/>
              <a:gd name="T6" fmla="*/ 2147483647 w 277"/>
              <a:gd name="T7" fmla="*/ 2147483647 h 1664"/>
              <a:gd name="T8" fmla="*/ 2147483647 w 277"/>
              <a:gd name="T9" fmla="*/ 2147483647 h 1664"/>
              <a:gd name="T10" fmla="*/ 2147483647 w 277"/>
              <a:gd name="T11" fmla="*/ 2147483647 h 1664"/>
              <a:gd name="T12" fmla="*/ 2147483647 w 277"/>
              <a:gd name="T13" fmla="*/ 2147483647 h 1664"/>
              <a:gd name="T14" fmla="*/ 2147483647 w 277"/>
              <a:gd name="T15" fmla="*/ 2147483647 h 1664"/>
              <a:gd name="T16" fmla="*/ 2147483647 w 277"/>
              <a:gd name="T17" fmla="*/ 2147483647 h 1664"/>
              <a:gd name="T18" fmla="*/ 2147483647 w 277"/>
              <a:gd name="T19" fmla="*/ 2147483647 h 1664"/>
              <a:gd name="T20" fmla="*/ 2147483647 w 277"/>
              <a:gd name="T21" fmla="*/ 2147483647 h 1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77"/>
              <a:gd name="T34" fmla="*/ 0 h 1664"/>
              <a:gd name="T35" fmla="*/ 277 w 277"/>
              <a:gd name="T36" fmla="*/ 1664 h 1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E0188D9F-7AEA-4297-4BAE-3022DF444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889" y="1402976"/>
            <a:ext cx="11095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Compute   </a:t>
            </a:r>
          </a:p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thread  </a:t>
            </a:r>
          </a:p>
        </p:txBody>
      </p:sp>
      <p:sp>
        <p:nvSpPr>
          <p:cNvPr id="20" name="Line 15">
            <a:extLst>
              <a:ext uri="{FF2B5EF4-FFF2-40B4-BE49-F238E27FC236}">
                <a16:creationId xmlns:a16="http://schemas.microsoft.com/office/drawing/2014/main" id="{AD24C156-6F6B-D09F-EFA9-93E31C74A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2752" y="3512764"/>
            <a:ext cx="444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B871461C-7796-CB70-B81B-9DE8E1D2F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5177" y="3206376"/>
            <a:ext cx="10699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I/O result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Needed     </a:t>
            </a:r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8E23EE62-867F-5E25-31F5-26D8AD4B3766}"/>
              </a:ext>
            </a:extLst>
          </p:cNvPr>
          <p:cNvSpPr>
            <a:spLocks noChangeAspect="1"/>
          </p:cNvSpPr>
          <p:nvPr/>
        </p:nvSpPr>
        <p:spPr bwMode="auto">
          <a:xfrm>
            <a:off x="7728689" y="2780926"/>
            <a:ext cx="93663" cy="554038"/>
          </a:xfrm>
          <a:custGeom>
            <a:avLst/>
            <a:gdLst>
              <a:gd name="T0" fmla="*/ 0 w 277"/>
              <a:gd name="T1" fmla="*/ 0 h 1664"/>
              <a:gd name="T2" fmla="*/ 2147483647 w 277"/>
              <a:gd name="T3" fmla="*/ 2147483647 h 1664"/>
              <a:gd name="T4" fmla="*/ 2147483647 w 277"/>
              <a:gd name="T5" fmla="*/ 2147483647 h 1664"/>
              <a:gd name="T6" fmla="*/ 2147483647 w 277"/>
              <a:gd name="T7" fmla="*/ 2147483647 h 1664"/>
              <a:gd name="T8" fmla="*/ 2147483647 w 277"/>
              <a:gd name="T9" fmla="*/ 2147483647 h 1664"/>
              <a:gd name="T10" fmla="*/ 2147483647 w 277"/>
              <a:gd name="T11" fmla="*/ 2147483647 h 1664"/>
              <a:gd name="T12" fmla="*/ 2147483647 w 277"/>
              <a:gd name="T13" fmla="*/ 2147483647 h 1664"/>
              <a:gd name="T14" fmla="*/ 2147483647 w 277"/>
              <a:gd name="T15" fmla="*/ 2147483647 h 1664"/>
              <a:gd name="T16" fmla="*/ 2147483647 w 277"/>
              <a:gd name="T17" fmla="*/ 2147483647 h 1664"/>
              <a:gd name="T18" fmla="*/ 2147483647 w 277"/>
              <a:gd name="T19" fmla="*/ 2147483647 h 1664"/>
              <a:gd name="T20" fmla="*/ 2147483647 w 277"/>
              <a:gd name="T21" fmla="*/ 2147483647 h 1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77"/>
              <a:gd name="T34" fmla="*/ 0 h 1664"/>
              <a:gd name="T35" fmla="*/ 277 w 277"/>
              <a:gd name="T36" fmla="*/ 1664 h 1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6BB12E1F-52BE-37E1-EE6C-348A1E8F0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389" y="2442789"/>
            <a:ext cx="1257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I/O request   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8D583DD2-AA4C-0253-B8F2-F596D912A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027" y="3053976"/>
            <a:ext cx="1247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I/O complete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2AA01E46-42F4-8C0C-172A-07C1C5891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977" y="1664914"/>
            <a:ext cx="8239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I/O   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thread  </a:t>
            </a:r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514296DD-F793-6CE1-52D4-72D4DDB38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1389" y="2780926"/>
            <a:ext cx="1236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E15B9060-58AC-0A86-0080-7DBDA53B21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2827" y="3334964"/>
            <a:ext cx="1196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4CD5B098-84DA-EE9F-3B78-704EABA2D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820" y="3890915"/>
            <a:ext cx="2303232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Multithreaded process    </a:t>
            </a: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36DA751E-1EBB-8A2F-2637-4A195C8F372D}"/>
              </a:ext>
            </a:extLst>
          </p:cNvPr>
          <p:cNvGrpSpPr>
            <a:grpSpLocks/>
          </p:cNvGrpSpPr>
          <p:nvPr/>
        </p:nvGrpSpPr>
        <p:grpSpPr bwMode="auto">
          <a:xfrm>
            <a:off x="666461" y="4349468"/>
            <a:ext cx="6040438" cy="1851025"/>
            <a:chOff x="1257300" y="2835275"/>
            <a:chExt cx="6040438" cy="1851025"/>
          </a:xfrm>
        </p:grpSpPr>
        <p:pic>
          <p:nvPicPr>
            <p:cNvPr id="30" name="Picture 29" descr="MCj03984750000[1]">
              <a:extLst>
                <a:ext uri="{FF2B5EF4-FFF2-40B4-BE49-F238E27FC236}">
                  <a16:creationId xmlns:a16="http://schemas.microsoft.com/office/drawing/2014/main" id="{5E98200D-AED4-E865-9525-FACB2549F9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300" y="3768725"/>
              <a:ext cx="831850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ECB6104-B957-1C4A-FF3C-0840EBF30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9188" y="3895725"/>
              <a:ext cx="1373187" cy="671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" name="Text Box 4">
              <a:extLst>
                <a:ext uri="{FF2B5EF4-FFF2-40B4-BE49-F238E27FC236}">
                  <a16:creationId xmlns:a16="http://schemas.microsoft.com/office/drawing/2014/main" id="{F10B0C94-7155-25C7-6FFC-C031DBC0D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3500" y="4070350"/>
              <a:ext cx="9826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/>
              <a:r>
                <a:rPr lang="en-US" altLang="en-US" sz="1400" b="1">
                  <a:latin typeface="Arial" charset="0"/>
                  <a:ea typeface="Arial" charset="0"/>
                  <a:cs typeface="Arial" charset="0"/>
                </a:rPr>
                <a:t>Digitizer  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A2F4833-5FD5-3FA9-1841-79C2C9F0F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3895725"/>
              <a:ext cx="1373188" cy="671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FFC660D9-34A0-BA78-1040-F45330A52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975" y="4070350"/>
              <a:ext cx="9239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/>
              <a:r>
                <a:rPr lang="en-US" altLang="en-US" sz="1400" b="1" dirty="0">
                  <a:latin typeface="Arial" charset="0"/>
                  <a:ea typeface="Arial" charset="0"/>
                  <a:cs typeface="Arial" charset="0"/>
                </a:rPr>
                <a:t>Tracker  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93CC125-407D-216C-45B9-4C5E2B8B5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4550" y="3895725"/>
              <a:ext cx="1373188" cy="671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" name="Text Box 8">
              <a:extLst>
                <a:ext uri="{FF2B5EF4-FFF2-40B4-BE49-F238E27FC236}">
                  <a16:creationId xmlns:a16="http://schemas.microsoft.com/office/drawing/2014/main" id="{EF7427FD-C837-4682-E72F-50D4B5B3E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7275" y="4070350"/>
              <a:ext cx="8366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/>
              <a:r>
                <a:rPr lang="en-US" altLang="en-US" sz="1400" b="1">
                  <a:latin typeface="Arial" charset="0"/>
                  <a:ea typeface="Arial" charset="0"/>
                  <a:cs typeface="Arial" charset="0"/>
                </a:rPr>
                <a:t>Alarm   </a:t>
              </a:r>
            </a:p>
          </p:txBody>
        </p:sp>
        <p:cxnSp>
          <p:nvCxnSpPr>
            <p:cNvPr id="37" name="AutoShape 9">
              <a:extLst>
                <a:ext uri="{FF2B5EF4-FFF2-40B4-BE49-F238E27FC236}">
                  <a16:creationId xmlns:a16="http://schemas.microsoft.com/office/drawing/2014/main" id="{4FC2DC26-1047-1C63-AD8B-4338E86A71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9150" y="4227513"/>
              <a:ext cx="300038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10">
              <a:extLst>
                <a:ext uri="{FF2B5EF4-FFF2-40B4-BE49-F238E27FC236}">
                  <a16:creationId xmlns:a16="http://schemas.microsoft.com/office/drawing/2014/main" id="{DA8DBAFC-67F6-89D7-C08F-EA629F44F3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2375" y="4232275"/>
              <a:ext cx="3968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AutoShape 11">
              <a:extLst>
                <a:ext uri="{FF2B5EF4-FFF2-40B4-BE49-F238E27FC236}">
                  <a16:creationId xmlns:a16="http://schemas.microsoft.com/office/drawing/2014/main" id="{2A4B3743-3B2E-B339-616E-63CABF9827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32438" y="4232275"/>
              <a:ext cx="39211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C89F7A3-A5F1-F122-BD23-28DBB14B72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62288" y="2835275"/>
              <a:ext cx="157162" cy="933450"/>
            </a:xfrm>
            <a:custGeom>
              <a:avLst/>
              <a:gdLst>
                <a:gd name="T0" fmla="*/ 0 w 277"/>
                <a:gd name="T1" fmla="*/ 0 h 1664"/>
                <a:gd name="T2" fmla="*/ 2147483647 w 277"/>
                <a:gd name="T3" fmla="*/ 2147483647 h 1664"/>
                <a:gd name="T4" fmla="*/ 2147483647 w 277"/>
                <a:gd name="T5" fmla="*/ 2147483647 h 1664"/>
                <a:gd name="T6" fmla="*/ 2147483647 w 277"/>
                <a:gd name="T7" fmla="*/ 2147483647 h 1664"/>
                <a:gd name="T8" fmla="*/ 2147483647 w 277"/>
                <a:gd name="T9" fmla="*/ 2147483647 h 1664"/>
                <a:gd name="T10" fmla="*/ 2147483647 w 277"/>
                <a:gd name="T11" fmla="*/ 2147483647 h 1664"/>
                <a:gd name="T12" fmla="*/ 2147483647 w 277"/>
                <a:gd name="T13" fmla="*/ 2147483647 h 1664"/>
                <a:gd name="T14" fmla="*/ 2147483647 w 277"/>
                <a:gd name="T15" fmla="*/ 2147483647 h 1664"/>
                <a:gd name="T16" fmla="*/ 2147483647 w 277"/>
                <a:gd name="T17" fmla="*/ 2147483647 h 1664"/>
                <a:gd name="T18" fmla="*/ 2147483647 w 277"/>
                <a:gd name="T19" fmla="*/ 2147483647 h 1664"/>
                <a:gd name="T20" fmla="*/ 2147483647 w 277"/>
                <a:gd name="T21" fmla="*/ 2147483647 h 16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7"/>
                <a:gd name="T34" fmla="*/ 0 h 1664"/>
                <a:gd name="T35" fmla="*/ 277 w 277"/>
                <a:gd name="T36" fmla="*/ 1664 h 166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776D77D-F2B0-8C00-397D-58337B8BF2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98988" y="2835275"/>
              <a:ext cx="157162" cy="933450"/>
            </a:xfrm>
            <a:custGeom>
              <a:avLst/>
              <a:gdLst>
                <a:gd name="T0" fmla="*/ 0 w 277"/>
                <a:gd name="T1" fmla="*/ 0 h 1664"/>
                <a:gd name="T2" fmla="*/ 2147483647 w 277"/>
                <a:gd name="T3" fmla="*/ 2147483647 h 1664"/>
                <a:gd name="T4" fmla="*/ 2147483647 w 277"/>
                <a:gd name="T5" fmla="*/ 2147483647 h 1664"/>
                <a:gd name="T6" fmla="*/ 2147483647 w 277"/>
                <a:gd name="T7" fmla="*/ 2147483647 h 1664"/>
                <a:gd name="T8" fmla="*/ 2147483647 w 277"/>
                <a:gd name="T9" fmla="*/ 2147483647 h 1664"/>
                <a:gd name="T10" fmla="*/ 2147483647 w 277"/>
                <a:gd name="T11" fmla="*/ 2147483647 h 1664"/>
                <a:gd name="T12" fmla="*/ 2147483647 w 277"/>
                <a:gd name="T13" fmla="*/ 2147483647 h 1664"/>
                <a:gd name="T14" fmla="*/ 2147483647 w 277"/>
                <a:gd name="T15" fmla="*/ 2147483647 h 1664"/>
                <a:gd name="T16" fmla="*/ 2147483647 w 277"/>
                <a:gd name="T17" fmla="*/ 2147483647 h 1664"/>
                <a:gd name="T18" fmla="*/ 2147483647 w 277"/>
                <a:gd name="T19" fmla="*/ 2147483647 h 1664"/>
                <a:gd name="T20" fmla="*/ 2147483647 w 277"/>
                <a:gd name="T21" fmla="*/ 2147483647 h 16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7"/>
                <a:gd name="T34" fmla="*/ 0 h 1664"/>
                <a:gd name="T35" fmla="*/ 277 w 277"/>
                <a:gd name="T36" fmla="*/ 1664 h 166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B310F3E-6F08-2C63-BF52-037232C1CF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516688" y="2835275"/>
              <a:ext cx="157162" cy="933450"/>
            </a:xfrm>
            <a:custGeom>
              <a:avLst/>
              <a:gdLst>
                <a:gd name="T0" fmla="*/ 0 w 277"/>
                <a:gd name="T1" fmla="*/ 0 h 1664"/>
                <a:gd name="T2" fmla="*/ 2147483647 w 277"/>
                <a:gd name="T3" fmla="*/ 2147483647 h 1664"/>
                <a:gd name="T4" fmla="*/ 2147483647 w 277"/>
                <a:gd name="T5" fmla="*/ 2147483647 h 1664"/>
                <a:gd name="T6" fmla="*/ 2147483647 w 277"/>
                <a:gd name="T7" fmla="*/ 2147483647 h 1664"/>
                <a:gd name="T8" fmla="*/ 2147483647 w 277"/>
                <a:gd name="T9" fmla="*/ 2147483647 h 1664"/>
                <a:gd name="T10" fmla="*/ 2147483647 w 277"/>
                <a:gd name="T11" fmla="*/ 2147483647 h 1664"/>
                <a:gd name="T12" fmla="*/ 2147483647 w 277"/>
                <a:gd name="T13" fmla="*/ 2147483647 h 1664"/>
                <a:gd name="T14" fmla="*/ 2147483647 w 277"/>
                <a:gd name="T15" fmla="*/ 2147483647 h 1664"/>
                <a:gd name="T16" fmla="*/ 2147483647 w 277"/>
                <a:gd name="T17" fmla="*/ 2147483647 h 1664"/>
                <a:gd name="T18" fmla="*/ 2147483647 w 277"/>
                <a:gd name="T19" fmla="*/ 2147483647 h 1664"/>
                <a:gd name="T20" fmla="*/ 2147483647 w 277"/>
                <a:gd name="T21" fmla="*/ 2147483647 h 16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7"/>
                <a:gd name="T34" fmla="*/ 0 h 1664"/>
                <a:gd name="T35" fmla="*/ 277 w 277"/>
                <a:gd name="T36" fmla="*/ 1664 h 166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BAAF4832-107E-42D6-A2E3-9574DAE70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6818" y="5482477"/>
            <a:ext cx="1896791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Producer-Consumer process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BF4A4C-F924-5245-F627-85F846BFF220}"/>
              </a:ext>
            </a:extLst>
          </p:cNvPr>
          <p:cNvSpPr txBox="1"/>
          <p:nvPr/>
        </p:nvSpPr>
        <p:spPr>
          <a:xfrm>
            <a:off x="2561843" y="6260544"/>
            <a:ext cx="4547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Slide Courtesy: GT CS 2200 (U. Ramachandran) </a:t>
            </a:r>
          </a:p>
        </p:txBody>
      </p:sp>
    </p:spTree>
    <p:extLst>
      <p:ext uri="{BB962C8B-B14F-4D97-AF65-F5344CB8AC3E}">
        <p14:creationId xmlns:p14="http://schemas.microsoft.com/office/powerpoint/2010/main" val="210315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73DB5-2C84-B2F2-8085-B8AE268A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Threads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8291-E128-15A5-0587-AB3958F3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3895D-19B0-F0B0-BF70-34AD36DC62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E3CF8-CB4D-7EBF-47DD-B0346B06C3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B3DF5-2C98-CEA1-E390-E3FC7C7310D5}"/>
              </a:ext>
            </a:extLst>
          </p:cNvPr>
          <p:cNvSpPr txBox="1"/>
          <p:nvPr/>
        </p:nvSpPr>
        <p:spPr>
          <a:xfrm>
            <a:off x="837487" y="1847580"/>
            <a:ext cx="1251289" cy="25137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38CD2DD3-ADF8-140F-10B8-FABFC616786C}"/>
              </a:ext>
            </a:extLst>
          </p:cNvPr>
          <p:cNvSpPr>
            <a:spLocks noChangeAspect="1"/>
          </p:cNvSpPr>
          <p:nvPr/>
        </p:nvSpPr>
        <p:spPr bwMode="auto">
          <a:xfrm>
            <a:off x="986117" y="2022835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DAC07537-F1BF-A90D-7201-3B7A2D9496D6}"/>
              </a:ext>
            </a:extLst>
          </p:cNvPr>
          <p:cNvSpPr>
            <a:spLocks noChangeAspect="1"/>
          </p:cNvSpPr>
          <p:nvPr/>
        </p:nvSpPr>
        <p:spPr bwMode="auto">
          <a:xfrm>
            <a:off x="1400526" y="2025128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DB0088F8-F226-6D47-E310-0591219C2859}"/>
              </a:ext>
            </a:extLst>
          </p:cNvPr>
          <p:cNvSpPr>
            <a:spLocks noChangeAspect="1"/>
          </p:cNvSpPr>
          <p:nvPr/>
        </p:nvSpPr>
        <p:spPr bwMode="auto">
          <a:xfrm>
            <a:off x="1719768" y="2025127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F6A8E-66CA-29E8-B999-85A0E160F946}"/>
              </a:ext>
            </a:extLst>
          </p:cNvPr>
          <p:cNvSpPr txBox="1"/>
          <p:nvPr/>
        </p:nvSpPr>
        <p:spPr>
          <a:xfrm>
            <a:off x="2264519" y="1852998"/>
            <a:ext cx="1251289" cy="2508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26F04EA-48D7-527D-C2F1-C3F5E92BBB3F}"/>
              </a:ext>
            </a:extLst>
          </p:cNvPr>
          <p:cNvSpPr>
            <a:spLocks noChangeAspect="1"/>
          </p:cNvSpPr>
          <p:nvPr/>
        </p:nvSpPr>
        <p:spPr bwMode="auto">
          <a:xfrm>
            <a:off x="2413149" y="2028253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6B0222A1-2B88-D619-0385-482D8FAD76ED}"/>
              </a:ext>
            </a:extLst>
          </p:cNvPr>
          <p:cNvSpPr>
            <a:spLocks noChangeAspect="1"/>
          </p:cNvSpPr>
          <p:nvPr/>
        </p:nvSpPr>
        <p:spPr bwMode="auto">
          <a:xfrm>
            <a:off x="3146800" y="2030545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48282-A841-4BF8-D6E6-359E98071F21}"/>
              </a:ext>
            </a:extLst>
          </p:cNvPr>
          <p:cNvSpPr txBox="1"/>
          <p:nvPr/>
        </p:nvSpPr>
        <p:spPr>
          <a:xfrm>
            <a:off x="3721533" y="1856648"/>
            <a:ext cx="979330" cy="250468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7F7FDBC-C040-7F70-13C3-9783D907161E}"/>
              </a:ext>
            </a:extLst>
          </p:cNvPr>
          <p:cNvSpPr>
            <a:spLocks noChangeAspect="1"/>
          </p:cNvSpPr>
          <p:nvPr/>
        </p:nvSpPr>
        <p:spPr bwMode="auto">
          <a:xfrm>
            <a:off x="3870163" y="2028253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928496-B7F2-72CA-0BF0-6F5FF0C8C142}"/>
              </a:ext>
            </a:extLst>
          </p:cNvPr>
          <p:cNvSpPr txBox="1"/>
          <p:nvPr/>
        </p:nvSpPr>
        <p:spPr>
          <a:xfrm>
            <a:off x="4881749" y="1856648"/>
            <a:ext cx="1549350" cy="250468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2EEE91A-38A2-E604-93CA-4BFEA45548EB}"/>
              </a:ext>
            </a:extLst>
          </p:cNvPr>
          <p:cNvSpPr>
            <a:spLocks noChangeAspect="1"/>
          </p:cNvSpPr>
          <p:nvPr/>
        </p:nvSpPr>
        <p:spPr bwMode="auto">
          <a:xfrm>
            <a:off x="5030379" y="2031903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B8F30249-366B-2D38-376D-1E1B9E3109BC}"/>
              </a:ext>
            </a:extLst>
          </p:cNvPr>
          <p:cNvSpPr>
            <a:spLocks noChangeAspect="1"/>
          </p:cNvSpPr>
          <p:nvPr/>
        </p:nvSpPr>
        <p:spPr bwMode="auto">
          <a:xfrm>
            <a:off x="5444788" y="2034196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C37E7CBF-5563-9884-3F19-115B3DCB46CC}"/>
              </a:ext>
            </a:extLst>
          </p:cNvPr>
          <p:cNvSpPr>
            <a:spLocks noChangeAspect="1"/>
          </p:cNvSpPr>
          <p:nvPr/>
        </p:nvSpPr>
        <p:spPr bwMode="auto">
          <a:xfrm>
            <a:off x="5764030" y="2034195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618C345A-84FC-0A9F-4F6E-61C05FDE6CE0}"/>
              </a:ext>
            </a:extLst>
          </p:cNvPr>
          <p:cNvSpPr>
            <a:spLocks noChangeAspect="1"/>
          </p:cNvSpPr>
          <p:nvPr/>
        </p:nvSpPr>
        <p:spPr bwMode="auto">
          <a:xfrm>
            <a:off x="6113388" y="2043416"/>
            <a:ext cx="238666" cy="756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BCB66-9CFD-18A9-B8FE-B3291B6BA194}"/>
              </a:ext>
            </a:extLst>
          </p:cNvPr>
          <p:cNvSpPr txBox="1"/>
          <p:nvPr/>
        </p:nvSpPr>
        <p:spPr>
          <a:xfrm>
            <a:off x="1052992" y="2986096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7D01A-5379-C6C8-0587-637DB3DC1842}"/>
              </a:ext>
            </a:extLst>
          </p:cNvPr>
          <p:cNvSpPr txBox="1"/>
          <p:nvPr/>
        </p:nvSpPr>
        <p:spPr>
          <a:xfrm>
            <a:off x="1055003" y="3422492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6AA0F1-8A05-FC6A-76BF-AEA89E5C513C}"/>
              </a:ext>
            </a:extLst>
          </p:cNvPr>
          <p:cNvSpPr txBox="1"/>
          <p:nvPr/>
        </p:nvSpPr>
        <p:spPr>
          <a:xfrm>
            <a:off x="2503571" y="2959677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D0BE07-4340-B79D-FA01-61B265391A2E}"/>
              </a:ext>
            </a:extLst>
          </p:cNvPr>
          <p:cNvSpPr txBox="1"/>
          <p:nvPr/>
        </p:nvSpPr>
        <p:spPr>
          <a:xfrm>
            <a:off x="2505582" y="3396073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B882D-28E1-6570-746D-8BAA8533FB46}"/>
              </a:ext>
            </a:extLst>
          </p:cNvPr>
          <p:cNvSpPr txBox="1"/>
          <p:nvPr/>
        </p:nvSpPr>
        <p:spPr>
          <a:xfrm>
            <a:off x="3847040" y="2986096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02068E-B52D-454A-4C33-B010DBCE622A}"/>
              </a:ext>
            </a:extLst>
          </p:cNvPr>
          <p:cNvSpPr txBox="1"/>
          <p:nvPr/>
        </p:nvSpPr>
        <p:spPr>
          <a:xfrm>
            <a:off x="3854556" y="3396073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88CF62-47CE-8513-D649-E0A6BD50BBB7}"/>
              </a:ext>
            </a:extLst>
          </p:cNvPr>
          <p:cNvSpPr txBox="1"/>
          <p:nvPr/>
        </p:nvSpPr>
        <p:spPr>
          <a:xfrm>
            <a:off x="5305302" y="2986096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Code</a:t>
            </a:r>
            <a:endParaRPr lang="en-US" b="1" dirty="0"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E42DA2-078B-A91F-6AB2-BC0F8A60F46E}"/>
              </a:ext>
            </a:extLst>
          </p:cNvPr>
          <p:cNvSpPr txBox="1"/>
          <p:nvPr/>
        </p:nvSpPr>
        <p:spPr>
          <a:xfrm>
            <a:off x="5307313" y="3422492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E45D66-FEB4-D125-85A4-2E0650D5D12D}"/>
              </a:ext>
            </a:extLst>
          </p:cNvPr>
          <p:cNvSpPr txBox="1"/>
          <p:nvPr/>
        </p:nvSpPr>
        <p:spPr>
          <a:xfrm>
            <a:off x="1065612" y="3867020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E2584B-4E40-A6CA-223A-84435E2C6F11}"/>
              </a:ext>
            </a:extLst>
          </p:cNvPr>
          <p:cNvSpPr txBox="1"/>
          <p:nvPr/>
        </p:nvSpPr>
        <p:spPr>
          <a:xfrm>
            <a:off x="2469776" y="3867020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47E3CF-FFF3-4B68-3525-59079F0334F3}"/>
              </a:ext>
            </a:extLst>
          </p:cNvPr>
          <p:cNvSpPr txBox="1"/>
          <p:nvPr/>
        </p:nvSpPr>
        <p:spPr>
          <a:xfrm>
            <a:off x="3863038" y="3844677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11435A-6A3A-5DC5-6F76-9DDA2CCCFF6B}"/>
              </a:ext>
            </a:extLst>
          </p:cNvPr>
          <p:cNvSpPr txBox="1"/>
          <p:nvPr/>
        </p:nvSpPr>
        <p:spPr>
          <a:xfrm>
            <a:off x="5305142" y="3867599"/>
            <a:ext cx="756304" cy="308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>
                <a:latin typeface="+mn-lt"/>
              </a:rPr>
              <a:t>PCB</a:t>
            </a:r>
            <a:endParaRPr lang="en-US" b="1" dirty="0"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5EB175-BC0F-CB05-9EB9-7320FF3986C1}"/>
              </a:ext>
            </a:extLst>
          </p:cNvPr>
          <p:cNvSpPr txBox="1"/>
          <p:nvPr/>
        </p:nvSpPr>
        <p:spPr>
          <a:xfrm>
            <a:off x="7678424" y="264210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Thread</a:t>
            </a:r>
          </a:p>
        </p:txBody>
      </p:sp>
      <p:sp>
        <p:nvSpPr>
          <p:cNvPr id="39" name="Freeform 2">
            <a:extLst>
              <a:ext uri="{FF2B5EF4-FFF2-40B4-BE49-F238E27FC236}">
                <a16:creationId xmlns:a16="http://schemas.microsoft.com/office/drawing/2014/main" id="{3BED5283-6324-7C60-230D-120A92324F06}"/>
              </a:ext>
            </a:extLst>
          </p:cNvPr>
          <p:cNvSpPr>
            <a:spLocks noChangeAspect="1"/>
          </p:cNvSpPr>
          <p:nvPr/>
        </p:nvSpPr>
        <p:spPr bwMode="auto">
          <a:xfrm>
            <a:off x="7293245" y="2550090"/>
            <a:ext cx="249603" cy="72695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8" y="200"/>
              </a:cxn>
              <a:cxn ang="0">
                <a:pos x="24" y="392"/>
              </a:cxn>
              <a:cxn ang="0">
                <a:pos x="248" y="560"/>
              </a:cxn>
              <a:cxn ang="0">
                <a:pos x="48" y="768"/>
              </a:cxn>
              <a:cxn ang="0">
                <a:pos x="248" y="872"/>
              </a:cxn>
              <a:cxn ang="0">
                <a:pos x="88" y="1048"/>
              </a:cxn>
              <a:cxn ang="0">
                <a:pos x="256" y="1176"/>
              </a:cxn>
              <a:cxn ang="0">
                <a:pos x="72" y="1384"/>
              </a:cxn>
              <a:cxn ang="0">
                <a:pos x="272" y="1536"/>
              </a:cxn>
              <a:cxn ang="0">
                <a:pos x="104" y="1664"/>
              </a:cxn>
            </a:cxnLst>
            <a:rect l="0" t="0" r="r" b="b"/>
            <a:pathLst>
              <a:path w="277" h="1664">
                <a:moveTo>
                  <a:pt x="0" y="0"/>
                </a:moveTo>
                <a:cubicBezTo>
                  <a:pt x="122" y="67"/>
                  <a:pt x="244" y="135"/>
                  <a:pt x="248" y="200"/>
                </a:cubicBezTo>
                <a:cubicBezTo>
                  <a:pt x="252" y="265"/>
                  <a:pt x="24" y="332"/>
                  <a:pt x="24" y="392"/>
                </a:cubicBezTo>
                <a:cubicBezTo>
                  <a:pt x="24" y="452"/>
                  <a:pt x="244" y="497"/>
                  <a:pt x="248" y="560"/>
                </a:cubicBezTo>
                <a:cubicBezTo>
                  <a:pt x="252" y="623"/>
                  <a:pt x="48" y="716"/>
                  <a:pt x="48" y="768"/>
                </a:cubicBezTo>
                <a:cubicBezTo>
                  <a:pt x="48" y="820"/>
                  <a:pt x="241" y="825"/>
                  <a:pt x="248" y="872"/>
                </a:cubicBezTo>
                <a:cubicBezTo>
                  <a:pt x="255" y="919"/>
                  <a:pt x="87" y="997"/>
                  <a:pt x="88" y="1048"/>
                </a:cubicBezTo>
                <a:cubicBezTo>
                  <a:pt x="89" y="1099"/>
                  <a:pt x="259" y="1120"/>
                  <a:pt x="256" y="1176"/>
                </a:cubicBezTo>
                <a:cubicBezTo>
                  <a:pt x="253" y="1232"/>
                  <a:pt x="69" y="1324"/>
                  <a:pt x="72" y="1384"/>
                </a:cubicBezTo>
                <a:cubicBezTo>
                  <a:pt x="75" y="1444"/>
                  <a:pt x="267" y="1489"/>
                  <a:pt x="272" y="1536"/>
                </a:cubicBezTo>
                <a:cubicBezTo>
                  <a:pt x="277" y="1583"/>
                  <a:pt x="132" y="1643"/>
                  <a:pt x="104" y="166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96C7BE-0EAF-4440-5FAC-A4B7EAECE721}"/>
              </a:ext>
            </a:extLst>
          </p:cNvPr>
          <p:cNvSpPr txBox="1"/>
          <p:nvPr/>
        </p:nvSpPr>
        <p:spPr>
          <a:xfrm>
            <a:off x="7907449" y="186571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Process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4FC54A-8DAD-56DC-066B-02BE9106FC27}"/>
              </a:ext>
            </a:extLst>
          </p:cNvPr>
          <p:cNvSpPr txBox="1"/>
          <p:nvPr/>
        </p:nvSpPr>
        <p:spPr>
          <a:xfrm>
            <a:off x="6948009" y="1876422"/>
            <a:ext cx="952446" cy="41119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8ABA6E-491B-C8D4-44E7-0A24E850EC26}"/>
              </a:ext>
            </a:extLst>
          </p:cNvPr>
          <p:cNvSpPr txBox="1"/>
          <p:nvPr/>
        </p:nvSpPr>
        <p:spPr>
          <a:xfrm>
            <a:off x="6538541" y="3399612"/>
            <a:ext cx="2659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PCB: Process Control Block</a:t>
            </a:r>
          </a:p>
          <a:p>
            <a:r>
              <a:rPr lang="en-US" sz="1800" dirty="0"/>
              <a:t>(PC, stack pointer, ..)</a:t>
            </a:r>
            <a:r>
              <a:rPr lang="en-US" sz="1800" b="1" dirty="0"/>
              <a:t>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2FA1A80-BE5B-87C0-A286-6588D6F661BC}"/>
              </a:ext>
            </a:extLst>
          </p:cNvPr>
          <p:cNvCxnSpPr/>
          <p:nvPr/>
        </p:nvCxnSpPr>
        <p:spPr>
          <a:xfrm>
            <a:off x="315408" y="4876112"/>
            <a:ext cx="6400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9D828F7-A54F-2009-0414-C7B180ABE52F}"/>
              </a:ext>
            </a:extLst>
          </p:cNvPr>
          <p:cNvSpPr txBox="1"/>
          <p:nvPr/>
        </p:nvSpPr>
        <p:spPr>
          <a:xfrm>
            <a:off x="5571270" y="4414393"/>
            <a:ext cx="139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8AAACF-CF2C-FA47-CFDD-10D56EF4627A}"/>
              </a:ext>
            </a:extLst>
          </p:cNvPr>
          <p:cNvSpPr txBox="1"/>
          <p:nvPr/>
        </p:nvSpPr>
        <p:spPr>
          <a:xfrm>
            <a:off x="5531940" y="4892542"/>
            <a:ext cx="1568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856363-7BD5-AEAC-5EDA-1390C79241FC}"/>
              </a:ext>
            </a:extLst>
          </p:cNvPr>
          <p:cNvSpPr txBox="1"/>
          <p:nvPr/>
        </p:nvSpPr>
        <p:spPr>
          <a:xfrm>
            <a:off x="3331974" y="5303970"/>
            <a:ext cx="952446" cy="41119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CPU 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5B3865-C883-B27E-DA58-F42236EB3124}"/>
              </a:ext>
            </a:extLst>
          </p:cNvPr>
          <p:cNvSpPr txBox="1"/>
          <p:nvPr/>
        </p:nvSpPr>
        <p:spPr>
          <a:xfrm>
            <a:off x="4533140" y="5303969"/>
            <a:ext cx="952446" cy="41119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CPU B</a:t>
            </a:r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4BBA70DA-D79B-0155-FDC2-4AE669FFED06}"/>
              </a:ext>
            </a:extLst>
          </p:cNvPr>
          <p:cNvSpPr/>
          <p:nvPr/>
        </p:nvSpPr>
        <p:spPr>
          <a:xfrm>
            <a:off x="3721533" y="4536584"/>
            <a:ext cx="458490" cy="65976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08C627-E002-E102-077F-3AD83AC04A29}"/>
              </a:ext>
            </a:extLst>
          </p:cNvPr>
          <p:cNvSpPr txBox="1"/>
          <p:nvPr/>
        </p:nvSpPr>
        <p:spPr>
          <a:xfrm>
            <a:off x="5657006" y="5304942"/>
            <a:ext cx="952446" cy="41119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latin typeface="+mn-lt"/>
              </a:rPr>
              <a:t>CPU 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7AB6E4-43B5-26AD-A0FA-6467C13ABC0A}"/>
              </a:ext>
            </a:extLst>
          </p:cNvPr>
          <p:cNvSpPr txBox="1"/>
          <p:nvPr/>
        </p:nvSpPr>
        <p:spPr>
          <a:xfrm>
            <a:off x="159491" y="4960317"/>
            <a:ext cx="2427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SMT?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6C1779-3399-6D1B-4AE8-A61CBBE23F69}"/>
              </a:ext>
            </a:extLst>
          </p:cNvPr>
          <p:cNvSpPr txBox="1"/>
          <p:nvPr/>
        </p:nvSpPr>
        <p:spPr>
          <a:xfrm>
            <a:off x="12051686" y="5356435"/>
            <a:ext cx="3334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Running multiple threads concurrently on same CPU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3CA59B-F0FF-08A5-A098-1D0E065C793D}"/>
              </a:ext>
            </a:extLst>
          </p:cNvPr>
          <p:cNvSpPr txBox="1"/>
          <p:nvPr/>
        </p:nvSpPr>
        <p:spPr>
          <a:xfrm>
            <a:off x="3098800" y="5827787"/>
            <a:ext cx="382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Multiprocessing?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D38176-93D5-7239-0D5F-A84B3AAF8CB0}"/>
              </a:ext>
            </a:extLst>
          </p:cNvPr>
          <p:cNvSpPr txBox="1"/>
          <p:nvPr/>
        </p:nvSpPr>
        <p:spPr>
          <a:xfrm>
            <a:off x="159492" y="5364290"/>
            <a:ext cx="2829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Running multiple threads concurrently on same CPU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7F0E45-8FA2-9BD7-1336-7BA3F927846C}"/>
              </a:ext>
            </a:extLst>
          </p:cNvPr>
          <p:cNvSpPr txBox="1"/>
          <p:nvPr/>
        </p:nvSpPr>
        <p:spPr>
          <a:xfrm>
            <a:off x="2251698" y="6187614"/>
            <a:ext cx="6946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Running multiple threads concurrently over multiple CPUs</a:t>
            </a:r>
          </a:p>
        </p:txBody>
      </p:sp>
    </p:spTree>
    <p:extLst>
      <p:ext uri="{BB962C8B-B14F-4D97-AF65-F5344CB8AC3E}">
        <p14:creationId xmlns:p14="http://schemas.microsoft.com/office/powerpoint/2010/main" val="76838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/>
      <p:bldP spid="54" grpId="0"/>
      <p:bldP spid="55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9"/>
          <p:cNvSpPr>
            <a:spLocks noChangeArrowheads="1"/>
          </p:cNvSpPr>
          <p:nvPr/>
        </p:nvSpPr>
        <p:spPr bwMode="auto">
          <a:xfrm>
            <a:off x="1123156" y="3782096"/>
            <a:ext cx="1879600" cy="944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Symmetric Multiprocessors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2557" y="5159802"/>
            <a:ext cx="3746499" cy="1362025"/>
          </a:xfrm>
        </p:spPr>
        <p:txBody>
          <a:bodyPr/>
          <a:lstStyle/>
          <a:p>
            <a:r>
              <a:rPr lang="en-US" sz="1800" dirty="0">
                <a:solidFill>
                  <a:srgbClr val="56127A"/>
                </a:solidFill>
                <a:latin typeface="Verdana" pitchFamily="34" charset="0"/>
              </a:rPr>
              <a:t>All memory is equally accessible to all processors</a:t>
            </a:r>
          </a:p>
          <a:p>
            <a:r>
              <a:rPr lang="en-US" sz="1800" dirty="0">
                <a:solidFill>
                  <a:srgbClr val="56127A"/>
                </a:solidFill>
                <a:latin typeface="Verdana" pitchFamily="34" charset="0"/>
              </a:rPr>
              <a:t>Any processor can do any I/O operation</a:t>
            </a:r>
          </a:p>
          <a:p>
            <a:endParaRPr lang="en-US" sz="1800" dirty="0"/>
          </a:p>
        </p:txBody>
      </p:sp>
      <p:sp>
        <p:nvSpPr>
          <p:cNvPr id="7179" name="Rectangle 8"/>
          <p:cNvSpPr>
            <a:spLocks noChangeArrowheads="1"/>
          </p:cNvSpPr>
          <p:nvPr/>
        </p:nvSpPr>
        <p:spPr bwMode="auto">
          <a:xfrm>
            <a:off x="1515269" y="4080546"/>
            <a:ext cx="1206500" cy="398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Memory</a:t>
            </a:r>
          </a:p>
        </p:txBody>
      </p:sp>
      <p:sp>
        <p:nvSpPr>
          <p:cNvPr id="7181" name="Line 10"/>
          <p:cNvSpPr>
            <a:spLocks noChangeShapeType="1"/>
          </p:cNvSpPr>
          <p:nvPr/>
        </p:nvSpPr>
        <p:spPr bwMode="auto">
          <a:xfrm>
            <a:off x="2012156" y="3207421"/>
            <a:ext cx="0" cy="563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Rectangle 14"/>
          <p:cNvSpPr>
            <a:spLocks noChangeArrowheads="1"/>
          </p:cNvSpPr>
          <p:nvPr/>
        </p:nvSpPr>
        <p:spPr bwMode="auto">
          <a:xfrm>
            <a:off x="1212056" y="2874046"/>
            <a:ext cx="6388100" cy="7239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Rectangle 18"/>
          <p:cNvSpPr>
            <a:spLocks noChangeArrowheads="1"/>
          </p:cNvSpPr>
          <p:nvPr/>
        </p:nvSpPr>
        <p:spPr bwMode="auto">
          <a:xfrm>
            <a:off x="2123281" y="3031209"/>
            <a:ext cx="44370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bg1"/>
                </a:solidFill>
                <a:latin typeface="Verdana" pitchFamily="34" charset="0"/>
              </a:rPr>
              <a:t>Processor-Memory Interconnect</a:t>
            </a:r>
          </a:p>
        </p:txBody>
      </p:sp>
      <p:sp>
        <p:nvSpPr>
          <p:cNvPr id="7193" name="Rectangle 22"/>
          <p:cNvSpPr>
            <a:spLocks noChangeArrowheads="1"/>
          </p:cNvSpPr>
          <p:nvPr/>
        </p:nvSpPr>
        <p:spPr bwMode="auto">
          <a:xfrm>
            <a:off x="5537993" y="3828647"/>
            <a:ext cx="985838" cy="3984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bridge</a:t>
            </a:r>
          </a:p>
        </p:txBody>
      </p:sp>
      <p:grpSp>
        <p:nvGrpSpPr>
          <p:cNvPr id="7194" name="Group 23"/>
          <p:cNvGrpSpPr>
            <a:grpSpLocks/>
          </p:cNvGrpSpPr>
          <p:nvPr/>
        </p:nvGrpSpPr>
        <p:grpSpPr bwMode="auto">
          <a:xfrm>
            <a:off x="1250156" y="1689282"/>
            <a:ext cx="1549400" cy="1180001"/>
            <a:chOff x="1200" y="929"/>
            <a:chExt cx="976" cy="839"/>
          </a:xfrm>
        </p:grpSpPr>
        <p:sp>
          <p:nvSpPr>
            <p:cNvPr id="7225" name="Rectangle 24"/>
            <p:cNvSpPr>
              <a:spLocks noChangeArrowheads="1"/>
            </p:cNvSpPr>
            <p:nvPr/>
          </p:nvSpPr>
          <p:spPr bwMode="auto">
            <a:xfrm>
              <a:off x="1200" y="929"/>
              <a:ext cx="976" cy="7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Rectangle 25"/>
            <p:cNvSpPr>
              <a:spLocks noChangeArrowheads="1"/>
            </p:cNvSpPr>
            <p:nvPr/>
          </p:nvSpPr>
          <p:spPr bwMode="auto">
            <a:xfrm>
              <a:off x="1241" y="1032"/>
              <a:ext cx="893" cy="50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Processor</a:t>
              </a:r>
            </a:p>
            <a:p>
              <a:pPr eaLnBrk="0" hangingPunct="0"/>
              <a:r>
                <a:rPr lang="en-US" dirty="0"/>
                <a:t>+ cache</a:t>
              </a:r>
              <a:endParaRPr lang="en-US" sz="2000" dirty="0">
                <a:latin typeface="Verdana" pitchFamily="34" charset="0"/>
              </a:endParaRPr>
            </a:p>
          </p:txBody>
        </p:sp>
        <p:sp>
          <p:nvSpPr>
            <p:cNvPr id="7227" name="Line 26"/>
            <p:cNvSpPr>
              <a:spLocks noChangeShapeType="1"/>
            </p:cNvSpPr>
            <p:nvPr/>
          </p:nvSpPr>
          <p:spPr bwMode="auto">
            <a:xfrm>
              <a:off x="1680" y="1632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694112" y="4238021"/>
            <a:ext cx="5108575" cy="2323587"/>
            <a:chOff x="3115469" y="3776260"/>
            <a:chExt cx="5108575" cy="2323587"/>
          </a:xfrm>
        </p:grpSpPr>
        <p:sp>
          <p:nvSpPr>
            <p:cNvPr id="7176" name="Rectangle 5"/>
            <p:cNvSpPr>
              <a:spLocks noChangeArrowheads="1"/>
            </p:cNvSpPr>
            <p:nvPr/>
          </p:nvSpPr>
          <p:spPr bwMode="auto">
            <a:xfrm>
              <a:off x="3129756" y="4344071"/>
              <a:ext cx="1536700" cy="371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Rectangle 11"/>
            <p:cNvSpPr>
              <a:spLocks noChangeArrowheads="1"/>
            </p:cNvSpPr>
            <p:nvPr/>
          </p:nvSpPr>
          <p:spPr bwMode="auto">
            <a:xfrm>
              <a:off x="3115469" y="4369471"/>
              <a:ext cx="1557338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latin typeface="Verdana" pitchFamily="34" charset="0"/>
                </a:rPr>
                <a:t>I/O controller</a:t>
              </a:r>
            </a:p>
          </p:txBody>
        </p:sp>
        <p:sp>
          <p:nvSpPr>
            <p:cNvPr id="7195" name="Rectangle 27"/>
            <p:cNvSpPr>
              <a:spLocks noChangeArrowheads="1"/>
            </p:cNvSpPr>
            <p:nvPr/>
          </p:nvSpPr>
          <p:spPr bwMode="auto">
            <a:xfrm>
              <a:off x="3129756" y="3905921"/>
              <a:ext cx="5016500" cy="325438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Rectangle 6"/>
            <p:cNvSpPr>
              <a:spLocks noChangeArrowheads="1"/>
            </p:cNvSpPr>
            <p:nvPr/>
          </p:nvSpPr>
          <p:spPr bwMode="auto">
            <a:xfrm>
              <a:off x="6353969" y="4338235"/>
              <a:ext cx="1536700" cy="371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7"/>
            <p:cNvSpPr>
              <a:spLocks noChangeArrowheads="1"/>
            </p:cNvSpPr>
            <p:nvPr/>
          </p:nvSpPr>
          <p:spPr bwMode="auto">
            <a:xfrm>
              <a:off x="4741069" y="4338235"/>
              <a:ext cx="1536700" cy="371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12"/>
            <p:cNvSpPr>
              <a:spLocks noChangeArrowheads="1"/>
            </p:cNvSpPr>
            <p:nvPr/>
          </p:nvSpPr>
          <p:spPr bwMode="auto">
            <a:xfrm>
              <a:off x="4798219" y="4917672"/>
              <a:ext cx="1498600" cy="833438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Rectangle 13"/>
            <p:cNvSpPr>
              <a:spLocks noChangeArrowheads="1"/>
            </p:cNvSpPr>
            <p:nvPr/>
          </p:nvSpPr>
          <p:spPr bwMode="auto">
            <a:xfrm>
              <a:off x="4917282" y="5017685"/>
              <a:ext cx="1292225" cy="7080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latin typeface="Verdana" pitchFamily="34" charset="0"/>
                </a:rPr>
                <a:t>Graphics</a:t>
              </a:r>
            </a:p>
            <a:p>
              <a:pPr eaLnBrk="0" hangingPunct="0"/>
              <a:r>
                <a:rPr lang="en-US" sz="2000">
                  <a:latin typeface="Verdana" pitchFamily="34" charset="0"/>
                </a:rPr>
                <a:t>output</a:t>
              </a:r>
            </a:p>
          </p:txBody>
        </p:sp>
        <p:sp>
          <p:nvSpPr>
            <p:cNvPr id="7186" name="Line 15"/>
            <p:cNvSpPr>
              <a:spLocks noChangeShapeType="1"/>
            </p:cNvSpPr>
            <p:nvPr/>
          </p:nvSpPr>
          <p:spPr bwMode="auto">
            <a:xfrm>
              <a:off x="3686969" y="4755747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16"/>
            <p:cNvSpPr>
              <a:spLocks noChangeShapeType="1"/>
            </p:cNvSpPr>
            <p:nvPr/>
          </p:nvSpPr>
          <p:spPr bwMode="auto">
            <a:xfrm>
              <a:off x="5452269" y="4731935"/>
              <a:ext cx="0" cy="1476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17"/>
            <p:cNvSpPr>
              <a:spLocks noChangeShapeType="1"/>
            </p:cNvSpPr>
            <p:nvPr/>
          </p:nvSpPr>
          <p:spPr bwMode="auto">
            <a:xfrm>
              <a:off x="7115969" y="4731935"/>
              <a:ext cx="0" cy="508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Line 19"/>
            <p:cNvSpPr>
              <a:spLocks noChangeShapeType="1"/>
            </p:cNvSpPr>
            <p:nvPr/>
          </p:nvSpPr>
          <p:spPr bwMode="auto">
            <a:xfrm>
              <a:off x="3813969" y="4125510"/>
              <a:ext cx="0" cy="2016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Line 20"/>
            <p:cNvSpPr>
              <a:spLocks noChangeShapeType="1"/>
            </p:cNvSpPr>
            <p:nvPr/>
          </p:nvSpPr>
          <p:spPr bwMode="auto">
            <a:xfrm>
              <a:off x="7128669" y="4112810"/>
              <a:ext cx="0" cy="20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>
              <a:off x="5490369" y="4271560"/>
              <a:ext cx="0" cy="55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29"/>
            <p:cNvSpPr>
              <a:spLocks noChangeArrowheads="1"/>
            </p:cNvSpPr>
            <p:nvPr/>
          </p:nvSpPr>
          <p:spPr bwMode="auto">
            <a:xfrm>
              <a:off x="4726782" y="4374747"/>
              <a:ext cx="1557338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latin typeface="Verdana" pitchFamily="34" charset="0"/>
                </a:rPr>
                <a:t>I/O controller</a:t>
              </a:r>
            </a:p>
          </p:txBody>
        </p:sp>
        <p:sp>
          <p:nvSpPr>
            <p:cNvPr id="7198" name="Rectangle 30"/>
            <p:cNvSpPr>
              <a:spLocks noChangeArrowheads="1"/>
            </p:cNvSpPr>
            <p:nvPr/>
          </p:nvSpPr>
          <p:spPr bwMode="auto">
            <a:xfrm>
              <a:off x="6339682" y="4374747"/>
              <a:ext cx="1557338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latin typeface="Verdana" pitchFamily="34" charset="0"/>
                </a:rPr>
                <a:t>I/O controller</a:t>
              </a:r>
            </a:p>
          </p:txBody>
        </p:sp>
        <p:sp>
          <p:nvSpPr>
            <p:cNvPr id="7199" name="Line 31"/>
            <p:cNvSpPr>
              <a:spLocks noChangeShapeType="1"/>
            </p:cNvSpPr>
            <p:nvPr/>
          </p:nvSpPr>
          <p:spPr bwMode="auto">
            <a:xfrm>
              <a:off x="5477669" y="3776260"/>
              <a:ext cx="0" cy="123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Oval 33"/>
            <p:cNvSpPr>
              <a:spLocks noChangeArrowheads="1"/>
            </p:cNvSpPr>
            <p:nvPr/>
          </p:nvSpPr>
          <p:spPr bwMode="auto">
            <a:xfrm>
              <a:off x="3394869" y="512722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" name="Oval 34"/>
            <p:cNvSpPr>
              <a:spLocks noChangeArrowheads="1"/>
            </p:cNvSpPr>
            <p:nvPr/>
          </p:nvSpPr>
          <p:spPr bwMode="auto">
            <a:xfrm>
              <a:off x="3394869" y="51938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3" name="Oval 35"/>
            <p:cNvSpPr>
              <a:spLocks noChangeArrowheads="1"/>
            </p:cNvSpPr>
            <p:nvPr/>
          </p:nvSpPr>
          <p:spPr bwMode="auto">
            <a:xfrm>
              <a:off x="3394869" y="5262160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Oval 36"/>
            <p:cNvSpPr>
              <a:spLocks noChangeArrowheads="1"/>
            </p:cNvSpPr>
            <p:nvPr/>
          </p:nvSpPr>
          <p:spPr bwMode="auto">
            <a:xfrm>
              <a:off x="3394869" y="5328835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Oval 37"/>
            <p:cNvSpPr>
              <a:spLocks noChangeArrowheads="1"/>
            </p:cNvSpPr>
            <p:nvPr/>
          </p:nvSpPr>
          <p:spPr bwMode="auto">
            <a:xfrm>
              <a:off x="3394869" y="53970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Oval 38"/>
            <p:cNvSpPr>
              <a:spLocks noChangeArrowheads="1"/>
            </p:cNvSpPr>
            <p:nvPr/>
          </p:nvSpPr>
          <p:spPr bwMode="auto">
            <a:xfrm>
              <a:off x="3394869" y="546377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Oval 39"/>
            <p:cNvSpPr>
              <a:spLocks noChangeArrowheads="1"/>
            </p:cNvSpPr>
            <p:nvPr/>
          </p:nvSpPr>
          <p:spPr bwMode="auto">
            <a:xfrm>
              <a:off x="4004469" y="512722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8" name="Oval 40"/>
            <p:cNvSpPr>
              <a:spLocks noChangeArrowheads="1"/>
            </p:cNvSpPr>
            <p:nvPr/>
          </p:nvSpPr>
          <p:spPr bwMode="auto">
            <a:xfrm>
              <a:off x="4004469" y="51938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9" name="Oval 41"/>
            <p:cNvSpPr>
              <a:spLocks noChangeArrowheads="1"/>
            </p:cNvSpPr>
            <p:nvPr/>
          </p:nvSpPr>
          <p:spPr bwMode="auto">
            <a:xfrm>
              <a:off x="4004469" y="5262160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Oval 42"/>
            <p:cNvSpPr>
              <a:spLocks noChangeArrowheads="1"/>
            </p:cNvSpPr>
            <p:nvPr/>
          </p:nvSpPr>
          <p:spPr bwMode="auto">
            <a:xfrm>
              <a:off x="4004469" y="5328835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Oval 43"/>
            <p:cNvSpPr>
              <a:spLocks noChangeArrowheads="1"/>
            </p:cNvSpPr>
            <p:nvPr/>
          </p:nvSpPr>
          <p:spPr bwMode="auto">
            <a:xfrm>
              <a:off x="4004469" y="53970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Oval 44"/>
            <p:cNvSpPr>
              <a:spLocks noChangeArrowheads="1"/>
            </p:cNvSpPr>
            <p:nvPr/>
          </p:nvSpPr>
          <p:spPr bwMode="auto">
            <a:xfrm>
              <a:off x="4004469" y="546377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3" name="Line 45"/>
            <p:cNvSpPr>
              <a:spLocks noChangeShapeType="1"/>
            </p:cNvSpPr>
            <p:nvPr/>
          </p:nvSpPr>
          <p:spPr bwMode="auto">
            <a:xfrm>
              <a:off x="4296569" y="4755747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Rectangle 46"/>
            <p:cNvSpPr>
              <a:spLocks noChangeArrowheads="1"/>
            </p:cNvSpPr>
            <p:nvPr/>
          </p:nvSpPr>
          <p:spPr bwMode="auto">
            <a:xfrm>
              <a:off x="4282282" y="3867382"/>
              <a:ext cx="2329165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dirty="0">
                  <a:solidFill>
                    <a:schemeClr val="bg1"/>
                  </a:solidFill>
                  <a:latin typeface="Verdana" pitchFamily="34" charset="0"/>
                </a:rPr>
                <a:t>I/O Interconnect</a:t>
              </a:r>
            </a:p>
          </p:txBody>
        </p:sp>
        <p:sp>
          <p:nvSpPr>
            <p:cNvPr id="7215" name="Freeform 47"/>
            <p:cNvSpPr>
              <a:spLocks/>
            </p:cNvSpPr>
            <p:nvPr/>
          </p:nvSpPr>
          <p:spPr bwMode="auto">
            <a:xfrm>
              <a:off x="6544469" y="5103410"/>
              <a:ext cx="1411288" cy="520700"/>
            </a:xfrm>
            <a:custGeom>
              <a:avLst/>
              <a:gdLst>
                <a:gd name="T0" fmla="*/ 888 w 889"/>
                <a:gd name="T1" fmla="*/ 6 h 369"/>
                <a:gd name="T2" fmla="*/ 872 w 889"/>
                <a:gd name="T3" fmla="*/ 0 h 369"/>
                <a:gd name="T4" fmla="*/ 856 w 889"/>
                <a:gd name="T5" fmla="*/ 0 h 369"/>
                <a:gd name="T6" fmla="*/ 840 w 889"/>
                <a:gd name="T7" fmla="*/ 0 h 369"/>
                <a:gd name="T8" fmla="*/ 816 w 889"/>
                <a:gd name="T9" fmla="*/ 0 h 369"/>
                <a:gd name="T10" fmla="*/ 800 w 889"/>
                <a:gd name="T11" fmla="*/ 0 h 369"/>
                <a:gd name="T12" fmla="*/ 784 w 889"/>
                <a:gd name="T13" fmla="*/ 0 h 369"/>
                <a:gd name="T14" fmla="*/ 768 w 889"/>
                <a:gd name="T15" fmla="*/ 0 h 369"/>
                <a:gd name="T16" fmla="*/ 752 w 889"/>
                <a:gd name="T17" fmla="*/ 0 h 369"/>
                <a:gd name="T18" fmla="*/ 736 w 889"/>
                <a:gd name="T19" fmla="*/ 0 h 369"/>
                <a:gd name="T20" fmla="*/ 720 w 889"/>
                <a:gd name="T21" fmla="*/ 0 h 369"/>
                <a:gd name="T22" fmla="*/ 704 w 889"/>
                <a:gd name="T23" fmla="*/ 0 h 369"/>
                <a:gd name="T24" fmla="*/ 680 w 889"/>
                <a:gd name="T25" fmla="*/ 6 h 369"/>
                <a:gd name="T26" fmla="*/ 656 w 889"/>
                <a:gd name="T27" fmla="*/ 6 h 369"/>
                <a:gd name="T28" fmla="*/ 632 w 889"/>
                <a:gd name="T29" fmla="*/ 6 h 369"/>
                <a:gd name="T30" fmla="*/ 616 w 889"/>
                <a:gd name="T31" fmla="*/ 12 h 369"/>
                <a:gd name="T32" fmla="*/ 584 w 889"/>
                <a:gd name="T33" fmla="*/ 19 h 369"/>
                <a:gd name="T34" fmla="*/ 568 w 889"/>
                <a:gd name="T35" fmla="*/ 25 h 369"/>
                <a:gd name="T36" fmla="*/ 544 w 889"/>
                <a:gd name="T37" fmla="*/ 32 h 369"/>
                <a:gd name="T38" fmla="*/ 528 w 889"/>
                <a:gd name="T39" fmla="*/ 38 h 369"/>
                <a:gd name="T40" fmla="*/ 512 w 889"/>
                <a:gd name="T41" fmla="*/ 44 h 369"/>
                <a:gd name="T42" fmla="*/ 488 w 889"/>
                <a:gd name="T43" fmla="*/ 51 h 369"/>
                <a:gd name="T44" fmla="*/ 456 w 889"/>
                <a:gd name="T45" fmla="*/ 63 h 369"/>
                <a:gd name="T46" fmla="*/ 440 w 889"/>
                <a:gd name="T47" fmla="*/ 63 h 369"/>
                <a:gd name="T48" fmla="*/ 408 w 889"/>
                <a:gd name="T49" fmla="*/ 82 h 369"/>
                <a:gd name="T50" fmla="*/ 392 w 889"/>
                <a:gd name="T51" fmla="*/ 89 h 369"/>
                <a:gd name="T52" fmla="*/ 376 w 889"/>
                <a:gd name="T53" fmla="*/ 95 h 369"/>
                <a:gd name="T54" fmla="*/ 360 w 889"/>
                <a:gd name="T55" fmla="*/ 101 h 369"/>
                <a:gd name="T56" fmla="*/ 344 w 889"/>
                <a:gd name="T57" fmla="*/ 108 h 369"/>
                <a:gd name="T58" fmla="*/ 328 w 889"/>
                <a:gd name="T59" fmla="*/ 114 h 369"/>
                <a:gd name="T60" fmla="*/ 296 w 889"/>
                <a:gd name="T61" fmla="*/ 126 h 369"/>
                <a:gd name="T62" fmla="*/ 288 w 889"/>
                <a:gd name="T63" fmla="*/ 139 h 369"/>
                <a:gd name="T64" fmla="*/ 272 w 889"/>
                <a:gd name="T65" fmla="*/ 146 h 369"/>
                <a:gd name="T66" fmla="*/ 256 w 889"/>
                <a:gd name="T67" fmla="*/ 158 h 369"/>
                <a:gd name="T68" fmla="*/ 232 w 889"/>
                <a:gd name="T69" fmla="*/ 171 h 369"/>
                <a:gd name="T70" fmla="*/ 216 w 889"/>
                <a:gd name="T71" fmla="*/ 183 h 369"/>
                <a:gd name="T72" fmla="*/ 200 w 889"/>
                <a:gd name="T73" fmla="*/ 196 h 369"/>
                <a:gd name="T74" fmla="*/ 176 w 889"/>
                <a:gd name="T75" fmla="*/ 215 h 369"/>
                <a:gd name="T76" fmla="*/ 160 w 889"/>
                <a:gd name="T77" fmla="*/ 228 h 369"/>
                <a:gd name="T78" fmla="*/ 144 w 889"/>
                <a:gd name="T79" fmla="*/ 240 h 369"/>
                <a:gd name="T80" fmla="*/ 128 w 889"/>
                <a:gd name="T81" fmla="*/ 252 h 369"/>
                <a:gd name="T82" fmla="*/ 112 w 889"/>
                <a:gd name="T83" fmla="*/ 252 h 369"/>
                <a:gd name="T84" fmla="*/ 96 w 889"/>
                <a:gd name="T85" fmla="*/ 260 h 369"/>
                <a:gd name="T86" fmla="*/ 80 w 889"/>
                <a:gd name="T87" fmla="*/ 272 h 369"/>
                <a:gd name="T88" fmla="*/ 64 w 889"/>
                <a:gd name="T89" fmla="*/ 278 h 369"/>
                <a:gd name="T90" fmla="*/ 48 w 889"/>
                <a:gd name="T91" fmla="*/ 278 h 369"/>
                <a:gd name="T92" fmla="*/ 32 w 889"/>
                <a:gd name="T93" fmla="*/ 284 h 369"/>
                <a:gd name="T94" fmla="*/ 16 w 889"/>
                <a:gd name="T95" fmla="*/ 291 h 369"/>
                <a:gd name="T96" fmla="*/ 0 w 889"/>
                <a:gd name="T97" fmla="*/ 291 h 36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89"/>
                <a:gd name="T148" fmla="*/ 0 h 369"/>
                <a:gd name="T149" fmla="*/ 889 w 889"/>
                <a:gd name="T150" fmla="*/ 369 h 36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89" h="369">
                  <a:moveTo>
                    <a:pt x="888" y="8"/>
                  </a:moveTo>
                  <a:lnTo>
                    <a:pt x="872" y="0"/>
                  </a:lnTo>
                  <a:lnTo>
                    <a:pt x="856" y="0"/>
                  </a:lnTo>
                  <a:lnTo>
                    <a:pt x="840" y="0"/>
                  </a:lnTo>
                  <a:lnTo>
                    <a:pt x="816" y="0"/>
                  </a:lnTo>
                  <a:lnTo>
                    <a:pt x="800" y="0"/>
                  </a:lnTo>
                  <a:lnTo>
                    <a:pt x="784" y="0"/>
                  </a:lnTo>
                  <a:lnTo>
                    <a:pt x="768" y="0"/>
                  </a:lnTo>
                  <a:lnTo>
                    <a:pt x="752" y="0"/>
                  </a:lnTo>
                  <a:lnTo>
                    <a:pt x="736" y="0"/>
                  </a:lnTo>
                  <a:lnTo>
                    <a:pt x="720" y="0"/>
                  </a:lnTo>
                  <a:lnTo>
                    <a:pt x="704" y="0"/>
                  </a:lnTo>
                  <a:lnTo>
                    <a:pt x="680" y="8"/>
                  </a:lnTo>
                  <a:lnTo>
                    <a:pt x="656" y="8"/>
                  </a:lnTo>
                  <a:lnTo>
                    <a:pt x="632" y="8"/>
                  </a:lnTo>
                  <a:lnTo>
                    <a:pt x="616" y="16"/>
                  </a:lnTo>
                  <a:lnTo>
                    <a:pt x="584" y="24"/>
                  </a:lnTo>
                  <a:lnTo>
                    <a:pt x="568" y="32"/>
                  </a:lnTo>
                  <a:lnTo>
                    <a:pt x="544" y="40"/>
                  </a:lnTo>
                  <a:lnTo>
                    <a:pt x="528" y="48"/>
                  </a:lnTo>
                  <a:lnTo>
                    <a:pt x="512" y="56"/>
                  </a:lnTo>
                  <a:lnTo>
                    <a:pt x="488" y="64"/>
                  </a:lnTo>
                  <a:lnTo>
                    <a:pt x="456" y="80"/>
                  </a:lnTo>
                  <a:lnTo>
                    <a:pt x="440" y="80"/>
                  </a:lnTo>
                  <a:lnTo>
                    <a:pt x="408" y="104"/>
                  </a:lnTo>
                  <a:lnTo>
                    <a:pt x="392" y="112"/>
                  </a:lnTo>
                  <a:lnTo>
                    <a:pt x="376" y="120"/>
                  </a:lnTo>
                  <a:lnTo>
                    <a:pt x="360" y="128"/>
                  </a:lnTo>
                  <a:lnTo>
                    <a:pt x="344" y="136"/>
                  </a:lnTo>
                  <a:lnTo>
                    <a:pt x="328" y="144"/>
                  </a:lnTo>
                  <a:lnTo>
                    <a:pt x="296" y="160"/>
                  </a:lnTo>
                  <a:lnTo>
                    <a:pt x="288" y="176"/>
                  </a:lnTo>
                  <a:lnTo>
                    <a:pt x="272" y="184"/>
                  </a:lnTo>
                  <a:lnTo>
                    <a:pt x="256" y="200"/>
                  </a:lnTo>
                  <a:lnTo>
                    <a:pt x="232" y="216"/>
                  </a:lnTo>
                  <a:lnTo>
                    <a:pt x="216" y="232"/>
                  </a:lnTo>
                  <a:lnTo>
                    <a:pt x="200" y="248"/>
                  </a:lnTo>
                  <a:lnTo>
                    <a:pt x="176" y="272"/>
                  </a:lnTo>
                  <a:lnTo>
                    <a:pt x="160" y="288"/>
                  </a:lnTo>
                  <a:lnTo>
                    <a:pt x="144" y="304"/>
                  </a:lnTo>
                  <a:lnTo>
                    <a:pt x="128" y="320"/>
                  </a:lnTo>
                  <a:lnTo>
                    <a:pt x="112" y="320"/>
                  </a:lnTo>
                  <a:lnTo>
                    <a:pt x="96" y="328"/>
                  </a:lnTo>
                  <a:lnTo>
                    <a:pt x="80" y="344"/>
                  </a:lnTo>
                  <a:lnTo>
                    <a:pt x="64" y="352"/>
                  </a:lnTo>
                  <a:lnTo>
                    <a:pt x="48" y="352"/>
                  </a:lnTo>
                  <a:lnTo>
                    <a:pt x="32" y="360"/>
                  </a:lnTo>
                  <a:lnTo>
                    <a:pt x="16" y="368"/>
                  </a:lnTo>
                  <a:lnTo>
                    <a:pt x="0" y="368"/>
                  </a:lnTo>
                </a:path>
              </a:pathLst>
            </a:custGeom>
            <a:noFill/>
            <a:ln w="127000" cap="rnd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Rectangle 48"/>
            <p:cNvSpPr>
              <a:spLocks noChangeArrowheads="1"/>
            </p:cNvSpPr>
            <p:nvPr/>
          </p:nvSpPr>
          <p:spPr bwMode="auto">
            <a:xfrm>
              <a:off x="6849269" y="5701384"/>
              <a:ext cx="1374775" cy="3984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latin typeface="Verdana" pitchFamily="34" charset="0"/>
                </a:rPr>
                <a:t>Networks</a:t>
              </a:r>
            </a:p>
          </p:txBody>
        </p:sp>
      </p:grpSp>
      <p:grpSp>
        <p:nvGrpSpPr>
          <p:cNvPr id="7217" name="Group 49"/>
          <p:cNvGrpSpPr>
            <a:grpSpLocks/>
          </p:cNvGrpSpPr>
          <p:nvPr/>
        </p:nvGrpSpPr>
        <p:grpSpPr bwMode="auto">
          <a:xfrm>
            <a:off x="5784056" y="1648496"/>
            <a:ext cx="1549400" cy="1220788"/>
            <a:chOff x="4056" y="900"/>
            <a:chExt cx="976" cy="868"/>
          </a:xfrm>
        </p:grpSpPr>
        <p:sp>
          <p:nvSpPr>
            <p:cNvPr id="7222" name="Rectangle 50"/>
            <p:cNvSpPr>
              <a:spLocks noChangeArrowheads="1"/>
            </p:cNvSpPr>
            <p:nvPr/>
          </p:nvSpPr>
          <p:spPr bwMode="auto">
            <a:xfrm>
              <a:off x="4056" y="900"/>
              <a:ext cx="976" cy="7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Rectangle 51"/>
            <p:cNvSpPr>
              <a:spLocks noChangeArrowheads="1"/>
            </p:cNvSpPr>
            <p:nvPr/>
          </p:nvSpPr>
          <p:spPr bwMode="auto">
            <a:xfrm>
              <a:off x="4113" y="1005"/>
              <a:ext cx="893" cy="50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Processor</a:t>
              </a:r>
            </a:p>
            <a:p>
              <a:pPr eaLnBrk="0" hangingPunct="0"/>
              <a:r>
                <a:rPr lang="en-US" dirty="0"/>
                <a:t>+ cache</a:t>
              </a:r>
              <a:endParaRPr lang="en-US" sz="2000" dirty="0">
                <a:latin typeface="Verdana" pitchFamily="34" charset="0"/>
              </a:endParaRPr>
            </a:p>
          </p:txBody>
        </p:sp>
        <p:sp>
          <p:nvSpPr>
            <p:cNvPr id="7224" name="Line 52"/>
            <p:cNvSpPr>
              <a:spLocks noChangeShapeType="1"/>
            </p:cNvSpPr>
            <p:nvPr/>
          </p:nvSpPr>
          <p:spPr bwMode="auto">
            <a:xfrm>
              <a:off x="4560" y="1632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18" name="Group 53"/>
          <p:cNvGrpSpPr>
            <a:grpSpLocks/>
          </p:cNvGrpSpPr>
          <p:nvPr/>
        </p:nvGrpSpPr>
        <p:grpSpPr bwMode="auto">
          <a:xfrm>
            <a:off x="3244056" y="1946946"/>
            <a:ext cx="660400" cy="44450"/>
            <a:chOff x="2456" y="1112"/>
            <a:chExt cx="416" cy="32"/>
          </a:xfrm>
        </p:grpSpPr>
        <p:sp>
          <p:nvSpPr>
            <p:cNvPr id="7219" name="Oval 54"/>
            <p:cNvSpPr>
              <a:spLocks noChangeArrowheads="1"/>
            </p:cNvSpPr>
            <p:nvPr/>
          </p:nvSpPr>
          <p:spPr bwMode="auto">
            <a:xfrm>
              <a:off x="2456" y="1112"/>
              <a:ext cx="32" cy="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>
                  <a:latin typeface="Verdana" pitchFamily="34" charset="0"/>
                </a:rPr>
                <a:t> </a:t>
              </a:r>
            </a:p>
          </p:txBody>
        </p:sp>
        <p:sp>
          <p:nvSpPr>
            <p:cNvPr id="7220" name="Oval 55"/>
            <p:cNvSpPr>
              <a:spLocks noChangeArrowheads="1"/>
            </p:cNvSpPr>
            <p:nvPr/>
          </p:nvSpPr>
          <p:spPr bwMode="auto">
            <a:xfrm>
              <a:off x="2648" y="1112"/>
              <a:ext cx="32" cy="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>
                  <a:latin typeface="Verdana" pitchFamily="34" charset="0"/>
                </a:rPr>
                <a:t> </a:t>
              </a:r>
            </a:p>
          </p:txBody>
        </p:sp>
        <p:sp>
          <p:nvSpPr>
            <p:cNvPr id="7221" name="Oval 56"/>
            <p:cNvSpPr>
              <a:spLocks noChangeArrowheads="1"/>
            </p:cNvSpPr>
            <p:nvPr/>
          </p:nvSpPr>
          <p:spPr bwMode="auto">
            <a:xfrm>
              <a:off x="2840" y="1112"/>
              <a:ext cx="32" cy="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>
                  <a:latin typeface="Verdana" pitchFamily="34" charset="0"/>
                </a:rPr>
                <a:t> </a:t>
              </a:r>
            </a:p>
          </p:txBody>
        </p:sp>
      </p:grpSp>
      <p:sp>
        <p:nvSpPr>
          <p:cNvPr id="63" name="Line 52"/>
          <p:cNvSpPr>
            <a:spLocks noChangeShapeType="1"/>
          </p:cNvSpPr>
          <p:nvPr/>
        </p:nvSpPr>
        <p:spPr bwMode="auto">
          <a:xfrm>
            <a:off x="6028221" y="3616027"/>
            <a:ext cx="0" cy="1912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638AB-FE7E-D82D-A2A4-245A0F1A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15191-70B5-A81E-E8C5-FDE112F78D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3B740-48C0-9A1A-2807-E4A344E6C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66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0" grpId="0" animBg="1"/>
      <p:bldP spid="7179" grpId="0"/>
      <p:bldP spid="7181" grpId="0" animBg="1"/>
      <p:bldP spid="7185" grpId="0" animBg="1"/>
      <p:bldP spid="7189" grpId="0"/>
      <p:bldP spid="7193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9"/>
          <p:cNvSpPr>
            <a:spLocks noChangeArrowheads="1"/>
          </p:cNvSpPr>
          <p:nvPr/>
        </p:nvSpPr>
        <p:spPr bwMode="auto">
          <a:xfrm>
            <a:off x="1123156" y="3782096"/>
            <a:ext cx="1879600" cy="944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Heterogeneous Processors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5081" y="4997881"/>
            <a:ext cx="3810000" cy="147038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In modern Systems-on-a-Chip (SoC) there are many processors to perform specific functions; they are programmed in an ad-hoc manner</a:t>
            </a:r>
          </a:p>
        </p:txBody>
      </p:sp>
      <p:sp>
        <p:nvSpPr>
          <p:cNvPr id="7179" name="Rectangle 8"/>
          <p:cNvSpPr>
            <a:spLocks noChangeArrowheads="1"/>
          </p:cNvSpPr>
          <p:nvPr/>
        </p:nvSpPr>
        <p:spPr bwMode="auto">
          <a:xfrm>
            <a:off x="1515269" y="4080546"/>
            <a:ext cx="1206500" cy="398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Memory</a:t>
            </a:r>
          </a:p>
        </p:txBody>
      </p:sp>
      <p:sp>
        <p:nvSpPr>
          <p:cNvPr id="7181" name="Line 10"/>
          <p:cNvSpPr>
            <a:spLocks noChangeShapeType="1"/>
          </p:cNvSpPr>
          <p:nvPr/>
        </p:nvSpPr>
        <p:spPr bwMode="auto">
          <a:xfrm>
            <a:off x="2012156" y="3207421"/>
            <a:ext cx="0" cy="563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Rectangle 14"/>
          <p:cNvSpPr>
            <a:spLocks noChangeArrowheads="1"/>
          </p:cNvSpPr>
          <p:nvPr/>
        </p:nvSpPr>
        <p:spPr bwMode="auto">
          <a:xfrm>
            <a:off x="1212056" y="2874046"/>
            <a:ext cx="6388100" cy="7239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Rectangle 18"/>
          <p:cNvSpPr>
            <a:spLocks noChangeArrowheads="1"/>
          </p:cNvSpPr>
          <p:nvPr/>
        </p:nvSpPr>
        <p:spPr bwMode="auto">
          <a:xfrm>
            <a:off x="2123281" y="3031209"/>
            <a:ext cx="44370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bg1"/>
                </a:solidFill>
                <a:latin typeface="Verdana" pitchFamily="34" charset="0"/>
              </a:rPr>
              <a:t>Processor-Memory Interconnect</a:t>
            </a:r>
          </a:p>
        </p:txBody>
      </p:sp>
      <p:sp>
        <p:nvSpPr>
          <p:cNvPr id="7193" name="Rectangle 22"/>
          <p:cNvSpPr>
            <a:spLocks noChangeArrowheads="1"/>
          </p:cNvSpPr>
          <p:nvPr/>
        </p:nvSpPr>
        <p:spPr bwMode="auto">
          <a:xfrm>
            <a:off x="5537993" y="3828647"/>
            <a:ext cx="985838" cy="3984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bridge</a:t>
            </a:r>
          </a:p>
        </p:txBody>
      </p:sp>
      <p:grpSp>
        <p:nvGrpSpPr>
          <p:cNvPr id="7194" name="Group 23"/>
          <p:cNvGrpSpPr>
            <a:grpSpLocks/>
          </p:cNvGrpSpPr>
          <p:nvPr/>
        </p:nvGrpSpPr>
        <p:grpSpPr bwMode="auto">
          <a:xfrm>
            <a:off x="1250156" y="1689282"/>
            <a:ext cx="1549400" cy="1180001"/>
            <a:chOff x="1200" y="929"/>
            <a:chExt cx="976" cy="839"/>
          </a:xfrm>
        </p:grpSpPr>
        <p:sp>
          <p:nvSpPr>
            <p:cNvPr id="7225" name="Rectangle 24"/>
            <p:cNvSpPr>
              <a:spLocks noChangeArrowheads="1"/>
            </p:cNvSpPr>
            <p:nvPr/>
          </p:nvSpPr>
          <p:spPr bwMode="auto">
            <a:xfrm>
              <a:off x="1200" y="929"/>
              <a:ext cx="976" cy="7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Rectangle 25"/>
            <p:cNvSpPr>
              <a:spLocks noChangeArrowheads="1"/>
            </p:cNvSpPr>
            <p:nvPr/>
          </p:nvSpPr>
          <p:spPr bwMode="auto">
            <a:xfrm>
              <a:off x="1241" y="1032"/>
              <a:ext cx="893" cy="50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Processor</a:t>
              </a:r>
            </a:p>
            <a:p>
              <a:pPr eaLnBrk="0" hangingPunct="0"/>
              <a:r>
                <a:rPr lang="en-US" dirty="0"/>
                <a:t>+ cache</a:t>
              </a:r>
              <a:endParaRPr lang="en-US" sz="2000" dirty="0">
                <a:latin typeface="Verdana" pitchFamily="34" charset="0"/>
              </a:endParaRPr>
            </a:p>
          </p:txBody>
        </p:sp>
        <p:sp>
          <p:nvSpPr>
            <p:cNvPr id="7227" name="Line 26"/>
            <p:cNvSpPr>
              <a:spLocks noChangeShapeType="1"/>
            </p:cNvSpPr>
            <p:nvPr/>
          </p:nvSpPr>
          <p:spPr bwMode="auto">
            <a:xfrm>
              <a:off x="1680" y="1632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5466556" y="3218534"/>
            <a:ext cx="0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08399" y="4238021"/>
            <a:ext cx="5094288" cy="2323587"/>
            <a:chOff x="3129756" y="3776260"/>
            <a:chExt cx="5094288" cy="2323587"/>
          </a:xfrm>
        </p:grpSpPr>
        <p:sp>
          <p:nvSpPr>
            <p:cNvPr id="7176" name="Rectangle 5"/>
            <p:cNvSpPr>
              <a:spLocks noChangeArrowheads="1"/>
            </p:cNvSpPr>
            <p:nvPr/>
          </p:nvSpPr>
          <p:spPr bwMode="auto">
            <a:xfrm>
              <a:off x="3129756" y="4344071"/>
              <a:ext cx="1536700" cy="371475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Rectangle 11"/>
            <p:cNvSpPr>
              <a:spLocks noChangeArrowheads="1"/>
            </p:cNvSpPr>
            <p:nvPr/>
          </p:nvSpPr>
          <p:spPr bwMode="auto">
            <a:xfrm>
              <a:off x="3222149" y="4369471"/>
              <a:ext cx="1434689" cy="3359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dirty="0">
                  <a:latin typeface="Verdana" pitchFamily="34" charset="0"/>
                </a:rPr>
                <a:t>Proc + Mem</a:t>
              </a:r>
            </a:p>
          </p:txBody>
        </p:sp>
        <p:sp>
          <p:nvSpPr>
            <p:cNvPr id="7195" name="Rectangle 27"/>
            <p:cNvSpPr>
              <a:spLocks noChangeArrowheads="1"/>
            </p:cNvSpPr>
            <p:nvPr/>
          </p:nvSpPr>
          <p:spPr bwMode="auto">
            <a:xfrm>
              <a:off x="3129756" y="3905921"/>
              <a:ext cx="5016500" cy="325438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Rectangle 6"/>
            <p:cNvSpPr>
              <a:spLocks noChangeArrowheads="1"/>
            </p:cNvSpPr>
            <p:nvPr/>
          </p:nvSpPr>
          <p:spPr bwMode="auto">
            <a:xfrm>
              <a:off x="6353969" y="4338235"/>
              <a:ext cx="1536700" cy="371475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7"/>
            <p:cNvSpPr>
              <a:spLocks noChangeArrowheads="1"/>
            </p:cNvSpPr>
            <p:nvPr/>
          </p:nvSpPr>
          <p:spPr bwMode="auto">
            <a:xfrm>
              <a:off x="4741069" y="4338235"/>
              <a:ext cx="1536700" cy="371475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12"/>
            <p:cNvSpPr>
              <a:spLocks noChangeArrowheads="1"/>
            </p:cNvSpPr>
            <p:nvPr/>
          </p:nvSpPr>
          <p:spPr bwMode="auto">
            <a:xfrm>
              <a:off x="4798219" y="4917672"/>
              <a:ext cx="1498600" cy="833438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Rectangle 13"/>
            <p:cNvSpPr>
              <a:spLocks noChangeArrowheads="1"/>
            </p:cNvSpPr>
            <p:nvPr/>
          </p:nvSpPr>
          <p:spPr bwMode="auto">
            <a:xfrm>
              <a:off x="4917282" y="5017685"/>
              <a:ext cx="1292225" cy="7080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latin typeface="Verdana" pitchFamily="34" charset="0"/>
                </a:rPr>
                <a:t>Graphics</a:t>
              </a:r>
            </a:p>
            <a:p>
              <a:pPr eaLnBrk="0" hangingPunct="0"/>
              <a:r>
                <a:rPr lang="en-US" sz="2000">
                  <a:latin typeface="Verdana" pitchFamily="34" charset="0"/>
                </a:rPr>
                <a:t>output</a:t>
              </a:r>
            </a:p>
          </p:txBody>
        </p:sp>
        <p:sp>
          <p:nvSpPr>
            <p:cNvPr id="7186" name="Line 15"/>
            <p:cNvSpPr>
              <a:spLocks noChangeShapeType="1"/>
            </p:cNvSpPr>
            <p:nvPr/>
          </p:nvSpPr>
          <p:spPr bwMode="auto">
            <a:xfrm>
              <a:off x="3686969" y="4755747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16"/>
            <p:cNvSpPr>
              <a:spLocks noChangeShapeType="1"/>
            </p:cNvSpPr>
            <p:nvPr/>
          </p:nvSpPr>
          <p:spPr bwMode="auto">
            <a:xfrm>
              <a:off x="5452269" y="4731935"/>
              <a:ext cx="0" cy="1476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17"/>
            <p:cNvSpPr>
              <a:spLocks noChangeShapeType="1"/>
            </p:cNvSpPr>
            <p:nvPr/>
          </p:nvSpPr>
          <p:spPr bwMode="auto">
            <a:xfrm>
              <a:off x="7115969" y="4731935"/>
              <a:ext cx="0" cy="508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Line 19"/>
            <p:cNvSpPr>
              <a:spLocks noChangeShapeType="1"/>
            </p:cNvSpPr>
            <p:nvPr/>
          </p:nvSpPr>
          <p:spPr bwMode="auto">
            <a:xfrm>
              <a:off x="3813969" y="4125510"/>
              <a:ext cx="0" cy="2016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Line 20"/>
            <p:cNvSpPr>
              <a:spLocks noChangeShapeType="1"/>
            </p:cNvSpPr>
            <p:nvPr/>
          </p:nvSpPr>
          <p:spPr bwMode="auto">
            <a:xfrm>
              <a:off x="7128669" y="4112810"/>
              <a:ext cx="0" cy="20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>
              <a:off x="5490369" y="4271560"/>
              <a:ext cx="0" cy="55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29"/>
            <p:cNvSpPr>
              <a:spLocks noChangeArrowheads="1"/>
            </p:cNvSpPr>
            <p:nvPr/>
          </p:nvSpPr>
          <p:spPr bwMode="auto">
            <a:xfrm>
              <a:off x="4787742" y="4374747"/>
              <a:ext cx="1434689" cy="3359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dirty="0">
                  <a:latin typeface="Verdana" pitchFamily="34" charset="0"/>
                </a:rPr>
                <a:t>Proc + Mem</a:t>
              </a:r>
            </a:p>
          </p:txBody>
        </p:sp>
        <p:sp>
          <p:nvSpPr>
            <p:cNvPr id="7198" name="Rectangle 30"/>
            <p:cNvSpPr>
              <a:spLocks noChangeArrowheads="1"/>
            </p:cNvSpPr>
            <p:nvPr/>
          </p:nvSpPr>
          <p:spPr bwMode="auto">
            <a:xfrm>
              <a:off x="6438742" y="4359507"/>
              <a:ext cx="1434689" cy="3359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dirty="0">
                  <a:latin typeface="Verdana" pitchFamily="34" charset="0"/>
                </a:rPr>
                <a:t>Proc + Mem</a:t>
              </a:r>
            </a:p>
          </p:txBody>
        </p:sp>
        <p:sp>
          <p:nvSpPr>
            <p:cNvPr id="7199" name="Line 31"/>
            <p:cNvSpPr>
              <a:spLocks noChangeShapeType="1"/>
            </p:cNvSpPr>
            <p:nvPr/>
          </p:nvSpPr>
          <p:spPr bwMode="auto">
            <a:xfrm>
              <a:off x="5477669" y="3776260"/>
              <a:ext cx="0" cy="123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Oval 33"/>
            <p:cNvSpPr>
              <a:spLocks noChangeArrowheads="1"/>
            </p:cNvSpPr>
            <p:nvPr/>
          </p:nvSpPr>
          <p:spPr bwMode="auto">
            <a:xfrm>
              <a:off x="3394869" y="512722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" name="Oval 34"/>
            <p:cNvSpPr>
              <a:spLocks noChangeArrowheads="1"/>
            </p:cNvSpPr>
            <p:nvPr/>
          </p:nvSpPr>
          <p:spPr bwMode="auto">
            <a:xfrm>
              <a:off x="3394869" y="51938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3" name="Oval 35"/>
            <p:cNvSpPr>
              <a:spLocks noChangeArrowheads="1"/>
            </p:cNvSpPr>
            <p:nvPr/>
          </p:nvSpPr>
          <p:spPr bwMode="auto">
            <a:xfrm>
              <a:off x="3394869" y="5262160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Oval 36"/>
            <p:cNvSpPr>
              <a:spLocks noChangeArrowheads="1"/>
            </p:cNvSpPr>
            <p:nvPr/>
          </p:nvSpPr>
          <p:spPr bwMode="auto">
            <a:xfrm>
              <a:off x="3394869" y="5328835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Oval 37"/>
            <p:cNvSpPr>
              <a:spLocks noChangeArrowheads="1"/>
            </p:cNvSpPr>
            <p:nvPr/>
          </p:nvSpPr>
          <p:spPr bwMode="auto">
            <a:xfrm>
              <a:off x="3394869" y="53970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Oval 38"/>
            <p:cNvSpPr>
              <a:spLocks noChangeArrowheads="1"/>
            </p:cNvSpPr>
            <p:nvPr/>
          </p:nvSpPr>
          <p:spPr bwMode="auto">
            <a:xfrm>
              <a:off x="3394869" y="546377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Oval 39"/>
            <p:cNvSpPr>
              <a:spLocks noChangeArrowheads="1"/>
            </p:cNvSpPr>
            <p:nvPr/>
          </p:nvSpPr>
          <p:spPr bwMode="auto">
            <a:xfrm>
              <a:off x="4004469" y="512722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8" name="Oval 40"/>
            <p:cNvSpPr>
              <a:spLocks noChangeArrowheads="1"/>
            </p:cNvSpPr>
            <p:nvPr/>
          </p:nvSpPr>
          <p:spPr bwMode="auto">
            <a:xfrm>
              <a:off x="4004469" y="51938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9" name="Oval 41"/>
            <p:cNvSpPr>
              <a:spLocks noChangeArrowheads="1"/>
            </p:cNvSpPr>
            <p:nvPr/>
          </p:nvSpPr>
          <p:spPr bwMode="auto">
            <a:xfrm>
              <a:off x="4004469" y="5262160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Oval 42"/>
            <p:cNvSpPr>
              <a:spLocks noChangeArrowheads="1"/>
            </p:cNvSpPr>
            <p:nvPr/>
          </p:nvSpPr>
          <p:spPr bwMode="auto">
            <a:xfrm>
              <a:off x="4004469" y="5328835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Oval 43"/>
            <p:cNvSpPr>
              <a:spLocks noChangeArrowheads="1"/>
            </p:cNvSpPr>
            <p:nvPr/>
          </p:nvSpPr>
          <p:spPr bwMode="auto">
            <a:xfrm>
              <a:off x="4004469" y="5397097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Oval 44"/>
            <p:cNvSpPr>
              <a:spLocks noChangeArrowheads="1"/>
            </p:cNvSpPr>
            <p:nvPr/>
          </p:nvSpPr>
          <p:spPr bwMode="auto">
            <a:xfrm>
              <a:off x="4004469" y="5463772"/>
              <a:ext cx="584200" cy="11271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3" name="Line 45"/>
            <p:cNvSpPr>
              <a:spLocks noChangeShapeType="1"/>
            </p:cNvSpPr>
            <p:nvPr/>
          </p:nvSpPr>
          <p:spPr bwMode="auto">
            <a:xfrm>
              <a:off x="4296569" y="4755747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Rectangle 46"/>
            <p:cNvSpPr>
              <a:spLocks noChangeArrowheads="1"/>
            </p:cNvSpPr>
            <p:nvPr/>
          </p:nvSpPr>
          <p:spPr bwMode="auto">
            <a:xfrm>
              <a:off x="4282282" y="3867382"/>
              <a:ext cx="2329165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dirty="0">
                  <a:solidFill>
                    <a:schemeClr val="bg1"/>
                  </a:solidFill>
                  <a:latin typeface="Verdana" pitchFamily="34" charset="0"/>
                </a:rPr>
                <a:t>I/O Interconnect</a:t>
              </a:r>
            </a:p>
          </p:txBody>
        </p:sp>
        <p:sp>
          <p:nvSpPr>
            <p:cNvPr id="7215" name="Freeform 47"/>
            <p:cNvSpPr>
              <a:spLocks/>
            </p:cNvSpPr>
            <p:nvPr/>
          </p:nvSpPr>
          <p:spPr bwMode="auto">
            <a:xfrm>
              <a:off x="6544469" y="5103410"/>
              <a:ext cx="1411288" cy="520700"/>
            </a:xfrm>
            <a:custGeom>
              <a:avLst/>
              <a:gdLst>
                <a:gd name="T0" fmla="*/ 888 w 889"/>
                <a:gd name="T1" fmla="*/ 6 h 369"/>
                <a:gd name="T2" fmla="*/ 872 w 889"/>
                <a:gd name="T3" fmla="*/ 0 h 369"/>
                <a:gd name="T4" fmla="*/ 856 w 889"/>
                <a:gd name="T5" fmla="*/ 0 h 369"/>
                <a:gd name="T6" fmla="*/ 840 w 889"/>
                <a:gd name="T7" fmla="*/ 0 h 369"/>
                <a:gd name="T8" fmla="*/ 816 w 889"/>
                <a:gd name="T9" fmla="*/ 0 h 369"/>
                <a:gd name="T10" fmla="*/ 800 w 889"/>
                <a:gd name="T11" fmla="*/ 0 h 369"/>
                <a:gd name="T12" fmla="*/ 784 w 889"/>
                <a:gd name="T13" fmla="*/ 0 h 369"/>
                <a:gd name="T14" fmla="*/ 768 w 889"/>
                <a:gd name="T15" fmla="*/ 0 h 369"/>
                <a:gd name="T16" fmla="*/ 752 w 889"/>
                <a:gd name="T17" fmla="*/ 0 h 369"/>
                <a:gd name="T18" fmla="*/ 736 w 889"/>
                <a:gd name="T19" fmla="*/ 0 h 369"/>
                <a:gd name="T20" fmla="*/ 720 w 889"/>
                <a:gd name="T21" fmla="*/ 0 h 369"/>
                <a:gd name="T22" fmla="*/ 704 w 889"/>
                <a:gd name="T23" fmla="*/ 0 h 369"/>
                <a:gd name="T24" fmla="*/ 680 w 889"/>
                <a:gd name="T25" fmla="*/ 6 h 369"/>
                <a:gd name="T26" fmla="*/ 656 w 889"/>
                <a:gd name="T27" fmla="*/ 6 h 369"/>
                <a:gd name="T28" fmla="*/ 632 w 889"/>
                <a:gd name="T29" fmla="*/ 6 h 369"/>
                <a:gd name="T30" fmla="*/ 616 w 889"/>
                <a:gd name="T31" fmla="*/ 12 h 369"/>
                <a:gd name="T32" fmla="*/ 584 w 889"/>
                <a:gd name="T33" fmla="*/ 19 h 369"/>
                <a:gd name="T34" fmla="*/ 568 w 889"/>
                <a:gd name="T35" fmla="*/ 25 h 369"/>
                <a:gd name="T36" fmla="*/ 544 w 889"/>
                <a:gd name="T37" fmla="*/ 32 h 369"/>
                <a:gd name="T38" fmla="*/ 528 w 889"/>
                <a:gd name="T39" fmla="*/ 38 h 369"/>
                <a:gd name="T40" fmla="*/ 512 w 889"/>
                <a:gd name="T41" fmla="*/ 44 h 369"/>
                <a:gd name="T42" fmla="*/ 488 w 889"/>
                <a:gd name="T43" fmla="*/ 51 h 369"/>
                <a:gd name="T44" fmla="*/ 456 w 889"/>
                <a:gd name="T45" fmla="*/ 63 h 369"/>
                <a:gd name="T46" fmla="*/ 440 w 889"/>
                <a:gd name="T47" fmla="*/ 63 h 369"/>
                <a:gd name="T48" fmla="*/ 408 w 889"/>
                <a:gd name="T49" fmla="*/ 82 h 369"/>
                <a:gd name="T50" fmla="*/ 392 w 889"/>
                <a:gd name="T51" fmla="*/ 89 h 369"/>
                <a:gd name="T52" fmla="*/ 376 w 889"/>
                <a:gd name="T53" fmla="*/ 95 h 369"/>
                <a:gd name="T54" fmla="*/ 360 w 889"/>
                <a:gd name="T55" fmla="*/ 101 h 369"/>
                <a:gd name="T56" fmla="*/ 344 w 889"/>
                <a:gd name="T57" fmla="*/ 108 h 369"/>
                <a:gd name="T58" fmla="*/ 328 w 889"/>
                <a:gd name="T59" fmla="*/ 114 h 369"/>
                <a:gd name="T60" fmla="*/ 296 w 889"/>
                <a:gd name="T61" fmla="*/ 126 h 369"/>
                <a:gd name="T62" fmla="*/ 288 w 889"/>
                <a:gd name="T63" fmla="*/ 139 h 369"/>
                <a:gd name="T64" fmla="*/ 272 w 889"/>
                <a:gd name="T65" fmla="*/ 146 h 369"/>
                <a:gd name="T66" fmla="*/ 256 w 889"/>
                <a:gd name="T67" fmla="*/ 158 h 369"/>
                <a:gd name="T68" fmla="*/ 232 w 889"/>
                <a:gd name="T69" fmla="*/ 171 h 369"/>
                <a:gd name="T70" fmla="*/ 216 w 889"/>
                <a:gd name="T71" fmla="*/ 183 h 369"/>
                <a:gd name="T72" fmla="*/ 200 w 889"/>
                <a:gd name="T73" fmla="*/ 196 h 369"/>
                <a:gd name="T74" fmla="*/ 176 w 889"/>
                <a:gd name="T75" fmla="*/ 215 h 369"/>
                <a:gd name="T76" fmla="*/ 160 w 889"/>
                <a:gd name="T77" fmla="*/ 228 h 369"/>
                <a:gd name="T78" fmla="*/ 144 w 889"/>
                <a:gd name="T79" fmla="*/ 240 h 369"/>
                <a:gd name="T80" fmla="*/ 128 w 889"/>
                <a:gd name="T81" fmla="*/ 252 h 369"/>
                <a:gd name="T82" fmla="*/ 112 w 889"/>
                <a:gd name="T83" fmla="*/ 252 h 369"/>
                <a:gd name="T84" fmla="*/ 96 w 889"/>
                <a:gd name="T85" fmla="*/ 260 h 369"/>
                <a:gd name="T86" fmla="*/ 80 w 889"/>
                <a:gd name="T87" fmla="*/ 272 h 369"/>
                <a:gd name="T88" fmla="*/ 64 w 889"/>
                <a:gd name="T89" fmla="*/ 278 h 369"/>
                <a:gd name="T90" fmla="*/ 48 w 889"/>
                <a:gd name="T91" fmla="*/ 278 h 369"/>
                <a:gd name="T92" fmla="*/ 32 w 889"/>
                <a:gd name="T93" fmla="*/ 284 h 369"/>
                <a:gd name="T94" fmla="*/ 16 w 889"/>
                <a:gd name="T95" fmla="*/ 291 h 369"/>
                <a:gd name="T96" fmla="*/ 0 w 889"/>
                <a:gd name="T97" fmla="*/ 291 h 36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89"/>
                <a:gd name="T148" fmla="*/ 0 h 369"/>
                <a:gd name="T149" fmla="*/ 889 w 889"/>
                <a:gd name="T150" fmla="*/ 369 h 36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89" h="369">
                  <a:moveTo>
                    <a:pt x="888" y="8"/>
                  </a:moveTo>
                  <a:lnTo>
                    <a:pt x="872" y="0"/>
                  </a:lnTo>
                  <a:lnTo>
                    <a:pt x="856" y="0"/>
                  </a:lnTo>
                  <a:lnTo>
                    <a:pt x="840" y="0"/>
                  </a:lnTo>
                  <a:lnTo>
                    <a:pt x="816" y="0"/>
                  </a:lnTo>
                  <a:lnTo>
                    <a:pt x="800" y="0"/>
                  </a:lnTo>
                  <a:lnTo>
                    <a:pt x="784" y="0"/>
                  </a:lnTo>
                  <a:lnTo>
                    <a:pt x="768" y="0"/>
                  </a:lnTo>
                  <a:lnTo>
                    <a:pt x="752" y="0"/>
                  </a:lnTo>
                  <a:lnTo>
                    <a:pt x="736" y="0"/>
                  </a:lnTo>
                  <a:lnTo>
                    <a:pt x="720" y="0"/>
                  </a:lnTo>
                  <a:lnTo>
                    <a:pt x="704" y="0"/>
                  </a:lnTo>
                  <a:lnTo>
                    <a:pt x="680" y="8"/>
                  </a:lnTo>
                  <a:lnTo>
                    <a:pt x="656" y="8"/>
                  </a:lnTo>
                  <a:lnTo>
                    <a:pt x="632" y="8"/>
                  </a:lnTo>
                  <a:lnTo>
                    <a:pt x="616" y="16"/>
                  </a:lnTo>
                  <a:lnTo>
                    <a:pt x="584" y="24"/>
                  </a:lnTo>
                  <a:lnTo>
                    <a:pt x="568" y="32"/>
                  </a:lnTo>
                  <a:lnTo>
                    <a:pt x="544" y="40"/>
                  </a:lnTo>
                  <a:lnTo>
                    <a:pt x="528" y="48"/>
                  </a:lnTo>
                  <a:lnTo>
                    <a:pt x="512" y="56"/>
                  </a:lnTo>
                  <a:lnTo>
                    <a:pt x="488" y="64"/>
                  </a:lnTo>
                  <a:lnTo>
                    <a:pt x="456" y="80"/>
                  </a:lnTo>
                  <a:lnTo>
                    <a:pt x="440" y="80"/>
                  </a:lnTo>
                  <a:lnTo>
                    <a:pt x="408" y="104"/>
                  </a:lnTo>
                  <a:lnTo>
                    <a:pt x="392" y="112"/>
                  </a:lnTo>
                  <a:lnTo>
                    <a:pt x="376" y="120"/>
                  </a:lnTo>
                  <a:lnTo>
                    <a:pt x="360" y="128"/>
                  </a:lnTo>
                  <a:lnTo>
                    <a:pt x="344" y="136"/>
                  </a:lnTo>
                  <a:lnTo>
                    <a:pt x="328" y="144"/>
                  </a:lnTo>
                  <a:lnTo>
                    <a:pt x="296" y="160"/>
                  </a:lnTo>
                  <a:lnTo>
                    <a:pt x="288" y="176"/>
                  </a:lnTo>
                  <a:lnTo>
                    <a:pt x="272" y="184"/>
                  </a:lnTo>
                  <a:lnTo>
                    <a:pt x="256" y="200"/>
                  </a:lnTo>
                  <a:lnTo>
                    <a:pt x="232" y="216"/>
                  </a:lnTo>
                  <a:lnTo>
                    <a:pt x="216" y="232"/>
                  </a:lnTo>
                  <a:lnTo>
                    <a:pt x="200" y="248"/>
                  </a:lnTo>
                  <a:lnTo>
                    <a:pt x="176" y="272"/>
                  </a:lnTo>
                  <a:lnTo>
                    <a:pt x="160" y="288"/>
                  </a:lnTo>
                  <a:lnTo>
                    <a:pt x="144" y="304"/>
                  </a:lnTo>
                  <a:lnTo>
                    <a:pt x="128" y="320"/>
                  </a:lnTo>
                  <a:lnTo>
                    <a:pt x="112" y="320"/>
                  </a:lnTo>
                  <a:lnTo>
                    <a:pt x="96" y="328"/>
                  </a:lnTo>
                  <a:lnTo>
                    <a:pt x="80" y="344"/>
                  </a:lnTo>
                  <a:lnTo>
                    <a:pt x="64" y="352"/>
                  </a:lnTo>
                  <a:lnTo>
                    <a:pt x="48" y="352"/>
                  </a:lnTo>
                  <a:lnTo>
                    <a:pt x="32" y="360"/>
                  </a:lnTo>
                  <a:lnTo>
                    <a:pt x="16" y="368"/>
                  </a:lnTo>
                  <a:lnTo>
                    <a:pt x="0" y="368"/>
                  </a:lnTo>
                </a:path>
              </a:pathLst>
            </a:custGeom>
            <a:noFill/>
            <a:ln w="127000" cap="rnd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Rectangle 48"/>
            <p:cNvSpPr>
              <a:spLocks noChangeArrowheads="1"/>
            </p:cNvSpPr>
            <p:nvPr/>
          </p:nvSpPr>
          <p:spPr bwMode="auto">
            <a:xfrm>
              <a:off x="6849269" y="5701384"/>
              <a:ext cx="1374775" cy="3984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latin typeface="Verdana" pitchFamily="34" charset="0"/>
                </a:rPr>
                <a:t>Networks</a:t>
              </a:r>
            </a:p>
          </p:txBody>
        </p:sp>
      </p:grpSp>
      <p:grpSp>
        <p:nvGrpSpPr>
          <p:cNvPr id="7217" name="Group 49"/>
          <p:cNvGrpSpPr>
            <a:grpSpLocks/>
          </p:cNvGrpSpPr>
          <p:nvPr/>
        </p:nvGrpSpPr>
        <p:grpSpPr bwMode="auto">
          <a:xfrm>
            <a:off x="5784056" y="1648496"/>
            <a:ext cx="1549400" cy="1220788"/>
            <a:chOff x="4056" y="900"/>
            <a:chExt cx="976" cy="868"/>
          </a:xfrm>
        </p:grpSpPr>
        <p:sp>
          <p:nvSpPr>
            <p:cNvPr id="7222" name="Rectangle 50"/>
            <p:cNvSpPr>
              <a:spLocks noChangeArrowheads="1"/>
            </p:cNvSpPr>
            <p:nvPr/>
          </p:nvSpPr>
          <p:spPr bwMode="auto">
            <a:xfrm>
              <a:off x="4056" y="900"/>
              <a:ext cx="976" cy="7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Rectangle 51"/>
            <p:cNvSpPr>
              <a:spLocks noChangeArrowheads="1"/>
            </p:cNvSpPr>
            <p:nvPr/>
          </p:nvSpPr>
          <p:spPr bwMode="auto">
            <a:xfrm>
              <a:off x="4113" y="1005"/>
              <a:ext cx="893" cy="50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Processor</a:t>
              </a:r>
            </a:p>
            <a:p>
              <a:pPr eaLnBrk="0" hangingPunct="0"/>
              <a:r>
                <a:rPr lang="en-US" dirty="0"/>
                <a:t>+ cache</a:t>
              </a:r>
              <a:endParaRPr lang="en-US" sz="2000" dirty="0">
                <a:latin typeface="Verdana" pitchFamily="34" charset="0"/>
              </a:endParaRPr>
            </a:p>
          </p:txBody>
        </p:sp>
        <p:sp>
          <p:nvSpPr>
            <p:cNvPr id="7224" name="Line 52"/>
            <p:cNvSpPr>
              <a:spLocks noChangeShapeType="1"/>
            </p:cNvSpPr>
            <p:nvPr/>
          </p:nvSpPr>
          <p:spPr bwMode="auto">
            <a:xfrm>
              <a:off x="4560" y="1632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18" name="Group 53"/>
          <p:cNvGrpSpPr>
            <a:grpSpLocks/>
          </p:cNvGrpSpPr>
          <p:nvPr/>
        </p:nvGrpSpPr>
        <p:grpSpPr bwMode="auto">
          <a:xfrm>
            <a:off x="3244056" y="1946946"/>
            <a:ext cx="660400" cy="44450"/>
            <a:chOff x="2456" y="1112"/>
            <a:chExt cx="416" cy="32"/>
          </a:xfrm>
        </p:grpSpPr>
        <p:sp>
          <p:nvSpPr>
            <p:cNvPr id="7219" name="Oval 54"/>
            <p:cNvSpPr>
              <a:spLocks noChangeArrowheads="1"/>
            </p:cNvSpPr>
            <p:nvPr/>
          </p:nvSpPr>
          <p:spPr bwMode="auto">
            <a:xfrm>
              <a:off x="2456" y="1112"/>
              <a:ext cx="32" cy="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>
                  <a:latin typeface="Verdana" pitchFamily="34" charset="0"/>
                </a:rPr>
                <a:t> </a:t>
              </a:r>
            </a:p>
          </p:txBody>
        </p:sp>
        <p:sp>
          <p:nvSpPr>
            <p:cNvPr id="7220" name="Oval 55"/>
            <p:cNvSpPr>
              <a:spLocks noChangeArrowheads="1"/>
            </p:cNvSpPr>
            <p:nvPr/>
          </p:nvSpPr>
          <p:spPr bwMode="auto">
            <a:xfrm>
              <a:off x="2648" y="1112"/>
              <a:ext cx="32" cy="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>
                  <a:latin typeface="Verdana" pitchFamily="34" charset="0"/>
                </a:rPr>
                <a:t> </a:t>
              </a:r>
            </a:p>
          </p:txBody>
        </p:sp>
        <p:sp>
          <p:nvSpPr>
            <p:cNvPr id="7221" name="Oval 56"/>
            <p:cNvSpPr>
              <a:spLocks noChangeArrowheads="1"/>
            </p:cNvSpPr>
            <p:nvPr/>
          </p:nvSpPr>
          <p:spPr bwMode="auto">
            <a:xfrm>
              <a:off x="2840" y="1112"/>
              <a:ext cx="32" cy="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>
                  <a:latin typeface="Verdana" pitchFamily="34" charset="0"/>
                </a:rPr>
                <a:t> </a:t>
              </a:r>
            </a:p>
          </p:txBody>
        </p:sp>
      </p:grpSp>
      <p:sp>
        <p:nvSpPr>
          <p:cNvPr id="63" name="Line 52"/>
          <p:cNvSpPr>
            <a:spLocks noChangeShapeType="1"/>
          </p:cNvSpPr>
          <p:nvPr/>
        </p:nvSpPr>
        <p:spPr bwMode="auto">
          <a:xfrm>
            <a:off x="6028221" y="3616027"/>
            <a:ext cx="0" cy="1912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55854" y="3733800"/>
            <a:ext cx="105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minions</a:t>
            </a:r>
          </a:p>
        </p:txBody>
      </p:sp>
      <p:sp>
        <p:nvSpPr>
          <p:cNvPr id="6" name="Freeform 5"/>
          <p:cNvSpPr/>
          <p:nvPr/>
        </p:nvSpPr>
        <p:spPr bwMode="auto">
          <a:xfrm>
            <a:off x="8534400" y="4084320"/>
            <a:ext cx="365760" cy="1000074"/>
          </a:xfrm>
          <a:custGeom>
            <a:avLst/>
            <a:gdLst>
              <a:gd name="connsiteX0" fmla="*/ 365760 w 365760"/>
              <a:gd name="connsiteY0" fmla="*/ 0 h 885774"/>
              <a:gd name="connsiteX1" fmla="*/ 266700 w 365760"/>
              <a:gd name="connsiteY1" fmla="*/ 746760 h 885774"/>
              <a:gd name="connsiteX2" fmla="*/ 0 w 365760"/>
              <a:gd name="connsiteY2" fmla="*/ 883920 h 88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885774">
                <a:moveTo>
                  <a:pt x="365760" y="0"/>
                </a:moveTo>
                <a:cubicBezTo>
                  <a:pt x="346710" y="299720"/>
                  <a:pt x="327660" y="599440"/>
                  <a:pt x="266700" y="746760"/>
                </a:cubicBezTo>
                <a:cubicBezTo>
                  <a:pt x="205740" y="894080"/>
                  <a:pt x="102870" y="889000"/>
                  <a:pt x="0" y="88392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8AA59B-B9CA-E576-9B9E-6625D347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0A797D-2F11-A37E-3149-7E6CA6E8C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A659D-DB2D-2DF6-4EE4-8EDA10E9D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88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86670" cy="1143000"/>
          </a:xfrm>
        </p:spPr>
        <p:txBody>
          <a:bodyPr/>
          <a:lstStyle/>
          <a:p>
            <a:r>
              <a:rPr lang="en-US" dirty="0"/>
              <a:t>Multithreaded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7269"/>
            <a:ext cx="7772400" cy="4379891"/>
          </a:xfrm>
        </p:spPr>
        <p:txBody>
          <a:bodyPr/>
          <a:lstStyle/>
          <a:p>
            <a:r>
              <a:rPr lang="en-US" sz="2400" dirty="0"/>
              <a:t>Multiple </a:t>
            </a:r>
            <a:r>
              <a:rPr lang="en-US" sz="2400" i="1" dirty="0"/>
              <a:t>independent sequential threads</a:t>
            </a:r>
            <a:r>
              <a:rPr lang="en-US" sz="2400" dirty="0"/>
              <a:t> which compete for shared resources such as memory and I/O devices  </a:t>
            </a:r>
          </a:p>
          <a:p>
            <a:pPr lvl="1"/>
            <a:r>
              <a:rPr lang="en-US" sz="2000" dirty="0"/>
              <a:t>usually managed by the operating system</a:t>
            </a:r>
          </a:p>
          <a:p>
            <a:pPr lvl="1"/>
            <a:r>
              <a:rPr lang="en-US" sz="2000" dirty="0"/>
              <a:t>OS often runs multiple threads for efficient management of resources even on a single processor</a:t>
            </a:r>
          </a:p>
          <a:p>
            <a:r>
              <a:rPr lang="en-US" sz="2400" dirty="0"/>
              <a:t>Multiple </a:t>
            </a:r>
            <a:r>
              <a:rPr lang="en-US" sz="2400" i="1" dirty="0"/>
              <a:t>cooperating sequential threads</a:t>
            </a:r>
            <a:r>
              <a:rPr lang="en-US" sz="2400" dirty="0"/>
              <a:t>, which communicate via the shared memory system, i.e., shared data structures</a:t>
            </a:r>
          </a:p>
          <a:p>
            <a:pPr lvl="1"/>
            <a:r>
              <a:rPr lang="en-US" sz="2000" dirty="0"/>
              <a:t>an application can often be completed faster by decomposing it into multiple threads and running them on multiprocessors</a:t>
            </a:r>
            <a:endParaRPr lang="en-US" sz="2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D566D-4EBC-3FCA-39BE-5D59CAE1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42A2E-0EFA-A338-F796-9B76BC45FF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F2C3C-9503-6B2A-EF27-24EE45023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6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E920-474D-47CC-260E-4333E020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2E08-82E5-499A-1317-0B18F366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Multi-threaded Programming</a:t>
            </a:r>
          </a:p>
          <a:p>
            <a:pPr lvl="1"/>
            <a:r>
              <a:rPr lang="en-US" dirty="0"/>
              <a:t>Synchronization</a:t>
            </a:r>
          </a:p>
          <a:p>
            <a:pPr lvl="1"/>
            <a:r>
              <a:rPr lang="en-US" dirty="0"/>
              <a:t>Sequential Consistency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2DF2-F704-80E8-3EE3-47C65E1D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A1ADF-48DE-3F3F-FC66-9F989C03A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B39CB-153A-3116-29C9-5F2778DBF5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86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E920-474D-47CC-260E-4333E020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2E08-82E5-499A-1317-0B18F366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Multi-threaded Programming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Synchronization</a:t>
            </a:r>
          </a:p>
          <a:p>
            <a:pPr lvl="1"/>
            <a:r>
              <a:rPr lang="en-US" dirty="0"/>
              <a:t>Sequential Consistency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2DF2-F704-80E8-3EE3-47C65E1D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A1ADF-48DE-3F3F-FC66-9F989C03A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B39CB-153A-3116-29C9-5F2778DBF5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1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Synchronization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2290" y="1504987"/>
            <a:ext cx="6916595" cy="4114800"/>
          </a:xfrm>
        </p:spPr>
        <p:txBody>
          <a:bodyPr/>
          <a:lstStyle/>
          <a:p>
            <a:r>
              <a:rPr lang="en-US" sz="2400" dirty="0">
                <a:latin typeface="Verdana" pitchFamily="34" charset="0"/>
              </a:rPr>
              <a:t>Need for synchronization arises whenever there are parallel processes or threads in a system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262596" y="3746160"/>
            <a:ext cx="1311275" cy="2155825"/>
            <a:chOff x="4457" y="2579"/>
            <a:chExt cx="826" cy="1358"/>
          </a:xfrm>
        </p:grpSpPr>
        <p:sp>
          <p:nvSpPr>
            <p:cNvPr id="8214" name="Rectangle 5"/>
            <p:cNvSpPr>
              <a:spLocks noChangeArrowheads="1"/>
            </p:cNvSpPr>
            <p:nvPr/>
          </p:nvSpPr>
          <p:spPr bwMode="auto">
            <a:xfrm>
              <a:off x="4489" y="2862"/>
              <a:ext cx="761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producer</a:t>
              </a:r>
            </a:p>
          </p:txBody>
        </p:sp>
        <p:sp>
          <p:nvSpPr>
            <p:cNvPr id="8215" name="Rectangle 6"/>
            <p:cNvSpPr>
              <a:spLocks noChangeArrowheads="1"/>
            </p:cNvSpPr>
            <p:nvPr/>
          </p:nvSpPr>
          <p:spPr bwMode="auto">
            <a:xfrm>
              <a:off x="4457" y="3413"/>
              <a:ext cx="826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consumer</a:t>
              </a:r>
            </a:p>
          </p:txBody>
        </p:sp>
        <p:sp>
          <p:nvSpPr>
            <p:cNvPr id="8216" name="Line 7"/>
            <p:cNvSpPr>
              <a:spLocks noChangeShapeType="1"/>
            </p:cNvSpPr>
            <p:nvPr/>
          </p:nvSpPr>
          <p:spPr bwMode="auto">
            <a:xfrm>
              <a:off x="4875" y="3128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Line 8"/>
            <p:cNvSpPr>
              <a:spLocks noChangeShapeType="1"/>
            </p:cNvSpPr>
            <p:nvPr/>
          </p:nvSpPr>
          <p:spPr bwMode="auto">
            <a:xfrm>
              <a:off x="4875" y="2579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9"/>
            <p:cNvSpPr>
              <a:spLocks noChangeShapeType="1"/>
            </p:cNvSpPr>
            <p:nvPr/>
          </p:nvSpPr>
          <p:spPr bwMode="auto">
            <a:xfrm>
              <a:off x="4875" y="3656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7533723" y="1424777"/>
            <a:ext cx="1330325" cy="2562225"/>
            <a:chOff x="4466" y="842"/>
            <a:chExt cx="838" cy="1614"/>
          </a:xfrm>
        </p:grpSpPr>
        <p:sp>
          <p:nvSpPr>
            <p:cNvPr id="8202" name="Oval 11"/>
            <p:cNvSpPr>
              <a:spLocks noChangeArrowheads="1"/>
            </p:cNvSpPr>
            <p:nvPr/>
          </p:nvSpPr>
          <p:spPr bwMode="auto">
            <a:xfrm>
              <a:off x="4624" y="1058"/>
              <a:ext cx="455" cy="26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Rectangle 12"/>
            <p:cNvSpPr>
              <a:spLocks noChangeArrowheads="1"/>
            </p:cNvSpPr>
            <p:nvPr/>
          </p:nvSpPr>
          <p:spPr bwMode="auto">
            <a:xfrm>
              <a:off x="4658" y="1060"/>
              <a:ext cx="398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fork</a:t>
              </a:r>
            </a:p>
          </p:txBody>
        </p:sp>
        <p:sp>
          <p:nvSpPr>
            <p:cNvPr id="8204" name="Oval 13"/>
            <p:cNvSpPr>
              <a:spLocks noChangeArrowheads="1"/>
            </p:cNvSpPr>
            <p:nvPr/>
          </p:nvSpPr>
          <p:spPr bwMode="auto">
            <a:xfrm>
              <a:off x="4646" y="1986"/>
              <a:ext cx="455" cy="26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Rectangle 14"/>
            <p:cNvSpPr>
              <a:spLocks noChangeArrowheads="1"/>
            </p:cNvSpPr>
            <p:nvPr/>
          </p:nvSpPr>
          <p:spPr bwMode="auto">
            <a:xfrm>
              <a:off x="4680" y="1988"/>
              <a:ext cx="382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join</a:t>
              </a:r>
            </a:p>
          </p:txBody>
        </p:sp>
        <p:sp>
          <p:nvSpPr>
            <p:cNvPr id="8206" name="Rectangle 15"/>
            <p:cNvSpPr>
              <a:spLocks noChangeArrowheads="1"/>
            </p:cNvSpPr>
            <p:nvPr/>
          </p:nvSpPr>
          <p:spPr bwMode="auto">
            <a:xfrm>
              <a:off x="4466" y="1534"/>
              <a:ext cx="301" cy="23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P1</a:t>
              </a:r>
            </a:p>
          </p:txBody>
        </p:sp>
        <p:sp>
          <p:nvSpPr>
            <p:cNvPr id="8207" name="Rectangle 16"/>
            <p:cNvSpPr>
              <a:spLocks noChangeArrowheads="1"/>
            </p:cNvSpPr>
            <p:nvPr/>
          </p:nvSpPr>
          <p:spPr bwMode="auto">
            <a:xfrm>
              <a:off x="5003" y="1532"/>
              <a:ext cx="301" cy="23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P2</a:t>
              </a:r>
            </a:p>
          </p:txBody>
        </p:sp>
        <p:sp>
          <p:nvSpPr>
            <p:cNvPr id="8208" name="Line 17"/>
            <p:cNvSpPr>
              <a:spLocks noChangeShapeType="1"/>
            </p:cNvSpPr>
            <p:nvPr/>
          </p:nvSpPr>
          <p:spPr bwMode="auto">
            <a:xfrm>
              <a:off x="4847" y="842"/>
              <a:ext cx="0" cy="2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18"/>
            <p:cNvSpPr>
              <a:spLocks noChangeShapeType="1"/>
            </p:cNvSpPr>
            <p:nvPr/>
          </p:nvSpPr>
          <p:spPr bwMode="auto">
            <a:xfrm flipH="1">
              <a:off x="4575" y="1303"/>
              <a:ext cx="170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9"/>
            <p:cNvSpPr>
              <a:spLocks noChangeShapeType="1"/>
            </p:cNvSpPr>
            <p:nvPr/>
          </p:nvSpPr>
          <p:spPr bwMode="auto">
            <a:xfrm flipH="1">
              <a:off x="4976" y="1778"/>
              <a:ext cx="170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1" name="Line 20"/>
            <p:cNvSpPr>
              <a:spLocks noChangeShapeType="1"/>
            </p:cNvSpPr>
            <p:nvPr/>
          </p:nvSpPr>
          <p:spPr bwMode="auto">
            <a:xfrm>
              <a:off x="4984" y="1317"/>
              <a:ext cx="138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21"/>
            <p:cNvSpPr>
              <a:spLocks noChangeShapeType="1"/>
            </p:cNvSpPr>
            <p:nvPr/>
          </p:nvSpPr>
          <p:spPr bwMode="auto">
            <a:xfrm>
              <a:off x="4610" y="1777"/>
              <a:ext cx="138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22"/>
            <p:cNvSpPr>
              <a:spLocks noChangeShapeType="1"/>
            </p:cNvSpPr>
            <p:nvPr/>
          </p:nvSpPr>
          <p:spPr bwMode="auto">
            <a:xfrm>
              <a:off x="4872" y="2264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" name="Content Placeholder 3"/>
          <p:cNvSpPr txBox="1">
            <a:spLocks/>
          </p:cNvSpPr>
          <p:nvPr/>
        </p:nvSpPr>
        <p:spPr bwMode="auto">
          <a:xfrm>
            <a:off x="600961" y="2644222"/>
            <a:ext cx="6225290" cy="3848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sz="2000" i="1" kern="0" dirty="0">
                <a:latin typeface="Verdana" pitchFamily="34" charset="0"/>
              </a:rPr>
              <a:t>Forks and Joins: A</a:t>
            </a:r>
            <a:r>
              <a:rPr lang="en-US" sz="2000" kern="0" dirty="0">
                <a:latin typeface="Verdana" pitchFamily="34" charset="0"/>
              </a:rPr>
              <a:t> parallel process/thread may want to wait until several events have occurred</a:t>
            </a:r>
          </a:p>
          <a:p>
            <a:pPr lvl="1"/>
            <a:endParaRPr lang="en-US" sz="2000" kern="0" dirty="0">
              <a:latin typeface="Verdana" pitchFamily="34" charset="0"/>
            </a:endParaRPr>
          </a:p>
          <a:p>
            <a:pPr lvl="1"/>
            <a:r>
              <a:rPr lang="en-US" sz="2000" i="1" kern="0" dirty="0">
                <a:latin typeface="Verdana" pitchFamily="34" charset="0"/>
              </a:rPr>
              <a:t>Producer-Consumer: </a:t>
            </a:r>
            <a:r>
              <a:rPr lang="en-US" sz="2000" kern="0" dirty="0">
                <a:latin typeface="Verdana" pitchFamily="34" charset="0"/>
              </a:rPr>
              <a:t>A consumer process/thread must wait until the producer process has produced data</a:t>
            </a:r>
          </a:p>
          <a:p>
            <a:pPr lvl="1"/>
            <a:endParaRPr lang="en-US" sz="2000" kern="0" dirty="0">
              <a:latin typeface="Verdana" pitchFamily="34" charset="0"/>
            </a:endParaRPr>
          </a:p>
          <a:p>
            <a:pPr lvl="1"/>
            <a:r>
              <a:rPr lang="en-US" sz="2000" i="1" kern="0" dirty="0">
                <a:latin typeface="Verdana" pitchFamily="34" charset="0"/>
              </a:rPr>
              <a:t>Mutual Exclusion: </a:t>
            </a:r>
            <a:r>
              <a:rPr lang="en-US" sz="2000" kern="0" dirty="0">
                <a:latin typeface="Verdana" pitchFamily="34" charset="0"/>
              </a:rPr>
              <a:t>Operating system has to ensure that a resource is used by only one process/thread at a given time</a:t>
            </a:r>
          </a:p>
          <a:p>
            <a:endParaRPr lang="en-US" sz="2400" kern="0" dirty="0">
              <a:latin typeface="Verdana" pitchFamily="34" charset="0"/>
            </a:endParaRPr>
          </a:p>
          <a:p>
            <a:endParaRPr lang="en-US" sz="2400" kern="0" dirty="0">
              <a:latin typeface="Verdana" pitchFamily="34" charset="0"/>
            </a:endParaRPr>
          </a:p>
          <a:p>
            <a:endParaRPr lang="en-US" sz="2400" kern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6B3D467-380B-6217-6250-634C956C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A7C8DE-B1DA-B945-55BE-21CAEFD91B2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AAFE0-3B6D-2B57-55FB-DC5B6D7EAA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3795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Thread-safe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5073"/>
            <a:ext cx="7772400" cy="3574961"/>
          </a:xfrm>
        </p:spPr>
        <p:txBody>
          <a:bodyPr/>
          <a:lstStyle/>
          <a:p>
            <a:r>
              <a:rPr lang="en-US" sz="2400" dirty="0"/>
              <a:t>Multithreaded programs can be executed on a uniprocessor by </a:t>
            </a:r>
            <a:r>
              <a:rPr lang="en-US" sz="2400" i="1" dirty="0"/>
              <a:t>timesharing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Each thread is executed for a while (timer interrupt) and then the OS switches to another thread, repeatedly </a:t>
            </a:r>
          </a:p>
          <a:p>
            <a:r>
              <a:rPr lang="en-US" sz="2400" i="1" dirty="0"/>
              <a:t>Thread-safe</a:t>
            </a:r>
            <a:r>
              <a:rPr lang="en-US" sz="2400" dirty="0"/>
              <a:t> multithreaded programs behave the same way regardless of whether they are executed on multiprocessors or a single processor</a:t>
            </a:r>
          </a:p>
          <a:p>
            <a:pPr marL="457200" lvl="1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0205" y="5100034"/>
            <a:ext cx="5831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In the rest of lecture we will assume that each thread has its own processor to run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B91E4-C388-9916-15C4-651401DC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47B0-39AF-3E48-B2FD-6CAFA873CA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9B1199-026A-BE96-BA75-E9046E227F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49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Example: </a:t>
            </a:r>
            <a:r>
              <a:rPr lang="en-US" dirty="0"/>
              <a:t>Producer-Consumer communicate via a FIFO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39827" y="3642321"/>
            <a:ext cx="3379787" cy="1616075"/>
            <a:chOff x="245" y="2214"/>
            <a:chExt cx="2129" cy="1018"/>
          </a:xfrm>
        </p:grpSpPr>
        <p:sp>
          <p:nvSpPr>
            <p:cNvPr id="9253" name="Rectangle 5"/>
            <p:cNvSpPr>
              <a:spLocks noChangeArrowheads="1"/>
            </p:cNvSpPr>
            <p:nvPr/>
          </p:nvSpPr>
          <p:spPr bwMode="auto">
            <a:xfrm>
              <a:off x="809" y="3027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4" name="Rectangle 6"/>
            <p:cNvSpPr>
              <a:spLocks noChangeArrowheads="1"/>
            </p:cNvSpPr>
            <p:nvPr/>
          </p:nvSpPr>
          <p:spPr bwMode="auto">
            <a:xfrm>
              <a:off x="802" y="2645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5" name="Text Box 7"/>
            <p:cNvSpPr txBox="1">
              <a:spLocks noChangeArrowheads="1"/>
            </p:cNvSpPr>
            <p:nvPr/>
          </p:nvSpPr>
          <p:spPr bwMode="auto">
            <a:xfrm>
              <a:off x="245" y="2214"/>
              <a:ext cx="2129" cy="10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Producer posting Item x: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, tail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(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), x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=R</a:t>
              </a:r>
              <a:r>
                <a:rPr lang="en-US" sz="2000" baseline="-25000" dirty="0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+1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tail,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endParaRPr lang="en-US" sz="2000" dirty="0">
                <a:latin typeface="Verdana" pitchFamily="34" charset="0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97439" y="3644985"/>
            <a:ext cx="4065588" cy="2554288"/>
            <a:chOff x="3269" y="2070"/>
            <a:chExt cx="2561" cy="1609"/>
          </a:xfrm>
        </p:grpSpPr>
        <p:sp>
          <p:nvSpPr>
            <p:cNvPr id="9250" name="Rectangle 9"/>
            <p:cNvSpPr>
              <a:spLocks noChangeArrowheads="1"/>
            </p:cNvSpPr>
            <p:nvPr/>
          </p:nvSpPr>
          <p:spPr bwMode="auto">
            <a:xfrm>
              <a:off x="3849" y="2875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1" name="Rectangle 10"/>
            <p:cNvSpPr>
              <a:spLocks noChangeArrowheads="1"/>
            </p:cNvSpPr>
            <p:nvPr/>
          </p:nvSpPr>
          <p:spPr bwMode="auto">
            <a:xfrm>
              <a:off x="3842" y="2493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2" name="Text Box 11"/>
            <p:cNvSpPr txBox="1">
              <a:spLocks noChangeArrowheads="1"/>
            </p:cNvSpPr>
            <p:nvPr/>
          </p:nvSpPr>
          <p:spPr bwMode="auto">
            <a:xfrm>
              <a:off x="3269" y="2070"/>
              <a:ext cx="2561" cy="160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Consumer: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, head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spin: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, tail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if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==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baseline="-25000" dirty="0">
                  <a:latin typeface="Verdana" pitchFamily="34" charset="0"/>
                </a:rPr>
                <a:t> </a:t>
              </a:r>
              <a:r>
                <a:rPr lang="en-US" sz="2000" dirty="0" err="1">
                  <a:latin typeface="Verdana" pitchFamily="34" charset="0"/>
                </a:rPr>
                <a:t>goto</a:t>
              </a:r>
              <a:r>
                <a:rPr lang="en-US" sz="2000" dirty="0">
                  <a:latin typeface="Verdana" pitchFamily="34" charset="0"/>
                </a:rPr>
                <a:t> spin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R, (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)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=R</a:t>
              </a:r>
              <a:r>
                <a:rPr lang="en-US" sz="2000" baseline="-25000" dirty="0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+1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head,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endParaRPr lang="en-US" sz="2000" dirty="0">
                <a:latin typeface="Verdana" pitchFamily="34" charset="0"/>
              </a:endParaRP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process(R)</a:t>
              </a:r>
            </a:p>
          </p:txBody>
        </p:sp>
      </p:grpSp>
      <p:sp>
        <p:nvSpPr>
          <p:cNvPr id="9229" name="Oval 15"/>
          <p:cNvSpPr>
            <a:spLocks noChangeArrowheads="1"/>
          </p:cNvSpPr>
          <p:nvPr/>
        </p:nvSpPr>
        <p:spPr bwMode="auto">
          <a:xfrm>
            <a:off x="1781309" y="1604765"/>
            <a:ext cx="1168400" cy="96678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Verdana" pitchFamily="34" charset="0"/>
              </a:rPr>
              <a:t>Producer</a:t>
            </a:r>
          </a:p>
        </p:txBody>
      </p:sp>
      <p:sp>
        <p:nvSpPr>
          <p:cNvPr id="9230" name="Oval 16"/>
          <p:cNvSpPr>
            <a:spLocks noChangeArrowheads="1"/>
          </p:cNvSpPr>
          <p:nvPr/>
        </p:nvSpPr>
        <p:spPr bwMode="auto">
          <a:xfrm>
            <a:off x="6148499" y="1604765"/>
            <a:ext cx="1209675" cy="9985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Verdana" pitchFamily="34" charset="0"/>
              </a:rPr>
              <a:t>Consumer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368004" y="1618259"/>
            <a:ext cx="2362200" cy="1993900"/>
            <a:chOff x="3368004" y="1618259"/>
            <a:chExt cx="2362200" cy="1993900"/>
          </a:xfrm>
        </p:grpSpPr>
        <p:sp>
          <p:nvSpPr>
            <p:cNvPr id="9227" name="Rectangle 13"/>
            <p:cNvSpPr>
              <a:spLocks noChangeArrowheads="1"/>
            </p:cNvSpPr>
            <p:nvPr/>
          </p:nvSpPr>
          <p:spPr bwMode="auto">
            <a:xfrm>
              <a:off x="3368004" y="1618259"/>
              <a:ext cx="2362200" cy="199390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 w="31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Rectangle 14" descr="75%"/>
            <p:cNvSpPr>
              <a:spLocks noChangeArrowheads="1"/>
            </p:cNvSpPr>
            <p:nvPr/>
          </p:nvSpPr>
          <p:spPr bwMode="auto">
            <a:xfrm>
              <a:off x="4282404" y="2621559"/>
              <a:ext cx="762000" cy="838200"/>
            </a:xfrm>
            <a:prstGeom prst="rect">
              <a:avLst/>
            </a:prstGeom>
            <a:pattFill prst="pct75">
              <a:fgClr>
                <a:srgbClr val="FF0000"/>
              </a:fgClr>
              <a:bgClr>
                <a:srgbClr val="FFFFFF"/>
              </a:bgClr>
            </a:patt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1" name="Line 17"/>
            <p:cNvSpPr>
              <a:spLocks noChangeShapeType="1"/>
            </p:cNvSpPr>
            <p:nvPr/>
          </p:nvSpPr>
          <p:spPr bwMode="auto">
            <a:xfrm>
              <a:off x="3749004" y="2621559"/>
              <a:ext cx="1676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Line 18"/>
            <p:cNvSpPr>
              <a:spLocks noChangeShapeType="1"/>
            </p:cNvSpPr>
            <p:nvPr/>
          </p:nvSpPr>
          <p:spPr bwMode="auto">
            <a:xfrm>
              <a:off x="3749004" y="3459759"/>
              <a:ext cx="1676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Line 19"/>
            <p:cNvSpPr>
              <a:spLocks noChangeShapeType="1"/>
            </p:cNvSpPr>
            <p:nvPr/>
          </p:nvSpPr>
          <p:spPr bwMode="auto">
            <a:xfrm>
              <a:off x="42824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4" name="Line 20"/>
            <p:cNvSpPr>
              <a:spLocks noChangeShapeType="1"/>
            </p:cNvSpPr>
            <p:nvPr/>
          </p:nvSpPr>
          <p:spPr bwMode="auto">
            <a:xfrm>
              <a:off x="44348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5" name="Line 21"/>
            <p:cNvSpPr>
              <a:spLocks noChangeShapeType="1"/>
            </p:cNvSpPr>
            <p:nvPr/>
          </p:nvSpPr>
          <p:spPr bwMode="auto">
            <a:xfrm>
              <a:off x="45872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Line 22"/>
            <p:cNvSpPr>
              <a:spLocks noChangeShapeType="1"/>
            </p:cNvSpPr>
            <p:nvPr/>
          </p:nvSpPr>
          <p:spPr bwMode="auto">
            <a:xfrm>
              <a:off x="47396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Line 23"/>
            <p:cNvSpPr>
              <a:spLocks noChangeShapeType="1"/>
            </p:cNvSpPr>
            <p:nvPr/>
          </p:nvSpPr>
          <p:spPr bwMode="auto">
            <a:xfrm>
              <a:off x="48920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Line 24"/>
            <p:cNvSpPr>
              <a:spLocks noChangeShapeType="1"/>
            </p:cNvSpPr>
            <p:nvPr/>
          </p:nvSpPr>
          <p:spPr bwMode="auto">
            <a:xfrm>
              <a:off x="50444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Rectangle 25"/>
            <p:cNvSpPr>
              <a:spLocks noChangeArrowheads="1"/>
            </p:cNvSpPr>
            <p:nvPr/>
          </p:nvSpPr>
          <p:spPr bwMode="auto">
            <a:xfrm>
              <a:off x="3596604" y="1707159"/>
              <a:ext cx="609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Verdana" pitchFamily="34" charset="0"/>
                </a:rPr>
                <a:t>tail</a:t>
              </a:r>
            </a:p>
          </p:txBody>
        </p:sp>
        <p:sp>
          <p:nvSpPr>
            <p:cNvPr id="9240" name="Line 26"/>
            <p:cNvSpPr>
              <a:spLocks noChangeShapeType="1"/>
            </p:cNvSpPr>
            <p:nvPr/>
          </p:nvSpPr>
          <p:spPr bwMode="auto">
            <a:xfrm>
              <a:off x="3901404" y="2088159"/>
              <a:ext cx="3048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Rectangle 27"/>
            <p:cNvSpPr>
              <a:spLocks noChangeArrowheads="1"/>
            </p:cNvSpPr>
            <p:nvPr/>
          </p:nvSpPr>
          <p:spPr bwMode="auto">
            <a:xfrm>
              <a:off x="4930104" y="1707159"/>
              <a:ext cx="6985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Verdana" pitchFamily="34" charset="0"/>
                </a:rPr>
                <a:t>head</a:t>
              </a:r>
            </a:p>
          </p:txBody>
        </p:sp>
        <p:sp>
          <p:nvSpPr>
            <p:cNvPr id="9242" name="Line 28"/>
            <p:cNvSpPr>
              <a:spLocks noChangeShapeType="1"/>
            </p:cNvSpPr>
            <p:nvPr/>
          </p:nvSpPr>
          <p:spPr bwMode="auto">
            <a:xfrm>
              <a:off x="41300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Line 29"/>
            <p:cNvSpPr>
              <a:spLocks noChangeShapeType="1"/>
            </p:cNvSpPr>
            <p:nvPr/>
          </p:nvSpPr>
          <p:spPr bwMode="auto">
            <a:xfrm flipH="1">
              <a:off x="4968204" y="2088159"/>
              <a:ext cx="3048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986879" y="2673947"/>
            <a:ext cx="6380163" cy="427038"/>
            <a:chOff x="1986879" y="2673947"/>
            <a:chExt cx="6380163" cy="427038"/>
          </a:xfrm>
        </p:grpSpPr>
        <p:sp>
          <p:nvSpPr>
            <p:cNvPr id="9244" name="Rectangle 30"/>
            <p:cNvSpPr>
              <a:spLocks noChangeArrowheads="1"/>
            </p:cNvSpPr>
            <p:nvPr/>
          </p:nvSpPr>
          <p:spPr bwMode="auto">
            <a:xfrm>
              <a:off x="1986879" y="2705697"/>
              <a:ext cx="804863" cy="39528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  R</a:t>
              </a:r>
              <a:r>
                <a:rPr lang="en-US" sz="1800" baseline="-25000">
                  <a:latin typeface="Verdana" pitchFamily="34" charset="0"/>
                </a:rPr>
                <a:t>tail</a:t>
              </a:r>
            </a:p>
          </p:txBody>
        </p:sp>
        <p:sp>
          <p:nvSpPr>
            <p:cNvPr id="9245" name="Rectangle 31"/>
            <p:cNvSpPr>
              <a:spLocks noChangeArrowheads="1"/>
            </p:cNvSpPr>
            <p:nvPr/>
          </p:nvSpPr>
          <p:spPr bwMode="auto">
            <a:xfrm>
              <a:off x="5892129" y="2673947"/>
              <a:ext cx="792163" cy="39528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Rectangle 32"/>
            <p:cNvSpPr>
              <a:spLocks noChangeArrowheads="1"/>
            </p:cNvSpPr>
            <p:nvPr/>
          </p:nvSpPr>
          <p:spPr bwMode="auto">
            <a:xfrm>
              <a:off x="7574879" y="2673947"/>
              <a:ext cx="792163" cy="38735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Rectangle 33"/>
            <p:cNvSpPr>
              <a:spLocks noChangeArrowheads="1"/>
            </p:cNvSpPr>
            <p:nvPr/>
          </p:nvSpPr>
          <p:spPr bwMode="auto">
            <a:xfrm>
              <a:off x="6060404" y="2681884"/>
              <a:ext cx="577850" cy="3698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R</a:t>
              </a:r>
              <a:r>
                <a:rPr lang="en-US" sz="1800" baseline="-25000">
                  <a:latin typeface="Verdana" pitchFamily="34" charset="0"/>
                </a:rPr>
                <a:t>tail</a:t>
              </a:r>
            </a:p>
          </p:txBody>
        </p:sp>
        <p:sp>
          <p:nvSpPr>
            <p:cNvPr id="9248" name="Rectangle 34"/>
            <p:cNvSpPr>
              <a:spLocks noChangeArrowheads="1"/>
            </p:cNvSpPr>
            <p:nvPr/>
          </p:nvSpPr>
          <p:spPr bwMode="auto">
            <a:xfrm>
              <a:off x="6719217" y="2673947"/>
              <a:ext cx="806450" cy="39528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R</a:t>
              </a:r>
              <a:r>
                <a:rPr lang="en-US" sz="1800" baseline="-25000">
                  <a:latin typeface="Verdana" pitchFamily="34" charset="0"/>
                </a:rPr>
                <a:t>head</a:t>
              </a:r>
            </a:p>
          </p:txBody>
        </p:sp>
        <p:sp>
          <p:nvSpPr>
            <p:cNvPr id="9249" name="Rectangle 35"/>
            <p:cNvSpPr>
              <a:spLocks noChangeArrowheads="1"/>
            </p:cNvSpPr>
            <p:nvPr/>
          </p:nvSpPr>
          <p:spPr bwMode="auto">
            <a:xfrm>
              <a:off x="7714579" y="2681884"/>
              <a:ext cx="342900" cy="3698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R</a:t>
              </a:r>
              <a:endParaRPr lang="en-US" sz="1800" baseline="-25000">
                <a:latin typeface="Verdana" pitchFamily="34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862413" y="3116682"/>
            <a:ext cx="3281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Assume unbounded FIFO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5112755" y="3000036"/>
            <a:ext cx="846049" cy="205793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1386840" y="5189220"/>
            <a:ext cx="1354858" cy="514410"/>
            <a:chOff x="1386840" y="5189220"/>
            <a:chExt cx="1354858" cy="514410"/>
          </a:xfrm>
        </p:grpSpPr>
        <p:sp>
          <p:nvSpPr>
            <p:cNvPr id="7" name="TextBox 6"/>
            <p:cNvSpPr txBox="1"/>
            <p:nvPr/>
          </p:nvSpPr>
          <p:spPr>
            <a:xfrm>
              <a:off x="1386840" y="5303520"/>
              <a:ext cx="13548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mic Sans MS" panose="030F0702030302020204" pitchFamily="66" charset="0"/>
                </a:rPr>
                <a:t>dest</a:t>
              </a:r>
              <a:r>
                <a:rPr lang="en-US" dirty="0">
                  <a:latin typeface="Comic Sans MS" panose="030F0702030302020204" pitchFamily="66" charset="0"/>
                </a:rPr>
                <a:t> </a:t>
              </a:r>
              <a:r>
                <a:rPr lang="en-US" dirty="0" err="1">
                  <a:latin typeface="Comic Sans MS" panose="030F0702030302020204" pitchFamily="66" charset="0"/>
                </a:rPr>
                <a:t>addr</a:t>
              </a:r>
              <a:endParaRPr 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 bwMode="auto">
            <a:xfrm flipH="1">
              <a:off x="2034540" y="5189220"/>
              <a:ext cx="601981" cy="23622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/>
          <p:cNvGrpSpPr/>
          <p:nvPr/>
        </p:nvGrpSpPr>
        <p:grpSpPr>
          <a:xfrm>
            <a:off x="3451860" y="4183380"/>
            <a:ext cx="1472084" cy="445830"/>
            <a:chOff x="3459480" y="4221480"/>
            <a:chExt cx="1472084" cy="445830"/>
          </a:xfrm>
        </p:grpSpPr>
        <p:sp>
          <p:nvSpPr>
            <p:cNvPr id="47" name="TextBox 46"/>
            <p:cNvSpPr txBox="1"/>
            <p:nvPr/>
          </p:nvSpPr>
          <p:spPr>
            <a:xfrm>
              <a:off x="3733800" y="4267200"/>
              <a:ext cx="1197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mic Sans MS" panose="030F0702030302020204" pitchFamily="66" charset="0"/>
                </a:rPr>
                <a:t>src</a:t>
              </a:r>
              <a:r>
                <a:rPr lang="en-US" dirty="0">
                  <a:latin typeface="Comic Sans MS" panose="030F0702030302020204" pitchFamily="66" charset="0"/>
                </a:rPr>
                <a:t> </a:t>
              </a:r>
              <a:r>
                <a:rPr lang="en-US" dirty="0" err="1">
                  <a:latin typeface="Comic Sans MS" panose="030F0702030302020204" pitchFamily="66" charset="0"/>
                </a:rPr>
                <a:t>addr</a:t>
              </a:r>
              <a:endParaRPr 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3459480" y="4221480"/>
              <a:ext cx="350520" cy="17526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" name="Group 20"/>
          <p:cNvGrpSpPr/>
          <p:nvPr/>
        </p:nvGrpSpPr>
        <p:grpSpPr>
          <a:xfrm>
            <a:off x="144780" y="4488180"/>
            <a:ext cx="2392680" cy="707886"/>
            <a:chOff x="144780" y="4488180"/>
            <a:chExt cx="2392680" cy="707886"/>
          </a:xfrm>
        </p:grpSpPr>
        <p:sp>
          <p:nvSpPr>
            <p:cNvPr id="50" name="TextBox 49"/>
            <p:cNvSpPr txBox="1"/>
            <p:nvPr/>
          </p:nvSpPr>
          <p:spPr>
            <a:xfrm>
              <a:off x="144780" y="4488180"/>
              <a:ext cx="13548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mic Sans MS" panose="030F0702030302020204" pitchFamily="66" charset="0"/>
                </a:rPr>
                <a:t>dest</a:t>
              </a:r>
              <a:r>
                <a:rPr lang="en-US" dirty="0">
                  <a:latin typeface="Comic Sans MS" panose="030F0702030302020204" pitchFamily="66" charset="0"/>
                </a:rPr>
                <a:t> </a:t>
              </a:r>
              <a:r>
                <a:rPr lang="en-US" dirty="0" err="1">
                  <a:latin typeface="Comic Sans MS" panose="030F0702030302020204" pitchFamily="66" charset="0"/>
                </a:rPr>
                <a:t>addr</a:t>
              </a:r>
              <a:endParaRPr lang="en-US" dirty="0">
                <a:latin typeface="Comic Sans MS" panose="030F0702030302020204" pitchFamily="66" charset="0"/>
              </a:endParaRPr>
            </a:p>
            <a:p>
              <a:r>
                <a:rPr lang="en-US" dirty="0">
                  <a:latin typeface="Comic Sans MS" panose="030F0702030302020204" pitchFamily="66" charset="0"/>
                </a:rPr>
                <a:t>in a </a:t>
              </a:r>
              <a:r>
                <a:rPr lang="en-US" dirty="0" err="1">
                  <a:latin typeface="Comic Sans MS" panose="030F0702030302020204" pitchFamily="66" charset="0"/>
                </a:rPr>
                <a:t>reg</a:t>
              </a:r>
              <a:endParaRPr 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 flipH="1">
              <a:off x="1501140" y="4556760"/>
              <a:ext cx="1036320" cy="21336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6522AB2-BA82-CB00-3475-7B9F9419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8DC958B-F487-4E05-18B2-BF15A51ED6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46935-8C31-A978-0539-1B0EBC454A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Multithreaded programming is subtle</a:t>
            </a:r>
            <a:endParaRPr lang="en-US" sz="2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39827" y="3642321"/>
            <a:ext cx="3379787" cy="1616075"/>
            <a:chOff x="245" y="2214"/>
            <a:chExt cx="2129" cy="1018"/>
          </a:xfrm>
        </p:grpSpPr>
        <p:sp>
          <p:nvSpPr>
            <p:cNvPr id="9253" name="Rectangle 5"/>
            <p:cNvSpPr>
              <a:spLocks noChangeArrowheads="1"/>
            </p:cNvSpPr>
            <p:nvPr/>
          </p:nvSpPr>
          <p:spPr bwMode="auto">
            <a:xfrm>
              <a:off x="809" y="3027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4" name="Rectangle 6"/>
            <p:cNvSpPr>
              <a:spLocks noChangeArrowheads="1"/>
            </p:cNvSpPr>
            <p:nvPr/>
          </p:nvSpPr>
          <p:spPr bwMode="auto">
            <a:xfrm>
              <a:off x="802" y="2645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5" name="Text Box 7"/>
            <p:cNvSpPr txBox="1">
              <a:spLocks noChangeArrowheads="1"/>
            </p:cNvSpPr>
            <p:nvPr/>
          </p:nvSpPr>
          <p:spPr bwMode="auto">
            <a:xfrm>
              <a:off x="245" y="2214"/>
              <a:ext cx="2129" cy="10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Producer posting Item x: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, tail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(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), x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</a:t>
              </a:r>
              <a:r>
                <a:rPr lang="en-US" sz="2000" dirty="0" err="1">
                  <a:solidFill>
                    <a:srgbClr val="FF0000"/>
                  </a:solidFill>
                  <a:latin typeface="Verdana" pitchFamily="34" charset="0"/>
                </a:rPr>
                <a:t>R</a:t>
              </a:r>
              <a:r>
                <a:rPr lang="en-US" sz="2000" baseline="-25000" dirty="0" err="1">
                  <a:solidFill>
                    <a:srgbClr val="FF0000"/>
                  </a:solidFill>
                  <a:latin typeface="Verdana" pitchFamily="34" charset="0"/>
                </a:rPr>
                <a:t>tail</a:t>
              </a:r>
              <a:r>
                <a:rPr lang="en-US" baseline="-25000" dirty="0">
                  <a:solidFill>
                    <a:srgbClr val="FF0000"/>
                  </a:solidFill>
                </a:rPr>
                <a:t>’</a:t>
              </a:r>
              <a:r>
                <a:rPr lang="en-US" sz="2000" dirty="0">
                  <a:latin typeface="Verdana" pitchFamily="34" charset="0"/>
                </a:rPr>
                <a:t>=R</a:t>
              </a:r>
              <a:r>
                <a:rPr lang="en-US" sz="2000" baseline="-25000" dirty="0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+1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tail, </a:t>
              </a:r>
              <a:r>
                <a:rPr lang="en-US" sz="2000" dirty="0" err="1">
                  <a:solidFill>
                    <a:srgbClr val="FF0000"/>
                  </a:solidFill>
                  <a:latin typeface="Verdana" pitchFamily="34" charset="0"/>
                </a:rPr>
                <a:t>R</a:t>
              </a:r>
              <a:r>
                <a:rPr lang="en-US" sz="2000" baseline="-25000" dirty="0" err="1">
                  <a:solidFill>
                    <a:srgbClr val="FF0000"/>
                  </a:solidFill>
                  <a:latin typeface="Verdana" pitchFamily="34" charset="0"/>
                </a:rPr>
                <a:t>tail</a:t>
              </a:r>
              <a:r>
                <a:rPr lang="en-US" sz="2000" baseline="-25000" dirty="0">
                  <a:solidFill>
                    <a:srgbClr val="FF0000"/>
                  </a:solidFill>
                  <a:latin typeface="Verdana" pitchFamily="34" charset="0"/>
                </a:rPr>
                <a:t>’</a:t>
              </a:r>
              <a:endParaRPr lang="en-US" sz="2000" dirty="0">
                <a:solidFill>
                  <a:srgbClr val="FF0000"/>
                </a:solidFill>
                <a:latin typeface="Verdana" pitchFamily="34" charset="0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97439" y="3644985"/>
            <a:ext cx="4065588" cy="2554288"/>
            <a:chOff x="3269" y="2070"/>
            <a:chExt cx="2561" cy="1609"/>
          </a:xfrm>
        </p:grpSpPr>
        <p:sp>
          <p:nvSpPr>
            <p:cNvPr id="9250" name="Rectangle 9"/>
            <p:cNvSpPr>
              <a:spLocks noChangeArrowheads="1"/>
            </p:cNvSpPr>
            <p:nvPr/>
          </p:nvSpPr>
          <p:spPr bwMode="auto">
            <a:xfrm>
              <a:off x="3849" y="2875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1" name="Rectangle 10"/>
            <p:cNvSpPr>
              <a:spLocks noChangeArrowheads="1"/>
            </p:cNvSpPr>
            <p:nvPr/>
          </p:nvSpPr>
          <p:spPr bwMode="auto">
            <a:xfrm>
              <a:off x="3842" y="2493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9252" name="Text Box 11"/>
            <p:cNvSpPr txBox="1">
              <a:spLocks noChangeArrowheads="1"/>
            </p:cNvSpPr>
            <p:nvPr/>
          </p:nvSpPr>
          <p:spPr bwMode="auto">
            <a:xfrm>
              <a:off x="3269" y="2070"/>
              <a:ext cx="2561" cy="160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Consumer: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, head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spin: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, tail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if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==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baseline="-25000" dirty="0">
                  <a:latin typeface="Verdana" pitchFamily="34" charset="0"/>
                </a:rPr>
                <a:t> </a:t>
              </a:r>
              <a:r>
                <a:rPr lang="en-US" sz="2000" dirty="0" err="1">
                  <a:latin typeface="Verdana" pitchFamily="34" charset="0"/>
                </a:rPr>
                <a:t>goto</a:t>
              </a:r>
              <a:r>
                <a:rPr lang="en-US" sz="2000" dirty="0">
                  <a:latin typeface="Verdana" pitchFamily="34" charset="0"/>
                </a:rPr>
                <a:t> spin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R, (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)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=R</a:t>
              </a:r>
              <a:r>
                <a:rPr lang="en-US" sz="2000" baseline="-25000" dirty="0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+1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head,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endParaRPr lang="en-US" sz="2000" dirty="0">
                <a:latin typeface="Verdana" pitchFamily="34" charset="0"/>
              </a:endParaRP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process(R)</a:t>
              </a:r>
            </a:p>
          </p:txBody>
        </p:sp>
      </p:grpSp>
      <p:sp>
        <p:nvSpPr>
          <p:cNvPr id="9229" name="Oval 15"/>
          <p:cNvSpPr>
            <a:spLocks noChangeArrowheads="1"/>
          </p:cNvSpPr>
          <p:nvPr/>
        </p:nvSpPr>
        <p:spPr bwMode="auto">
          <a:xfrm>
            <a:off x="1781309" y="1604765"/>
            <a:ext cx="1168400" cy="96678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Verdana" pitchFamily="34" charset="0"/>
              </a:rPr>
              <a:t>Producer</a:t>
            </a:r>
          </a:p>
        </p:txBody>
      </p:sp>
      <p:sp>
        <p:nvSpPr>
          <p:cNvPr id="9230" name="Oval 16"/>
          <p:cNvSpPr>
            <a:spLocks noChangeArrowheads="1"/>
          </p:cNvSpPr>
          <p:nvPr/>
        </p:nvSpPr>
        <p:spPr bwMode="auto">
          <a:xfrm>
            <a:off x="6148499" y="1604765"/>
            <a:ext cx="1209675" cy="9985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Verdana" pitchFamily="34" charset="0"/>
              </a:rPr>
              <a:t>Consumer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368004" y="1618259"/>
            <a:ext cx="2362200" cy="1993900"/>
            <a:chOff x="3368004" y="1618259"/>
            <a:chExt cx="2362200" cy="1993900"/>
          </a:xfrm>
        </p:grpSpPr>
        <p:sp>
          <p:nvSpPr>
            <p:cNvPr id="9227" name="Rectangle 13"/>
            <p:cNvSpPr>
              <a:spLocks noChangeArrowheads="1"/>
            </p:cNvSpPr>
            <p:nvPr/>
          </p:nvSpPr>
          <p:spPr bwMode="auto">
            <a:xfrm>
              <a:off x="3368004" y="1618259"/>
              <a:ext cx="2362200" cy="199390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 w="31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Rectangle 14" descr="75%"/>
            <p:cNvSpPr>
              <a:spLocks noChangeArrowheads="1"/>
            </p:cNvSpPr>
            <p:nvPr/>
          </p:nvSpPr>
          <p:spPr bwMode="auto">
            <a:xfrm>
              <a:off x="4282404" y="2621559"/>
              <a:ext cx="762000" cy="838200"/>
            </a:xfrm>
            <a:prstGeom prst="rect">
              <a:avLst/>
            </a:prstGeom>
            <a:pattFill prst="pct75">
              <a:fgClr>
                <a:srgbClr val="FF0000"/>
              </a:fgClr>
              <a:bgClr>
                <a:srgbClr val="FFFFFF"/>
              </a:bgClr>
            </a:patt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1" name="Line 17"/>
            <p:cNvSpPr>
              <a:spLocks noChangeShapeType="1"/>
            </p:cNvSpPr>
            <p:nvPr/>
          </p:nvSpPr>
          <p:spPr bwMode="auto">
            <a:xfrm>
              <a:off x="3749004" y="2621559"/>
              <a:ext cx="1676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Line 18"/>
            <p:cNvSpPr>
              <a:spLocks noChangeShapeType="1"/>
            </p:cNvSpPr>
            <p:nvPr/>
          </p:nvSpPr>
          <p:spPr bwMode="auto">
            <a:xfrm>
              <a:off x="3749004" y="3459759"/>
              <a:ext cx="1676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Line 19"/>
            <p:cNvSpPr>
              <a:spLocks noChangeShapeType="1"/>
            </p:cNvSpPr>
            <p:nvPr/>
          </p:nvSpPr>
          <p:spPr bwMode="auto">
            <a:xfrm>
              <a:off x="42824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4" name="Line 20"/>
            <p:cNvSpPr>
              <a:spLocks noChangeShapeType="1"/>
            </p:cNvSpPr>
            <p:nvPr/>
          </p:nvSpPr>
          <p:spPr bwMode="auto">
            <a:xfrm>
              <a:off x="44348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5" name="Line 21"/>
            <p:cNvSpPr>
              <a:spLocks noChangeShapeType="1"/>
            </p:cNvSpPr>
            <p:nvPr/>
          </p:nvSpPr>
          <p:spPr bwMode="auto">
            <a:xfrm>
              <a:off x="45872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Line 22"/>
            <p:cNvSpPr>
              <a:spLocks noChangeShapeType="1"/>
            </p:cNvSpPr>
            <p:nvPr/>
          </p:nvSpPr>
          <p:spPr bwMode="auto">
            <a:xfrm>
              <a:off x="47396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Line 23"/>
            <p:cNvSpPr>
              <a:spLocks noChangeShapeType="1"/>
            </p:cNvSpPr>
            <p:nvPr/>
          </p:nvSpPr>
          <p:spPr bwMode="auto">
            <a:xfrm>
              <a:off x="48920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Line 24"/>
            <p:cNvSpPr>
              <a:spLocks noChangeShapeType="1"/>
            </p:cNvSpPr>
            <p:nvPr/>
          </p:nvSpPr>
          <p:spPr bwMode="auto">
            <a:xfrm>
              <a:off x="50444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Rectangle 25"/>
            <p:cNvSpPr>
              <a:spLocks noChangeArrowheads="1"/>
            </p:cNvSpPr>
            <p:nvPr/>
          </p:nvSpPr>
          <p:spPr bwMode="auto">
            <a:xfrm>
              <a:off x="3596604" y="1707159"/>
              <a:ext cx="609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Verdana" pitchFamily="34" charset="0"/>
                </a:rPr>
                <a:t>tail</a:t>
              </a:r>
            </a:p>
          </p:txBody>
        </p:sp>
        <p:sp>
          <p:nvSpPr>
            <p:cNvPr id="9240" name="Line 26"/>
            <p:cNvSpPr>
              <a:spLocks noChangeShapeType="1"/>
            </p:cNvSpPr>
            <p:nvPr/>
          </p:nvSpPr>
          <p:spPr bwMode="auto">
            <a:xfrm>
              <a:off x="3901404" y="2088159"/>
              <a:ext cx="3048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Rectangle 27"/>
            <p:cNvSpPr>
              <a:spLocks noChangeArrowheads="1"/>
            </p:cNvSpPr>
            <p:nvPr/>
          </p:nvSpPr>
          <p:spPr bwMode="auto">
            <a:xfrm>
              <a:off x="4930104" y="1707159"/>
              <a:ext cx="6985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Verdana" pitchFamily="34" charset="0"/>
                </a:rPr>
                <a:t>head</a:t>
              </a:r>
            </a:p>
          </p:txBody>
        </p:sp>
        <p:sp>
          <p:nvSpPr>
            <p:cNvPr id="9242" name="Line 28"/>
            <p:cNvSpPr>
              <a:spLocks noChangeShapeType="1"/>
            </p:cNvSpPr>
            <p:nvPr/>
          </p:nvSpPr>
          <p:spPr bwMode="auto">
            <a:xfrm>
              <a:off x="4130004" y="2621559"/>
              <a:ext cx="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Line 29"/>
            <p:cNvSpPr>
              <a:spLocks noChangeShapeType="1"/>
            </p:cNvSpPr>
            <p:nvPr/>
          </p:nvSpPr>
          <p:spPr bwMode="auto">
            <a:xfrm flipH="1">
              <a:off x="4968204" y="2088159"/>
              <a:ext cx="3048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986879" y="2673947"/>
            <a:ext cx="6380163" cy="427038"/>
            <a:chOff x="1986879" y="2673947"/>
            <a:chExt cx="6380163" cy="427038"/>
          </a:xfrm>
        </p:grpSpPr>
        <p:sp>
          <p:nvSpPr>
            <p:cNvPr id="9244" name="Rectangle 30"/>
            <p:cNvSpPr>
              <a:spLocks noChangeArrowheads="1"/>
            </p:cNvSpPr>
            <p:nvPr/>
          </p:nvSpPr>
          <p:spPr bwMode="auto">
            <a:xfrm>
              <a:off x="1986879" y="2705697"/>
              <a:ext cx="804863" cy="39528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  R</a:t>
              </a:r>
              <a:r>
                <a:rPr lang="en-US" sz="1800" baseline="-25000">
                  <a:latin typeface="Verdana" pitchFamily="34" charset="0"/>
                </a:rPr>
                <a:t>tail</a:t>
              </a:r>
            </a:p>
          </p:txBody>
        </p:sp>
        <p:sp>
          <p:nvSpPr>
            <p:cNvPr id="9245" name="Rectangle 31"/>
            <p:cNvSpPr>
              <a:spLocks noChangeArrowheads="1"/>
            </p:cNvSpPr>
            <p:nvPr/>
          </p:nvSpPr>
          <p:spPr bwMode="auto">
            <a:xfrm>
              <a:off x="5892129" y="2673947"/>
              <a:ext cx="792163" cy="39528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Rectangle 32"/>
            <p:cNvSpPr>
              <a:spLocks noChangeArrowheads="1"/>
            </p:cNvSpPr>
            <p:nvPr/>
          </p:nvSpPr>
          <p:spPr bwMode="auto">
            <a:xfrm>
              <a:off x="7574879" y="2673947"/>
              <a:ext cx="792163" cy="38735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Rectangle 33"/>
            <p:cNvSpPr>
              <a:spLocks noChangeArrowheads="1"/>
            </p:cNvSpPr>
            <p:nvPr/>
          </p:nvSpPr>
          <p:spPr bwMode="auto">
            <a:xfrm>
              <a:off x="6060404" y="2681884"/>
              <a:ext cx="577850" cy="3698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R</a:t>
              </a:r>
              <a:r>
                <a:rPr lang="en-US" sz="1800" baseline="-25000">
                  <a:latin typeface="Verdana" pitchFamily="34" charset="0"/>
                </a:rPr>
                <a:t>tail</a:t>
              </a:r>
            </a:p>
          </p:txBody>
        </p:sp>
        <p:sp>
          <p:nvSpPr>
            <p:cNvPr id="9248" name="Rectangle 34"/>
            <p:cNvSpPr>
              <a:spLocks noChangeArrowheads="1"/>
            </p:cNvSpPr>
            <p:nvPr/>
          </p:nvSpPr>
          <p:spPr bwMode="auto">
            <a:xfrm>
              <a:off x="6719217" y="2673947"/>
              <a:ext cx="806450" cy="39528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R</a:t>
              </a:r>
              <a:r>
                <a:rPr lang="en-US" sz="1800" baseline="-25000">
                  <a:latin typeface="Verdana" pitchFamily="34" charset="0"/>
                </a:rPr>
                <a:t>head</a:t>
              </a:r>
            </a:p>
          </p:txBody>
        </p:sp>
        <p:sp>
          <p:nvSpPr>
            <p:cNvPr id="9249" name="Rectangle 35"/>
            <p:cNvSpPr>
              <a:spLocks noChangeArrowheads="1"/>
            </p:cNvSpPr>
            <p:nvPr/>
          </p:nvSpPr>
          <p:spPr bwMode="auto">
            <a:xfrm>
              <a:off x="7714579" y="2681884"/>
              <a:ext cx="342900" cy="3698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>
                  <a:latin typeface="Verdana" pitchFamily="34" charset="0"/>
                </a:rPr>
                <a:t>R</a:t>
              </a:r>
              <a:endParaRPr lang="en-US" sz="1800" baseline="-25000">
                <a:latin typeface="Verdana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59180" y="4320540"/>
            <a:ext cx="426720" cy="944880"/>
            <a:chOff x="1059180" y="4320540"/>
            <a:chExt cx="426720" cy="944880"/>
          </a:xfrm>
        </p:grpSpPr>
        <p:sp>
          <p:nvSpPr>
            <p:cNvPr id="9" name="Left Brace 8"/>
            <p:cNvSpPr/>
            <p:nvPr/>
          </p:nvSpPr>
          <p:spPr bwMode="auto">
            <a:xfrm>
              <a:off x="1341120" y="4640580"/>
              <a:ext cx="144780" cy="624840"/>
            </a:xfrm>
            <a:prstGeom prst="leftBrac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4" name="Left Brace 13"/>
            <p:cNvSpPr/>
            <p:nvPr/>
          </p:nvSpPr>
          <p:spPr bwMode="auto">
            <a:xfrm>
              <a:off x="1371600" y="4320540"/>
              <a:ext cx="114300" cy="213360"/>
            </a:xfrm>
            <a:prstGeom prst="leftBrac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6" name="Curved Right Arrow 15"/>
            <p:cNvSpPr/>
            <p:nvPr/>
          </p:nvSpPr>
          <p:spPr bwMode="auto">
            <a:xfrm>
              <a:off x="1059180" y="4495800"/>
              <a:ext cx="228600" cy="335280"/>
            </a:xfrm>
            <a:prstGeom prst="curvedRightArrow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741420" y="4335780"/>
            <a:ext cx="457200" cy="944880"/>
            <a:chOff x="3741420" y="4335780"/>
            <a:chExt cx="457200" cy="944880"/>
          </a:xfrm>
        </p:grpSpPr>
        <p:sp>
          <p:nvSpPr>
            <p:cNvPr id="54" name="Curved Right Arrow 53"/>
            <p:cNvSpPr/>
            <p:nvPr/>
          </p:nvSpPr>
          <p:spPr bwMode="auto">
            <a:xfrm flipH="1" flipV="1">
              <a:off x="3970020" y="4503420"/>
              <a:ext cx="228600" cy="335280"/>
            </a:xfrm>
            <a:prstGeom prst="curvedRightArrow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Left Brace 54"/>
            <p:cNvSpPr/>
            <p:nvPr/>
          </p:nvSpPr>
          <p:spPr bwMode="auto">
            <a:xfrm flipH="1">
              <a:off x="3741420" y="4655820"/>
              <a:ext cx="144780" cy="624840"/>
            </a:xfrm>
            <a:prstGeom prst="leftBrac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6" name="Left Brace 55"/>
            <p:cNvSpPr/>
            <p:nvPr/>
          </p:nvSpPr>
          <p:spPr bwMode="auto">
            <a:xfrm flipH="1">
              <a:off x="3771900" y="4335780"/>
              <a:ext cx="114300" cy="213360"/>
            </a:xfrm>
            <a:prstGeom prst="leftBrac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98185" y="5808098"/>
            <a:ext cx="4122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reordering the stores can cause the consumer to see stale data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DB7955F-E6C4-A459-F44C-2E59AD5E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3E598C-82B2-0C35-D902-FC71D42738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65E06-693A-54E9-E0B5-A79653B63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0D185C96-494F-3E89-C44D-C10DF4784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716" y="2719096"/>
            <a:ext cx="804863" cy="369332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800" dirty="0">
                <a:latin typeface="Verdana" pitchFamily="34" charset="0"/>
              </a:rPr>
              <a:t>  </a:t>
            </a:r>
            <a:r>
              <a:rPr lang="en-US" sz="1800" dirty="0" err="1">
                <a:latin typeface="Verdana" pitchFamily="34" charset="0"/>
              </a:rPr>
              <a:t>R</a:t>
            </a:r>
            <a:r>
              <a:rPr lang="en-US" sz="1800" baseline="-25000" dirty="0" err="1">
                <a:latin typeface="Verdana" pitchFamily="34" charset="0"/>
              </a:rPr>
              <a:t>tail</a:t>
            </a:r>
            <a:r>
              <a:rPr lang="en-US" sz="1800" baseline="-25000" dirty="0"/>
              <a:t>’</a:t>
            </a:r>
            <a:endParaRPr lang="en-US" sz="1800" baseline="-25000" dirty="0">
              <a:latin typeface="Verdana" pitchFamily="34" charset="0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39CFA56B-743F-1F91-FEF7-5556747D3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987" y="5406460"/>
            <a:ext cx="4022725" cy="401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i="1" dirty="0">
                <a:solidFill>
                  <a:srgbClr val="FF0000"/>
                </a:solidFill>
                <a:latin typeface="Verdana" pitchFamily="34" charset="0"/>
              </a:rPr>
              <a:t>What is wrong with this code?</a:t>
            </a:r>
          </a:p>
        </p:txBody>
      </p:sp>
    </p:spTree>
    <p:extLst>
      <p:ext uri="{BB962C8B-B14F-4D97-AF65-F5344CB8AC3E}">
        <p14:creationId xmlns:p14="http://schemas.microsoft.com/office/powerpoint/2010/main" val="85019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Multiple Consumers</a:t>
            </a:r>
          </a:p>
        </p:txBody>
      </p:sp>
      <p:sp>
        <p:nvSpPr>
          <p:cNvPr id="1800194" name="Rectangle 2"/>
          <p:cNvSpPr>
            <a:spLocks noChangeArrowheads="1"/>
          </p:cNvSpPr>
          <p:nvPr/>
        </p:nvSpPr>
        <p:spPr bwMode="auto">
          <a:xfrm>
            <a:off x="5765800" y="3944393"/>
            <a:ext cx="3225800" cy="1892300"/>
          </a:xfrm>
          <a:prstGeom prst="rect">
            <a:avLst/>
          </a:prstGeom>
          <a:solidFill>
            <a:srgbClr val="CFBDC8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388938" y="3631688"/>
            <a:ext cx="3379787" cy="16160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Producer posting Item x: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, tail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Store (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), x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=R</a:t>
            </a:r>
            <a:r>
              <a:rPr lang="en-US" sz="2000" baseline="-25000" dirty="0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+1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Store tail,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14343" name="Text Box 5"/>
          <p:cNvSpPr txBox="1">
            <a:spLocks noChangeArrowheads="1"/>
          </p:cNvSpPr>
          <p:nvPr/>
        </p:nvSpPr>
        <p:spPr bwMode="auto">
          <a:xfrm>
            <a:off x="4897438" y="3623718"/>
            <a:ext cx="4065537" cy="2554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Consumer: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, head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spin:	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, tail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if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==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baseline="-25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goto</a:t>
            </a:r>
            <a:r>
              <a:rPr lang="en-US" sz="2000" dirty="0">
                <a:latin typeface="Verdana" pitchFamily="34" charset="0"/>
              </a:rPr>
              <a:t> spin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Load R, (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=R</a:t>
            </a:r>
            <a:r>
              <a:rPr lang="en-US" sz="2000" baseline="-25000" dirty="0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+1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Store head,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	process(R)</a:t>
            </a:r>
          </a:p>
        </p:txBody>
      </p:sp>
      <p:sp>
        <p:nvSpPr>
          <p:cNvPr id="1800198" name="Text Box 6"/>
          <p:cNvSpPr txBox="1">
            <a:spLocks noChangeArrowheads="1"/>
          </p:cNvSpPr>
          <p:nvPr/>
        </p:nvSpPr>
        <p:spPr bwMode="auto">
          <a:xfrm>
            <a:off x="333554" y="5136277"/>
            <a:ext cx="4022725" cy="401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i="1" dirty="0">
                <a:solidFill>
                  <a:srgbClr val="FF0000"/>
                </a:solidFill>
                <a:latin typeface="Verdana" pitchFamily="34" charset="0"/>
              </a:rPr>
              <a:t>What is wrong with this code?</a:t>
            </a:r>
          </a:p>
        </p:txBody>
      </p:sp>
      <p:grpSp>
        <p:nvGrpSpPr>
          <p:cNvPr id="14346" name="Group 10"/>
          <p:cNvGrpSpPr>
            <a:grpSpLocks/>
          </p:cNvGrpSpPr>
          <p:nvPr/>
        </p:nvGrpSpPr>
        <p:grpSpPr bwMode="auto">
          <a:xfrm>
            <a:off x="1397000" y="1582193"/>
            <a:ext cx="7038975" cy="1993900"/>
            <a:chOff x="880" y="856"/>
            <a:chExt cx="4434" cy="1256"/>
          </a:xfrm>
        </p:grpSpPr>
        <p:grpSp>
          <p:nvGrpSpPr>
            <p:cNvPr id="14348" name="Group 11"/>
            <p:cNvGrpSpPr>
              <a:grpSpLocks/>
            </p:cNvGrpSpPr>
            <p:nvPr/>
          </p:nvGrpSpPr>
          <p:grpSpPr bwMode="auto">
            <a:xfrm>
              <a:off x="1752" y="856"/>
              <a:ext cx="1488" cy="1256"/>
              <a:chOff x="1752" y="856"/>
              <a:chExt cx="1488" cy="1256"/>
            </a:xfrm>
          </p:grpSpPr>
          <p:sp>
            <p:nvSpPr>
              <p:cNvPr id="14366" name="Rectangle 12"/>
              <p:cNvSpPr>
                <a:spLocks noChangeArrowheads="1"/>
              </p:cNvSpPr>
              <p:nvPr/>
            </p:nvSpPr>
            <p:spPr bwMode="auto">
              <a:xfrm>
                <a:off x="1752" y="856"/>
                <a:ext cx="1488" cy="1256"/>
              </a:xfrm>
              <a:prstGeom prst="rect">
                <a:avLst/>
              </a:prstGeom>
              <a:solidFill>
                <a:schemeClr val="tx1">
                  <a:lumMod val="40000"/>
                  <a:lumOff val="60000"/>
                </a:schemeClr>
              </a:solidFill>
              <a:ln w="31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67" name="Rectangle 13" descr="75%"/>
              <p:cNvSpPr>
                <a:spLocks noChangeArrowheads="1"/>
              </p:cNvSpPr>
              <p:nvPr/>
            </p:nvSpPr>
            <p:spPr bwMode="auto">
              <a:xfrm>
                <a:off x="2328" y="1488"/>
                <a:ext cx="480" cy="528"/>
              </a:xfrm>
              <a:prstGeom prst="rect">
                <a:avLst/>
              </a:prstGeom>
              <a:pattFill prst="pct75">
                <a:fgClr>
                  <a:srgbClr val="FF0000"/>
                </a:fgClr>
                <a:bgClr>
                  <a:srgbClr val="FFFFFF"/>
                </a:bgClr>
              </a:pattFill>
              <a:ln w="254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68" name="Line 14"/>
              <p:cNvSpPr>
                <a:spLocks noChangeShapeType="1"/>
              </p:cNvSpPr>
              <p:nvPr/>
            </p:nvSpPr>
            <p:spPr bwMode="auto">
              <a:xfrm>
                <a:off x="1992" y="1488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69" name="Line 15"/>
              <p:cNvSpPr>
                <a:spLocks noChangeShapeType="1"/>
              </p:cNvSpPr>
              <p:nvPr/>
            </p:nvSpPr>
            <p:spPr bwMode="auto">
              <a:xfrm>
                <a:off x="1992" y="2016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0" name="Line 16"/>
              <p:cNvSpPr>
                <a:spLocks noChangeShapeType="1"/>
              </p:cNvSpPr>
              <p:nvPr/>
            </p:nvSpPr>
            <p:spPr bwMode="auto">
              <a:xfrm>
                <a:off x="2328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1" name="Line 17"/>
              <p:cNvSpPr>
                <a:spLocks noChangeShapeType="1"/>
              </p:cNvSpPr>
              <p:nvPr/>
            </p:nvSpPr>
            <p:spPr bwMode="auto">
              <a:xfrm>
                <a:off x="2424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2" name="Line 18"/>
              <p:cNvSpPr>
                <a:spLocks noChangeShapeType="1"/>
              </p:cNvSpPr>
              <p:nvPr/>
            </p:nvSpPr>
            <p:spPr bwMode="auto">
              <a:xfrm>
                <a:off x="2520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3" name="Line 19"/>
              <p:cNvSpPr>
                <a:spLocks noChangeShapeType="1"/>
              </p:cNvSpPr>
              <p:nvPr/>
            </p:nvSpPr>
            <p:spPr bwMode="auto">
              <a:xfrm>
                <a:off x="2616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4" name="Line 20"/>
              <p:cNvSpPr>
                <a:spLocks noChangeShapeType="1"/>
              </p:cNvSpPr>
              <p:nvPr/>
            </p:nvSpPr>
            <p:spPr bwMode="auto">
              <a:xfrm>
                <a:off x="2712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5" name="Line 21"/>
              <p:cNvSpPr>
                <a:spLocks noChangeShapeType="1"/>
              </p:cNvSpPr>
              <p:nvPr/>
            </p:nvSpPr>
            <p:spPr bwMode="auto">
              <a:xfrm>
                <a:off x="2808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6" name="Rectangle 22"/>
              <p:cNvSpPr>
                <a:spLocks noChangeArrowheads="1"/>
              </p:cNvSpPr>
              <p:nvPr/>
            </p:nvSpPr>
            <p:spPr bwMode="auto">
              <a:xfrm>
                <a:off x="1896" y="912"/>
                <a:ext cx="384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>
                    <a:latin typeface="Verdana" pitchFamily="34" charset="0"/>
                  </a:rPr>
                  <a:t>tail</a:t>
                </a:r>
              </a:p>
            </p:txBody>
          </p:sp>
          <p:sp>
            <p:nvSpPr>
              <p:cNvPr id="14377" name="Line 23"/>
              <p:cNvSpPr>
                <a:spLocks noChangeShapeType="1"/>
              </p:cNvSpPr>
              <p:nvPr/>
            </p:nvSpPr>
            <p:spPr bwMode="auto">
              <a:xfrm>
                <a:off x="2088" y="1152"/>
                <a:ext cx="192" cy="3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8" name="Rectangle 24"/>
              <p:cNvSpPr>
                <a:spLocks noChangeArrowheads="1"/>
              </p:cNvSpPr>
              <p:nvPr/>
            </p:nvSpPr>
            <p:spPr bwMode="auto">
              <a:xfrm>
                <a:off x="2736" y="912"/>
                <a:ext cx="440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>
                    <a:latin typeface="Verdana" pitchFamily="34" charset="0"/>
                  </a:rPr>
                  <a:t>head</a:t>
                </a:r>
              </a:p>
            </p:txBody>
          </p:sp>
          <p:sp>
            <p:nvSpPr>
              <p:cNvPr id="14379" name="Line 25"/>
              <p:cNvSpPr>
                <a:spLocks noChangeShapeType="1"/>
              </p:cNvSpPr>
              <p:nvPr/>
            </p:nvSpPr>
            <p:spPr bwMode="auto">
              <a:xfrm>
                <a:off x="2232" y="148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80" name="Line 26"/>
              <p:cNvSpPr>
                <a:spLocks noChangeShapeType="1"/>
              </p:cNvSpPr>
              <p:nvPr/>
            </p:nvSpPr>
            <p:spPr bwMode="auto">
              <a:xfrm flipH="1">
                <a:off x="2760" y="1152"/>
                <a:ext cx="192" cy="3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349" name="Group 27"/>
            <p:cNvGrpSpPr>
              <a:grpSpLocks/>
            </p:cNvGrpSpPr>
            <p:nvPr/>
          </p:nvGrpSpPr>
          <p:grpSpPr bwMode="auto">
            <a:xfrm>
              <a:off x="880" y="864"/>
              <a:ext cx="736" cy="926"/>
              <a:chOff x="880" y="864"/>
              <a:chExt cx="736" cy="926"/>
            </a:xfrm>
          </p:grpSpPr>
          <p:sp>
            <p:nvSpPr>
              <p:cNvPr id="14364" name="Oval 28"/>
              <p:cNvSpPr>
                <a:spLocks noChangeArrowheads="1"/>
              </p:cNvSpPr>
              <p:nvPr/>
            </p:nvSpPr>
            <p:spPr bwMode="auto">
              <a:xfrm>
                <a:off x="880" y="864"/>
                <a:ext cx="736" cy="609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800" dirty="0">
                    <a:latin typeface="Verdana" pitchFamily="34" charset="0"/>
                  </a:rPr>
                  <a:t>Producer</a:t>
                </a:r>
              </a:p>
            </p:txBody>
          </p:sp>
          <p:sp>
            <p:nvSpPr>
              <p:cNvPr id="14365" name="Rectangle 29"/>
              <p:cNvSpPr>
                <a:spLocks noChangeArrowheads="1"/>
              </p:cNvSpPr>
              <p:nvPr/>
            </p:nvSpPr>
            <p:spPr bwMode="auto">
              <a:xfrm>
                <a:off x="978" y="1541"/>
                <a:ext cx="507" cy="249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sz="1800">
                    <a:latin typeface="Verdana" pitchFamily="34" charset="0"/>
                  </a:rPr>
                  <a:t>  R</a:t>
                </a:r>
                <a:r>
                  <a:rPr lang="en-US" sz="1800" baseline="-25000">
                    <a:latin typeface="Verdana" pitchFamily="34" charset="0"/>
                  </a:rPr>
                  <a:t>tail</a:t>
                </a:r>
              </a:p>
            </p:txBody>
          </p:sp>
        </p:grpSp>
        <p:grpSp>
          <p:nvGrpSpPr>
            <p:cNvPr id="14350" name="Group 30"/>
            <p:cNvGrpSpPr>
              <a:grpSpLocks/>
            </p:cNvGrpSpPr>
            <p:nvPr/>
          </p:nvGrpSpPr>
          <p:grpSpPr bwMode="auto">
            <a:xfrm>
              <a:off x="3440" y="857"/>
              <a:ext cx="1874" cy="556"/>
              <a:chOff x="3416" y="857"/>
              <a:chExt cx="1874" cy="556"/>
            </a:xfrm>
          </p:grpSpPr>
          <p:sp>
            <p:nvSpPr>
              <p:cNvPr id="14358" name="Oval 31"/>
              <p:cNvSpPr>
                <a:spLocks noChangeArrowheads="1"/>
              </p:cNvSpPr>
              <p:nvPr/>
            </p:nvSpPr>
            <p:spPr bwMode="auto">
              <a:xfrm>
                <a:off x="3416" y="864"/>
                <a:ext cx="787" cy="549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1800" dirty="0">
                  <a:latin typeface="Verdana" pitchFamily="34" charset="0"/>
                </a:endParaRPr>
              </a:p>
              <a:p>
                <a:pPr algn="ctr" eaLnBrk="0" hangingPunct="0"/>
                <a:r>
                  <a:rPr lang="en-US" sz="1800" dirty="0">
                    <a:latin typeface="Verdana" pitchFamily="34" charset="0"/>
                  </a:rPr>
                  <a:t>Consumer</a:t>
                </a:r>
              </a:p>
              <a:p>
                <a:pPr algn="ctr" eaLnBrk="0" hangingPunct="0"/>
                <a:r>
                  <a:rPr lang="en-US" sz="1800" dirty="0">
                    <a:latin typeface="Verdana" pitchFamily="34" charset="0"/>
                  </a:rPr>
                  <a:t>1</a:t>
                </a:r>
              </a:p>
            </p:txBody>
          </p:sp>
          <p:grpSp>
            <p:nvGrpSpPr>
              <p:cNvPr id="14359" name="Group 32"/>
              <p:cNvGrpSpPr>
                <a:grpSpLocks/>
              </p:cNvGrpSpPr>
              <p:nvPr/>
            </p:nvGrpSpPr>
            <p:grpSpPr bwMode="auto">
              <a:xfrm>
                <a:off x="4300" y="857"/>
                <a:ext cx="990" cy="529"/>
                <a:chOff x="4300" y="857"/>
                <a:chExt cx="990" cy="529"/>
              </a:xfrm>
            </p:grpSpPr>
            <p:sp>
              <p:nvSpPr>
                <p:cNvPr id="14360" name="Rectangle 33"/>
                <p:cNvSpPr>
                  <a:spLocks noChangeArrowheads="1"/>
                </p:cNvSpPr>
                <p:nvPr/>
              </p:nvSpPr>
              <p:spPr bwMode="auto">
                <a:xfrm>
                  <a:off x="4805" y="857"/>
                  <a:ext cx="485" cy="249"/>
                </a:xfrm>
                <a:prstGeom prst="rect">
                  <a:avLst/>
                </a:prstGeom>
                <a:solidFill>
                  <a:schemeClr val="accent5">
                    <a:lumMod val="9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800">
                      <a:latin typeface="Verdana" pitchFamily="34" charset="0"/>
                    </a:rPr>
                    <a:t>  R   </a:t>
                  </a:r>
                  <a:endParaRPr lang="en-US" sz="1800" baseline="-25000">
                    <a:latin typeface="Verdana" pitchFamily="34" charset="0"/>
                  </a:endParaRPr>
                </a:p>
              </p:txBody>
            </p:sp>
            <p:grpSp>
              <p:nvGrpSpPr>
                <p:cNvPr id="14361" name="Group 34"/>
                <p:cNvGrpSpPr>
                  <a:grpSpLocks/>
                </p:cNvGrpSpPr>
                <p:nvPr/>
              </p:nvGrpSpPr>
              <p:grpSpPr bwMode="auto">
                <a:xfrm>
                  <a:off x="4300" y="857"/>
                  <a:ext cx="471" cy="529"/>
                  <a:chOff x="4300" y="857"/>
                  <a:chExt cx="471" cy="529"/>
                </a:xfrm>
              </p:grpSpPr>
              <p:sp>
                <p:nvSpPr>
                  <p:cNvPr id="14362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4300" y="857"/>
                    <a:ext cx="471" cy="249"/>
                  </a:xfrm>
                  <a:prstGeom prst="rect">
                    <a:avLst/>
                  </a:prstGeom>
                  <a:solidFill>
                    <a:schemeClr val="accent5">
                      <a:lumMod val="9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0" hangingPunct="0"/>
                    <a:r>
                      <a:rPr lang="en-US" sz="1800">
                        <a:latin typeface="Verdana" pitchFamily="34" charset="0"/>
                      </a:rPr>
                      <a:t>R</a:t>
                    </a:r>
                    <a:r>
                      <a:rPr lang="en-US" sz="1800" baseline="-25000">
                        <a:latin typeface="Verdana" pitchFamily="34" charset="0"/>
                      </a:rPr>
                      <a:t>head</a:t>
                    </a:r>
                  </a:p>
                </p:txBody>
              </p:sp>
              <p:sp>
                <p:nvSpPr>
                  <p:cNvPr id="14363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4300" y="1137"/>
                    <a:ext cx="471" cy="249"/>
                  </a:xfrm>
                  <a:prstGeom prst="rect">
                    <a:avLst/>
                  </a:prstGeom>
                  <a:solidFill>
                    <a:schemeClr val="accent5">
                      <a:lumMod val="9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0" hangingPunct="0"/>
                    <a:r>
                      <a:rPr lang="en-US" sz="1800">
                        <a:latin typeface="Verdana" pitchFamily="34" charset="0"/>
                      </a:rPr>
                      <a:t>R</a:t>
                    </a:r>
                    <a:r>
                      <a:rPr lang="en-US" sz="1800" baseline="-25000">
                        <a:latin typeface="Verdana" pitchFamily="34" charset="0"/>
                      </a:rPr>
                      <a:t>tail   </a:t>
                    </a:r>
                  </a:p>
                </p:txBody>
              </p:sp>
            </p:grpSp>
          </p:grpSp>
        </p:grpSp>
        <p:grpSp>
          <p:nvGrpSpPr>
            <p:cNvPr id="14351" name="Group 37"/>
            <p:cNvGrpSpPr>
              <a:grpSpLocks/>
            </p:cNvGrpSpPr>
            <p:nvPr/>
          </p:nvGrpSpPr>
          <p:grpSpPr bwMode="auto">
            <a:xfrm>
              <a:off x="3440" y="1505"/>
              <a:ext cx="1874" cy="556"/>
              <a:chOff x="3416" y="857"/>
              <a:chExt cx="1874" cy="556"/>
            </a:xfrm>
          </p:grpSpPr>
          <p:sp>
            <p:nvSpPr>
              <p:cNvPr id="14352" name="Oval 38"/>
              <p:cNvSpPr>
                <a:spLocks noChangeArrowheads="1"/>
              </p:cNvSpPr>
              <p:nvPr/>
            </p:nvSpPr>
            <p:spPr bwMode="auto">
              <a:xfrm>
                <a:off x="3416" y="864"/>
                <a:ext cx="787" cy="549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1800" dirty="0">
                  <a:latin typeface="Verdana" pitchFamily="34" charset="0"/>
                </a:endParaRPr>
              </a:p>
              <a:p>
                <a:pPr algn="ctr" eaLnBrk="0" hangingPunct="0"/>
                <a:r>
                  <a:rPr lang="en-US" sz="1800" dirty="0">
                    <a:latin typeface="Verdana" pitchFamily="34" charset="0"/>
                  </a:rPr>
                  <a:t>Consumer</a:t>
                </a:r>
              </a:p>
              <a:p>
                <a:pPr algn="ctr" eaLnBrk="0" hangingPunct="0"/>
                <a:r>
                  <a:rPr lang="en-US" sz="1800" dirty="0">
                    <a:latin typeface="Verdana" pitchFamily="34" charset="0"/>
                  </a:rPr>
                  <a:t>2</a:t>
                </a:r>
              </a:p>
            </p:txBody>
          </p:sp>
          <p:grpSp>
            <p:nvGrpSpPr>
              <p:cNvPr id="14353" name="Group 39"/>
              <p:cNvGrpSpPr>
                <a:grpSpLocks/>
              </p:cNvGrpSpPr>
              <p:nvPr/>
            </p:nvGrpSpPr>
            <p:grpSpPr bwMode="auto">
              <a:xfrm>
                <a:off x="4300" y="857"/>
                <a:ext cx="990" cy="529"/>
                <a:chOff x="4300" y="857"/>
                <a:chExt cx="990" cy="529"/>
              </a:xfrm>
            </p:grpSpPr>
            <p:sp>
              <p:nvSpPr>
                <p:cNvPr id="14354" name="Rectangle 40"/>
                <p:cNvSpPr>
                  <a:spLocks noChangeArrowheads="1"/>
                </p:cNvSpPr>
                <p:nvPr/>
              </p:nvSpPr>
              <p:spPr bwMode="auto">
                <a:xfrm>
                  <a:off x="4805" y="857"/>
                  <a:ext cx="485" cy="249"/>
                </a:xfrm>
                <a:prstGeom prst="rect">
                  <a:avLst/>
                </a:prstGeom>
                <a:solidFill>
                  <a:schemeClr val="accent5">
                    <a:lumMod val="9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800">
                      <a:latin typeface="Verdana" pitchFamily="34" charset="0"/>
                    </a:rPr>
                    <a:t>  R   </a:t>
                  </a:r>
                  <a:endParaRPr lang="en-US" sz="1800" baseline="-25000">
                    <a:latin typeface="Verdana" pitchFamily="34" charset="0"/>
                  </a:endParaRPr>
                </a:p>
              </p:txBody>
            </p:sp>
            <p:grpSp>
              <p:nvGrpSpPr>
                <p:cNvPr id="14355" name="Group 41"/>
                <p:cNvGrpSpPr>
                  <a:grpSpLocks/>
                </p:cNvGrpSpPr>
                <p:nvPr/>
              </p:nvGrpSpPr>
              <p:grpSpPr bwMode="auto">
                <a:xfrm>
                  <a:off x="4300" y="857"/>
                  <a:ext cx="471" cy="529"/>
                  <a:chOff x="4300" y="857"/>
                  <a:chExt cx="471" cy="529"/>
                </a:xfrm>
              </p:grpSpPr>
              <p:sp>
                <p:nvSpPr>
                  <p:cNvPr id="14356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4300" y="857"/>
                    <a:ext cx="471" cy="249"/>
                  </a:xfrm>
                  <a:prstGeom prst="rect">
                    <a:avLst/>
                  </a:prstGeom>
                  <a:solidFill>
                    <a:schemeClr val="accent5">
                      <a:lumMod val="9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0" hangingPunct="0"/>
                    <a:r>
                      <a:rPr lang="en-US" sz="1800">
                        <a:latin typeface="Verdana" pitchFamily="34" charset="0"/>
                      </a:rPr>
                      <a:t>R</a:t>
                    </a:r>
                    <a:r>
                      <a:rPr lang="en-US" sz="1800" baseline="-25000">
                        <a:latin typeface="Verdana" pitchFamily="34" charset="0"/>
                      </a:rPr>
                      <a:t>head</a:t>
                    </a:r>
                  </a:p>
                </p:txBody>
              </p:sp>
              <p:sp>
                <p:nvSpPr>
                  <p:cNvPr id="14357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4300" y="1137"/>
                    <a:ext cx="471" cy="249"/>
                  </a:xfrm>
                  <a:prstGeom prst="rect">
                    <a:avLst/>
                  </a:prstGeom>
                  <a:solidFill>
                    <a:schemeClr val="accent5">
                      <a:lumMod val="9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0" hangingPunct="0"/>
                    <a:r>
                      <a:rPr lang="en-US" sz="1800">
                        <a:latin typeface="Verdana" pitchFamily="34" charset="0"/>
                      </a:rPr>
                      <a:t>R</a:t>
                    </a:r>
                    <a:r>
                      <a:rPr lang="en-US" sz="1800" baseline="-25000">
                        <a:latin typeface="Verdana" pitchFamily="34" charset="0"/>
                      </a:rPr>
                      <a:t>tail   </a:t>
                    </a:r>
                  </a:p>
                </p:txBody>
              </p:sp>
            </p:grpSp>
          </p:grpSp>
        </p:grpSp>
      </p:grpSp>
      <p:sp>
        <p:nvSpPr>
          <p:cNvPr id="3" name="TextBox 2"/>
          <p:cNvSpPr txBox="1"/>
          <p:nvPr/>
        </p:nvSpPr>
        <p:spPr>
          <a:xfrm>
            <a:off x="481404" y="5824320"/>
            <a:ext cx="4384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The same item may get consumed by both consumers!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20478" y="5052840"/>
            <a:ext cx="5422900" cy="1535113"/>
            <a:chOff x="216" y="3080"/>
            <a:chExt cx="3416" cy="967"/>
          </a:xfrm>
          <a:solidFill>
            <a:schemeClr val="bg1"/>
          </a:solidFill>
        </p:grpSpPr>
        <p:sp>
          <p:nvSpPr>
            <p:cNvPr id="14382" name="Line 9"/>
            <p:cNvSpPr>
              <a:spLocks noChangeShapeType="1"/>
            </p:cNvSpPr>
            <p:nvPr/>
          </p:nvSpPr>
          <p:spPr bwMode="auto">
            <a:xfrm flipV="1">
              <a:off x="3016" y="3080"/>
              <a:ext cx="616" cy="320"/>
            </a:xfrm>
            <a:prstGeom prst="line">
              <a:avLst/>
            </a:prstGeom>
            <a:grp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Text Box 8"/>
            <p:cNvSpPr txBox="1">
              <a:spLocks noChangeArrowheads="1"/>
            </p:cNvSpPr>
            <p:nvPr/>
          </p:nvSpPr>
          <p:spPr bwMode="auto">
            <a:xfrm>
              <a:off x="216" y="3398"/>
              <a:ext cx="2800" cy="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i="1">
                  <a:latin typeface="Verdana" pitchFamily="34" charset="0"/>
                </a:rPr>
                <a:t>Critical section:</a:t>
              </a:r>
            </a:p>
            <a:p>
              <a:r>
                <a:rPr lang="en-US" sz="2000" i="1">
                  <a:latin typeface="Verdana" pitchFamily="34" charset="0"/>
                </a:rPr>
                <a:t>Needs to be executed atomically by one consumer </a:t>
              </a:r>
              <a:r>
                <a:rPr lang="en-US" sz="2000" i="1">
                  <a:latin typeface="Verdana" pitchFamily="34" charset="0"/>
                  <a:sym typeface="Symbol" pitchFamily="18" charset="2"/>
                </a:rPr>
                <a:t></a:t>
              </a:r>
              <a:r>
                <a:rPr lang="en-US" sz="2000" i="1">
                  <a:latin typeface="Verdana" pitchFamily="34" charset="0"/>
                </a:rPr>
                <a:t> locks</a:t>
              </a:r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79BE0-0565-9E20-1DB2-2BA412C3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10DA1-1340-E0EF-4C44-4CC60A3264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70D2C-C92D-352E-C78D-F2B5C7C70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97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0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0194" grpId="0" animBg="1"/>
      <p:bldP spid="1800198" grpId="0" autoUpdateAnimBg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 or Semaphores</a:t>
            </a:r>
            <a:br>
              <a:rPr lang="en-US" dirty="0"/>
            </a:br>
            <a:r>
              <a:rPr lang="en-US" sz="2400" i="1" dirty="0"/>
              <a:t>E. W. Dijkstra, 1965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610" y="3010785"/>
            <a:ext cx="7772400" cy="2746072"/>
          </a:xfrm>
        </p:spPr>
        <p:txBody>
          <a:bodyPr/>
          <a:lstStyle/>
          <a:p>
            <a:r>
              <a:rPr lang="en-US" sz="2400" dirty="0"/>
              <a:t>Lock s has two values:</a:t>
            </a:r>
          </a:p>
          <a:p>
            <a:pPr lvl="1"/>
            <a:r>
              <a:rPr lang="en-US" sz="2000" i="1" dirty="0"/>
              <a:t>Unlocked (s=0): </a:t>
            </a:r>
            <a:r>
              <a:rPr lang="en-US" sz="2000" dirty="0"/>
              <a:t>means that no process has the lock</a:t>
            </a:r>
          </a:p>
          <a:p>
            <a:pPr lvl="1"/>
            <a:r>
              <a:rPr lang="en-US" sz="2000" i="1" dirty="0"/>
              <a:t>Locked (s=1): </a:t>
            </a:r>
            <a:r>
              <a:rPr lang="en-US" sz="2000" dirty="0"/>
              <a:t>means that exactly one process has the lock and it can access the critical section</a:t>
            </a:r>
          </a:p>
          <a:p>
            <a:r>
              <a:rPr lang="en-US" sz="2400" dirty="0"/>
              <a:t>Once a process successfully acquires a lock, it  executes the critical section and then sets s to zero by releasing the lock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35746" y="1573065"/>
            <a:ext cx="4376626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000" i="1" dirty="0">
                <a:latin typeface="Verdana" pitchFamily="34" charset="0"/>
              </a:rPr>
              <a:t>The execution of the critical section is protected by locks; Only one process can hold the lock at a time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92371" y="1583808"/>
            <a:ext cx="3248025" cy="1339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i="1" dirty="0">
                <a:latin typeface="Verdana" pitchFamily="34" charset="0"/>
              </a:rPr>
              <a:t>Process </a:t>
            </a:r>
            <a:r>
              <a:rPr lang="en-US" sz="2000" i="1" dirty="0" err="1">
                <a:latin typeface="Verdana" pitchFamily="34" charset="0"/>
              </a:rPr>
              <a:t>i</a:t>
            </a:r>
            <a:r>
              <a:rPr lang="en-US" sz="2000" i="1" dirty="0">
                <a:latin typeface="Verdana" pitchFamily="34" charset="0"/>
              </a:rPr>
              <a:t>	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acquire(s)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    &lt;critical section&gt;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release(s)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9954" y="5622080"/>
            <a:ext cx="6610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Implementing locks is quite difficult; ISAs provide special atomic instructions to implement locks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BB34CA8-1623-E896-D87A-19A6F0C2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9D4C32A-DED1-111D-F77E-48D892B8A5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DB2B5-7474-E39E-B80F-4C5022A20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96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>
                <a:latin typeface="Verdana" pitchFamily="34" charset="0"/>
              </a:rPr>
              <a:t>Atomic read-modify-write instructions</a:t>
            </a:r>
            <a:endParaRPr lang="en-US" dirty="0"/>
          </a:p>
        </p:txBody>
      </p:sp>
      <p:sp>
        <p:nvSpPr>
          <p:cNvPr id="1802244" name="Rectangle 4"/>
          <p:cNvSpPr>
            <a:spLocks noChangeArrowheads="1"/>
          </p:cNvSpPr>
          <p:nvPr/>
        </p:nvSpPr>
        <p:spPr bwMode="auto">
          <a:xfrm>
            <a:off x="989234" y="2213973"/>
            <a:ext cx="2584450" cy="1339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 err="1">
                <a:latin typeface="Verdana" pitchFamily="34" charset="0"/>
              </a:rPr>
              <a:t>Test&amp;Set</a:t>
            </a:r>
            <a:r>
              <a:rPr lang="en-US" sz="2000" dirty="0">
                <a:latin typeface="Verdana" pitchFamily="34" charset="0"/>
              </a:rPr>
              <a:t> m, R: 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R </a:t>
            </a:r>
            <a:r>
              <a:rPr lang="en-US" sz="2000" dirty="0">
                <a:latin typeface="Symbol" pitchFamily="18" charset="2"/>
              </a:rPr>
              <a:t></a:t>
            </a:r>
            <a:r>
              <a:rPr lang="en-US" sz="2000" dirty="0">
                <a:latin typeface="Verdana" pitchFamily="34" charset="0"/>
              </a:rPr>
              <a:t> M[m];</a:t>
            </a:r>
          </a:p>
          <a:p>
            <a:pPr lvl="1" eaLnBrk="0" hangingPunct="0"/>
            <a:r>
              <a:rPr lang="en-US" sz="2000" i="1" dirty="0">
                <a:latin typeface="Verdana" pitchFamily="34" charset="0"/>
              </a:rPr>
              <a:t>if</a:t>
            </a:r>
            <a:r>
              <a:rPr lang="en-US" sz="2000" dirty="0">
                <a:latin typeface="Verdana" pitchFamily="34" charset="0"/>
              </a:rPr>
              <a:t>  R==0 </a:t>
            </a:r>
            <a:r>
              <a:rPr lang="en-US" sz="2000" i="1" dirty="0">
                <a:latin typeface="Verdana" pitchFamily="34" charset="0"/>
              </a:rPr>
              <a:t>then</a:t>
            </a:r>
            <a:r>
              <a:rPr lang="en-US" sz="2000" dirty="0">
                <a:latin typeface="Verdana" pitchFamily="34" charset="0"/>
              </a:rPr>
              <a:t>  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M[m] </a:t>
            </a:r>
            <a:r>
              <a:rPr lang="en-US" sz="2000" dirty="0">
                <a:latin typeface="Symbol" pitchFamily="18" charset="2"/>
              </a:rPr>
              <a:t></a:t>
            </a:r>
            <a:r>
              <a:rPr lang="en-US" sz="2000" dirty="0">
                <a:latin typeface="Verdana" pitchFamily="34" charset="0"/>
              </a:rPr>
              <a:t>1;</a:t>
            </a:r>
          </a:p>
        </p:txBody>
      </p:sp>
      <p:sp>
        <p:nvSpPr>
          <p:cNvPr id="1802245" name="Rectangle 5"/>
          <p:cNvSpPr>
            <a:spLocks noChangeArrowheads="1"/>
          </p:cNvSpPr>
          <p:nvPr/>
        </p:nvSpPr>
        <p:spPr bwMode="auto">
          <a:xfrm>
            <a:off x="947295" y="4329852"/>
            <a:ext cx="2192337" cy="1339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Swap m, R:	</a:t>
            </a:r>
          </a:p>
          <a:p>
            <a:pPr lvl="1" eaLnBrk="0" hangingPunct="0"/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>
                <a:latin typeface="Symbol" pitchFamily="18" charset="2"/>
              </a:rPr>
              <a:t></a:t>
            </a:r>
            <a:r>
              <a:rPr lang="en-US" sz="2000" dirty="0">
                <a:latin typeface="Verdana" pitchFamily="34" charset="0"/>
              </a:rPr>
              <a:t> M[m];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M[m] </a:t>
            </a:r>
            <a:r>
              <a:rPr lang="en-US" sz="2000" dirty="0">
                <a:latin typeface="Symbol" pitchFamily="18" charset="2"/>
              </a:rPr>
              <a:t></a:t>
            </a:r>
            <a:r>
              <a:rPr lang="en-US" sz="2000" dirty="0">
                <a:latin typeface="Verdana" pitchFamily="34" charset="0"/>
              </a:rPr>
              <a:t>R;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R </a:t>
            </a:r>
            <a:r>
              <a:rPr lang="en-US" sz="2000" dirty="0">
                <a:latin typeface="Symbol" pitchFamily="18" charset="2"/>
              </a:rPr>
              <a:t>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</a:t>
            </a:r>
            <a:r>
              <a:rPr lang="en-US" sz="2000" dirty="0">
                <a:latin typeface="Verdana" pitchFamily="34" charset="0"/>
              </a:rPr>
              <a:t>;</a:t>
            </a:r>
          </a:p>
        </p:txBody>
      </p:sp>
      <p:sp>
        <p:nvSpPr>
          <p:cNvPr id="1802247" name="Text Box 7"/>
          <p:cNvSpPr txBox="1">
            <a:spLocks noChangeArrowheads="1"/>
          </p:cNvSpPr>
          <p:nvPr/>
        </p:nvSpPr>
        <p:spPr bwMode="auto">
          <a:xfrm>
            <a:off x="1441081" y="1605702"/>
            <a:ext cx="51956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i="1" dirty="0">
                <a:latin typeface="Verdana" pitchFamily="34" charset="0"/>
              </a:rPr>
              <a:t>m is a memory location, R is a register</a:t>
            </a:r>
            <a:endParaRPr 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359349" y="2477386"/>
            <a:ext cx="4082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 m can be set to one only if it contains a zero; the old value is returned in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9218" y="4416050"/>
            <a:ext cx="4082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 m is first read and then set to the new value; the old value is returned in 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EB7CE9-A8A7-6883-1A95-39B4AB8E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F4DA3D9-0A82-C749-30C6-7E9AF50815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76CD00-07F8-C559-706B-EAA7A78A3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97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80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44" grpId="0" animBg="1" autoUpdateAnimBg="0"/>
      <p:bldP spid="1802245" grpId="0" animBg="1" autoUpdateAnimBg="0"/>
      <p:bldP spid="2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/>
              <a:t>Multiple Consumers Example </a:t>
            </a:r>
            <a:r>
              <a:rPr lang="en-US" sz="2400" i="1"/>
              <a:t>using the Test&amp;Set Instruction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35243" y="3061301"/>
            <a:ext cx="5108575" cy="1827213"/>
            <a:chOff x="1719" y="1342"/>
            <a:chExt cx="3218" cy="1151"/>
          </a:xfrm>
        </p:grpSpPr>
        <p:grpSp>
          <p:nvGrpSpPr>
            <p:cNvPr id="17418" name="Group 3"/>
            <p:cNvGrpSpPr>
              <a:grpSpLocks/>
            </p:cNvGrpSpPr>
            <p:nvPr/>
          </p:nvGrpSpPr>
          <p:grpSpPr bwMode="auto">
            <a:xfrm>
              <a:off x="1719" y="1342"/>
              <a:ext cx="3218" cy="1151"/>
              <a:chOff x="1719" y="1342"/>
              <a:chExt cx="3218" cy="1151"/>
            </a:xfrm>
          </p:grpSpPr>
          <p:sp>
            <p:nvSpPr>
              <p:cNvPr id="17420" name="Rectangle 4"/>
              <p:cNvSpPr>
                <a:spLocks noChangeArrowheads="1"/>
              </p:cNvSpPr>
              <p:nvPr/>
            </p:nvSpPr>
            <p:spPr bwMode="auto">
              <a:xfrm>
                <a:off x="1719" y="1342"/>
                <a:ext cx="2073" cy="1151"/>
              </a:xfrm>
              <a:prstGeom prst="rect">
                <a:avLst/>
              </a:prstGeom>
              <a:solidFill>
                <a:srgbClr val="CFBDC8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1" name="Text Box 5"/>
              <p:cNvSpPr txBox="1">
                <a:spLocks noChangeArrowheads="1"/>
              </p:cNvSpPr>
              <p:nvPr/>
            </p:nvSpPr>
            <p:spPr bwMode="auto">
              <a:xfrm>
                <a:off x="4287" y="1599"/>
                <a:ext cx="650" cy="40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800" i="1">
                    <a:latin typeface="Verdana" pitchFamily="34" charset="0"/>
                  </a:rPr>
                  <a:t>Critical</a:t>
                </a:r>
              </a:p>
              <a:p>
                <a:pPr eaLnBrk="0" hangingPunct="0"/>
                <a:r>
                  <a:rPr lang="en-US" sz="1800" i="1">
                    <a:latin typeface="Verdana" pitchFamily="34" charset="0"/>
                  </a:rPr>
                  <a:t>Section</a:t>
                </a:r>
              </a:p>
            </p:txBody>
          </p:sp>
        </p:grpSp>
        <p:sp>
          <p:nvSpPr>
            <p:cNvPr id="17419" name="Line 6"/>
            <p:cNvSpPr>
              <a:spLocks noChangeShapeType="1"/>
            </p:cNvSpPr>
            <p:nvPr/>
          </p:nvSpPr>
          <p:spPr bwMode="auto">
            <a:xfrm flipH="1">
              <a:off x="3791" y="1781"/>
              <a:ext cx="450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1968500" y="2378676"/>
            <a:ext cx="4155305" cy="31700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lock:  	 </a:t>
            </a:r>
            <a:r>
              <a:rPr lang="en-US" sz="2000" dirty="0" err="1">
                <a:latin typeface="Verdana" pitchFamily="34" charset="0"/>
              </a:rPr>
              <a:t>Test&amp;Set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mutex</a:t>
            </a:r>
            <a:r>
              <a:rPr lang="en-US" sz="2000" dirty="0">
                <a:latin typeface="Verdana" pitchFamily="34" charset="0"/>
              </a:rPr>
              <a:t>,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temp</a:t>
            </a:r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	 if (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temp</a:t>
            </a:r>
            <a:r>
              <a:rPr lang="en-US" sz="2000" dirty="0">
                <a:latin typeface="Verdana" pitchFamily="34" charset="0"/>
              </a:rPr>
              <a:t>==1) </a:t>
            </a:r>
            <a:r>
              <a:rPr lang="en-US" sz="2000" dirty="0" err="1">
                <a:latin typeface="Verdana" pitchFamily="34" charset="0"/>
              </a:rPr>
              <a:t>goto</a:t>
            </a:r>
            <a:r>
              <a:rPr lang="en-US" sz="2000" dirty="0">
                <a:latin typeface="Verdana" pitchFamily="34" charset="0"/>
              </a:rPr>
              <a:t> lock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 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, head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spin:	 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, tail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 if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==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baseline="-25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goto</a:t>
            </a:r>
            <a:r>
              <a:rPr lang="en-US" sz="2000" dirty="0">
                <a:latin typeface="Verdana" pitchFamily="34" charset="0"/>
              </a:rPr>
              <a:t> spin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 Load R, (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=R</a:t>
            </a:r>
            <a:r>
              <a:rPr lang="en-US" sz="2000" baseline="-25000" dirty="0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+1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 Store head,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 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unlock: Store </a:t>
            </a:r>
            <a:r>
              <a:rPr lang="en-US" sz="2000" dirty="0" err="1">
                <a:latin typeface="Verdana" pitchFamily="34" charset="0"/>
              </a:rPr>
              <a:t>mutex</a:t>
            </a:r>
            <a:r>
              <a:rPr lang="en-US" sz="2000" dirty="0">
                <a:latin typeface="Verdana" pitchFamily="34" charset="0"/>
              </a:rPr>
              <a:t>, 0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  process(R)</a:t>
            </a:r>
            <a:endParaRPr lang="en-US" sz="1600" dirty="0">
              <a:latin typeface="Verdana" pitchFamily="34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856970" y="1567429"/>
            <a:ext cx="66833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A consumer acquires </a:t>
            </a:r>
            <a:r>
              <a:rPr lang="en-US" dirty="0"/>
              <a:t>the lock (</a:t>
            </a:r>
            <a:r>
              <a:rPr lang="en-US" dirty="0" err="1"/>
              <a:t>mutex</a:t>
            </a:r>
            <a:r>
              <a:rPr lang="en-US" dirty="0"/>
              <a:t>) before reading the head value 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F03667-B50B-3B02-1A19-B687E4B3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8A5E47-83B7-14E5-F9D1-7A077944C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82DE0-2EC1-B066-2C75-3A3E160BF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8751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7719-17F7-02C5-9019-B3C72D75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 and Concurrency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37649-7A84-50AC-0212-06FDDA9C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23373-38A3-E2D4-D366-CBB042AEBE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0738B-B42D-05A3-5013-E4204DD41D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7" name="Content Placeholder 29">
            <a:extLst>
              <a:ext uri="{FF2B5EF4-FFF2-40B4-BE49-F238E27FC236}">
                <a16:creationId xmlns:a16="http://schemas.microsoft.com/office/drawing/2014/main" id="{CD26EBA1-49F3-ADCA-F3FB-EB779E017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8" y="4929562"/>
            <a:ext cx="8229600" cy="1264231"/>
          </a:xfrm>
        </p:spPr>
        <p:txBody>
          <a:bodyPr>
            <a:noAutofit/>
          </a:bodyPr>
          <a:lstStyle/>
          <a:p>
            <a:r>
              <a:rPr lang="en-US" sz="1400" dirty="0"/>
              <a:t>T1 is </a:t>
            </a:r>
            <a:r>
              <a:rPr lang="en-US" sz="1400" b="1" dirty="0"/>
              <a:t>active</a:t>
            </a:r>
            <a:r>
              <a:rPr lang="en-US" sz="1400" dirty="0"/>
              <a:t> and executing code </a:t>
            </a:r>
            <a:r>
              <a:rPr lang="en-US" sz="1400" b="1" dirty="0"/>
              <a:t>inside</a:t>
            </a:r>
            <a:r>
              <a:rPr lang="en-US" sz="1400" dirty="0"/>
              <a:t> its </a:t>
            </a:r>
            <a:r>
              <a:rPr lang="en-US" sz="1400" b="1" dirty="0"/>
              <a:t>critical section</a:t>
            </a:r>
            <a:r>
              <a:rPr lang="en-US" sz="1400" dirty="0"/>
              <a:t>.  </a:t>
            </a:r>
          </a:p>
          <a:p>
            <a:r>
              <a:rPr lang="en-US" sz="1400" dirty="0"/>
              <a:t>T2 is </a:t>
            </a:r>
            <a:r>
              <a:rPr lang="en-US" sz="1400" b="1" dirty="0"/>
              <a:t>active</a:t>
            </a:r>
            <a:r>
              <a:rPr lang="en-US" sz="1400" dirty="0"/>
              <a:t> and executing code </a:t>
            </a:r>
            <a:r>
              <a:rPr lang="en-US" sz="1400" b="1" dirty="0"/>
              <a:t>outside</a:t>
            </a:r>
            <a:r>
              <a:rPr lang="en-US" sz="1400" dirty="0"/>
              <a:t> its </a:t>
            </a:r>
            <a:r>
              <a:rPr lang="en-US" sz="1400" b="1" dirty="0"/>
              <a:t>critical section</a:t>
            </a:r>
            <a:r>
              <a:rPr lang="en-US" sz="1400" dirty="0"/>
              <a:t>.</a:t>
            </a:r>
          </a:p>
          <a:p>
            <a:r>
              <a:rPr lang="en-US" sz="1400" dirty="0"/>
              <a:t>T3 is </a:t>
            </a:r>
            <a:r>
              <a:rPr lang="en-US" sz="1400" b="1" dirty="0"/>
              <a:t>active</a:t>
            </a:r>
            <a:r>
              <a:rPr lang="en-US" sz="1400" dirty="0"/>
              <a:t> and executing code </a:t>
            </a:r>
            <a:r>
              <a:rPr lang="en-US" sz="1400" b="1" dirty="0"/>
              <a:t>outside</a:t>
            </a:r>
            <a:r>
              <a:rPr lang="en-US" sz="1400" dirty="0"/>
              <a:t> its </a:t>
            </a:r>
            <a:r>
              <a:rPr lang="en-US" sz="1400" b="1" dirty="0"/>
              <a:t>critical section</a:t>
            </a:r>
            <a:r>
              <a:rPr lang="en-US" sz="1400" dirty="0"/>
              <a:t>.</a:t>
            </a:r>
          </a:p>
          <a:p>
            <a:r>
              <a:rPr lang="en-US" sz="1400" dirty="0"/>
              <a:t>T4 is </a:t>
            </a:r>
            <a:r>
              <a:rPr lang="en-US" sz="1400" b="1" dirty="0"/>
              <a:t>blocked </a:t>
            </a:r>
            <a:r>
              <a:rPr lang="en-US" sz="1400" dirty="0"/>
              <a:t>and </a:t>
            </a:r>
            <a:r>
              <a:rPr lang="en-US" sz="1400" b="1" dirty="0"/>
              <a:t>waiting </a:t>
            </a:r>
            <a:r>
              <a:rPr lang="en-US" sz="1400" dirty="0"/>
              <a:t>to get into its </a:t>
            </a:r>
            <a:r>
              <a:rPr lang="en-US" sz="1400" b="1" dirty="0"/>
              <a:t>critical section</a:t>
            </a:r>
            <a:r>
              <a:rPr lang="en-US" sz="1400" dirty="0"/>
              <a:t>. </a:t>
            </a:r>
          </a:p>
          <a:p>
            <a:pPr lvl="1"/>
            <a:r>
              <a:rPr lang="en-US" sz="1200" dirty="0">
                <a:solidFill>
                  <a:srgbClr val="C00000"/>
                </a:solidFill>
              </a:rPr>
              <a:t>(It will get in once the lock is released by T1).</a:t>
            </a:r>
          </a:p>
          <a:p>
            <a:endParaRPr lang="en-US" sz="1400" dirty="0"/>
          </a:p>
        </p:txBody>
      </p:sp>
      <p:sp>
        <p:nvSpPr>
          <p:cNvPr id="8" name="AutoShape 26">
            <a:extLst>
              <a:ext uri="{FF2B5EF4-FFF2-40B4-BE49-F238E27FC236}">
                <a16:creationId xmlns:a16="http://schemas.microsoft.com/office/drawing/2014/main" id="{25AB2BFB-A4B0-6FDE-78AA-65D2B478AE9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48602" y="1654807"/>
            <a:ext cx="7915843" cy="318603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AC8B5546-E71A-2F06-799C-C1142D83A46A}"/>
              </a:ext>
            </a:extLst>
          </p:cNvPr>
          <p:cNvGrpSpPr>
            <a:grpSpLocks/>
          </p:cNvGrpSpPr>
          <p:nvPr/>
        </p:nvGrpSpPr>
        <p:grpSpPr bwMode="auto">
          <a:xfrm>
            <a:off x="933400" y="2194518"/>
            <a:ext cx="1649134" cy="2646325"/>
            <a:chOff x="979" y="2365"/>
            <a:chExt cx="880" cy="1412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B0251BD5-F6F5-F425-CD45-60CF9A0F92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2365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11" name="Text Box 24">
              <a:extLst>
                <a:ext uri="{FF2B5EF4-FFF2-40B4-BE49-F238E27FC236}">
                  <a16:creationId xmlns:a16="http://schemas.microsoft.com/office/drawing/2014/main" id="{3CD47EF6-8483-F9A9-5979-ACB81641E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991"/>
              <a:ext cx="880" cy="19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74981" tIns="37490" rIns="74981" bIns="374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Critical section </a:t>
              </a: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FD033AB5-A110-E966-2586-D1AE20ECBD3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3189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</p:grpSp>
      <p:grpSp>
        <p:nvGrpSpPr>
          <p:cNvPr id="13" name="Group 18">
            <a:extLst>
              <a:ext uri="{FF2B5EF4-FFF2-40B4-BE49-F238E27FC236}">
                <a16:creationId xmlns:a16="http://schemas.microsoft.com/office/drawing/2014/main" id="{D1E3F656-4A75-6A93-8514-0B9B5A8ED147}"/>
              </a:ext>
            </a:extLst>
          </p:cNvPr>
          <p:cNvGrpSpPr>
            <a:grpSpLocks/>
          </p:cNvGrpSpPr>
          <p:nvPr/>
        </p:nvGrpSpPr>
        <p:grpSpPr bwMode="auto">
          <a:xfrm>
            <a:off x="2794173" y="2194518"/>
            <a:ext cx="1648218" cy="2646325"/>
            <a:chOff x="979" y="2365"/>
            <a:chExt cx="880" cy="1412"/>
          </a:xfrm>
        </p:grpSpPr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5FDA00E4-4299-6C97-097D-B352D906BE7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2365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25168757-7EC8-077C-D3C1-B2A326FB7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991"/>
              <a:ext cx="880" cy="19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74981" tIns="37490" rIns="74981" bIns="374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Critical section </a:t>
              </a: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A8FC554E-60EC-1F9B-350A-2B3D79CE7FA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3189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</p:grpSp>
      <p:grpSp>
        <p:nvGrpSpPr>
          <p:cNvPr id="17" name="Group 14">
            <a:extLst>
              <a:ext uri="{FF2B5EF4-FFF2-40B4-BE49-F238E27FC236}">
                <a16:creationId xmlns:a16="http://schemas.microsoft.com/office/drawing/2014/main" id="{9389EEDF-F3E3-3D27-3271-C3BC71FD9D94}"/>
              </a:ext>
            </a:extLst>
          </p:cNvPr>
          <p:cNvGrpSpPr>
            <a:grpSpLocks/>
          </p:cNvGrpSpPr>
          <p:nvPr/>
        </p:nvGrpSpPr>
        <p:grpSpPr bwMode="auto">
          <a:xfrm>
            <a:off x="4729157" y="2194518"/>
            <a:ext cx="1650050" cy="2646325"/>
            <a:chOff x="979" y="2365"/>
            <a:chExt cx="880" cy="1412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F8B3EB-4FD0-3D08-C9D5-E0216329FD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2365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10435A69-724F-F941-1497-F80A319EF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991"/>
              <a:ext cx="880" cy="19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74981" tIns="37490" rIns="74981" bIns="374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Critical section </a:t>
              </a: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FDB8922D-9756-1DA0-889C-1CA4DE0BFDB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3189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</p:grpSp>
      <p:grpSp>
        <p:nvGrpSpPr>
          <p:cNvPr id="21" name="Group 10">
            <a:extLst>
              <a:ext uri="{FF2B5EF4-FFF2-40B4-BE49-F238E27FC236}">
                <a16:creationId xmlns:a16="http://schemas.microsoft.com/office/drawing/2014/main" id="{516D2144-AD7E-5A07-F554-02B7E372A62B}"/>
              </a:ext>
            </a:extLst>
          </p:cNvPr>
          <p:cNvGrpSpPr>
            <a:grpSpLocks/>
          </p:cNvGrpSpPr>
          <p:nvPr/>
        </p:nvGrpSpPr>
        <p:grpSpPr bwMode="auto">
          <a:xfrm>
            <a:off x="6590846" y="2194518"/>
            <a:ext cx="1649134" cy="2646325"/>
            <a:chOff x="979" y="2365"/>
            <a:chExt cx="880" cy="1412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848A2FF-E5FA-6E7A-45C1-91D6606402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2365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3CE59707-18DA-F4A8-C1D7-780DEA769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991"/>
              <a:ext cx="880" cy="19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74981" tIns="37490" rIns="74981" bIns="374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Critical section </a:t>
              </a: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F6E57DE-08A2-4565-BDAE-B9CD1E11E8B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6" y="3189"/>
              <a:ext cx="99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8" y="200"/>
                </a:cxn>
                <a:cxn ang="0">
                  <a:pos x="24" y="392"/>
                </a:cxn>
                <a:cxn ang="0">
                  <a:pos x="248" y="560"/>
                </a:cxn>
                <a:cxn ang="0">
                  <a:pos x="48" y="768"/>
                </a:cxn>
                <a:cxn ang="0">
                  <a:pos x="248" y="872"/>
                </a:cxn>
                <a:cxn ang="0">
                  <a:pos x="88" y="1048"/>
                </a:cxn>
                <a:cxn ang="0">
                  <a:pos x="256" y="1176"/>
                </a:cxn>
                <a:cxn ang="0">
                  <a:pos x="72" y="1384"/>
                </a:cxn>
                <a:cxn ang="0">
                  <a:pos x="272" y="1536"/>
                </a:cxn>
                <a:cxn ang="0">
                  <a:pos x="104" y="1664"/>
                </a:cxn>
              </a:cxnLst>
              <a:rect l="0" t="0" r="r" b="b"/>
              <a:pathLst>
                <a:path w="277" h="1664">
                  <a:moveTo>
                    <a:pt x="0" y="0"/>
                  </a:moveTo>
                  <a:cubicBezTo>
                    <a:pt x="122" y="67"/>
                    <a:pt x="244" y="135"/>
                    <a:pt x="248" y="200"/>
                  </a:cubicBezTo>
                  <a:cubicBezTo>
                    <a:pt x="252" y="265"/>
                    <a:pt x="24" y="332"/>
                    <a:pt x="24" y="392"/>
                  </a:cubicBezTo>
                  <a:cubicBezTo>
                    <a:pt x="24" y="452"/>
                    <a:pt x="244" y="497"/>
                    <a:pt x="248" y="560"/>
                  </a:cubicBezTo>
                  <a:cubicBezTo>
                    <a:pt x="252" y="623"/>
                    <a:pt x="48" y="716"/>
                    <a:pt x="48" y="768"/>
                  </a:cubicBezTo>
                  <a:cubicBezTo>
                    <a:pt x="48" y="820"/>
                    <a:pt x="241" y="825"/>
                    <a:pt x="248" y="872"/>
                  </a:cubicBezTo>
                  <a:cubicBezTo>
                    <a:pt x="255" y="919"/>
                    <a:pt x="87" y="997"/>
                    <a:pt x="88" y="1048"/>
                  </a:cubicBezTo>
                  <a:cubicBezTo>
                    <a:pt x="89" y="1099"/>
                    <a:pt x="259" y="1120"/>
                    <a:pt x="256" y="1176"/>
                  </a:cubicBezTo>
                  <a:cubicBezTo>
                    <a:pt x="253" y="1232"/>
                    <a:pt x="69" y="1324"/>
                    <a:pt x="72" y="1384"/>
                  </a:cubicBezTo>
                  <a:cubicBezTo>
                    <a:pt x="75" y="1444"/>
                    <a:pt x="267" y="1489"/>
                    <a:pt x="272" y="1536"/>
                  </a:cubicBezTo>
                  <a:cubicBezTo>
                    <a:pt x="277" y="1583"/>
                    <a:pt x="132" y="1643"/>
                    <a:pt x="104" y="166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</p:grpSp>
      <p:sp>
        <p:nvSpPr>
          <p:cNvPr id="25" name="Line 9">
            <a:extLst>
              <a:ext uri="{FF2B5EF4-FFF2-40B4-BE49-F238E27FC236}">
                <a16:creationId xmlns:a16="http://schemas.microsoft.com/office/drawing/2014/main" id="{E0EF8B22-AD0E-308E-F83A-1A800DE5F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02" y="3624890"/>
            <a:ext cx="3838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26" name="Line 8">
            <a:extLst>
              <a:ext uri="{FF2B5EF4-FFF2-40B4-BE49-F238E27FC236}">
                <a16:creationId xmlns:a16="http://schemas.microsoft.com/office/drawing/2014/main" id="{0785BF20-0C15-772F-F5A9-0BDD8F68E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5988" y="2699409"/>
            <a:ext cx="4031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27" name="Line 7">
            <a:extLst>
              <a:ext uri="{FF2B5EF4-FFF2-40B4-BE49-F238E27FC236}">
                <a16:creationId xmlns:a16="http://schemas.microsoft.com/office/drawing/2014/main" id="{1E5598C5-CEE3-CA9C-7011-BB16711495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6567" y="4329538"/>
            <a:ext cx="323413" cy="1099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75518F1C-24D7-D278-72BA-BCD36EC78D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82260" y="3367404"/>
            <a:ext cx="28218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824542FC-333A-555B-C71B-6782367CE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89" y="1666719"/>
            <a:ext cx="518561" cy="35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4981" tIns="37490" rIns="74981" bIns="374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T1 </a:t>
            </a: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BA0E9B5C-DA5C-702E-D345-FB5930E26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583" y="1654807"/>
            <a:ext cx="518561" cy="36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4981" tIns="37490" rIns="74981" bIns="374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T2 </a:t>
            </a: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12C332BC-1E75-1F13-0633-7C8CE8F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2746" y="1666719"/>
            <a:ext cx="519477" cy="35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4981" tIns="37490" rIns="74981" bIns="374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T3 </a:t>
            </a: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F43456D7-1F17-A24B-4549-2736B8B06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0224" y="1654807"/>
            <a:ext cx="519477" cy="36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4981" tIns="37490" rIns="74981" bIns="374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T4 </a:t>
            </a: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7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31D6-0CF0-C4F7-9401-5A64D069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4BD0-485B-EE3A-DCAE-276E98EE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How to decide what part of code is the “critical section”?</a:t>
            </a:r>
          </a:p>
          <a:p>
            <a:pPr lvl="1"/>
            <a:r>
              <a:rPr lang="en-US" sz="2400" dirty="0"/>
              <a:t>What happens if critical section is too large?</a:t>
            </a:r>
          </a:p>
          <a:p>
            <a:pPr lvl="1"/>
            <a:endParaRPr lang="en-US" dirty="0"/>
          </a:p>
          <a:p>
            <a:r>
              <a:rPr lang="en-US" sz="2400" dirty="0"/>
              <a:t>Our example was written assuming that the instructions per thread are executed </a:t>
            </a:r>
            <a:r>
              <a:rPr lang="en-US" sz="2400" i="1" dirty="0"/>
              <a:t>in order</a:t>
            </a:r>
          </a:p>
          <a:p>
            <a:pPr lvl="1"/>
            <a:r>
              <a:rPr lang="en-US" sz="2000" dirty="0">
                <a:latin typeface="Comic Sans MS" panose="030F0902030302020204" pitchFamily="66" charset="0"/>
              </a:rPr>
              <a:t>An architecture may execute instructions out of order to gain higher performance</a:t>
            </a:r>
          </a:p>
          <a:p>
            <a:pPr marL="457200" lvl="1" indent="0">
              <a:buNone/>
            </a:pPr>
            <a:r>
              <a:rPr lang="en-US" sz="2000" dirty="0"/>
              <a:t>                </a:t>
            </a:r>
            <a:r>
              <a:rPr lang="en-US" sz="2000" dirty="0">
                <a:sym typeface="Symbol" panose="05050102010706020507" pitchFamily="18" charset="2"/>
              </a:rPr>
              <a:t> </a:t>
            </a:r>
            <a:r>
              <a:rPr lang="en-US" sz="2000" dirty="0">
                <a:latin typeface="Comic Sans MS" panose="030F0702030302020204" pitchFamily="66" charset="0"/>
              </a:rPr>
              <a:t>Gives rise to </a:t>
            </a:r>
            <a:r>
              <a:rPr 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memory model </a:t>
            </a:r>
            <a:r>
              <a:rPr lang="en-US" sz="2000" dirty="0">
                <a:latin typeface="Comic Sans MS" panose="030F0702030302020204" pitchFamily="66" charset="0"/>
              </a:rPr>
              <a:t>issues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0913-7A2A-16E0-EC44-583783B07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B75DD-48E4-B726-8E1C-5E7F7D0FEF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L12-</a:t>
            </a:r>
            <a:fld id="{53294580-05E8-4585-908E-66FCC5062CA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3B8DD-72E2-5C34-F43F-A1BB1F11E7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3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534400" cy="1143000"/>
          </a:xfrm>
        </p:spPr>
        <p:txBody>
          <a:bodyPr/>
          <a:lstStyle/>
          <a:p>
            <a:r>
              <a:rPr lang="en-US" dirty="0"/>
              <a:t>Implementation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0831"/>
            <a:ext cx="7772400" cy="4114800"/>
          </a:xfrm>
        </p:spPr>
        <p:txBody>
          <a:bodyPr/>
          <a:lstStyle/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Atomic instructions (read-modify-write) are quite disruptive in pipelined machines</a:t>
            </a:r>
          </a:p>
          <a:p>
            <a:endParaRPr lang="en-US" sz="2400" dirty="0"/>
          </a:p>
          <a:p>
            <a:r>
              <a:rPr lang="en-US" sz="2400" dirty="0"/>
              <a:t>What if the process stops or is swapped out </a:t>
            </a:r>
            <a:r>
              <a:rPr lang="en-US" sz="2400" i="1" dirty="0"/>
              <a:t>while</a:t>
            </a:r>
            <a:r>
              <a:rPr lang="en-US" sz="2400" dirty="0"/>
              <a:t> in the critical section?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Lock may never get released! Every thing stops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More sophisticated programming is needed to deal with such eventualities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C66C1-196C-0A93-5742-C9956528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3CFAE-B363-1A86-54C5-C08B023E36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3D3AD-9757-477A-702D-AE2D5235D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48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E920-474D-47CC-260E-4333E020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2E08-82E5-499A-1317-0B18F366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Multi-threaded Programming</a:t>
            </a:r>
          </a:p>
          <a:p>
            <a:pPr lvl="1"/>
            <a:r>
              <a:rPr lang="en-US" dirty="0"/>
              <a:t>Synchronization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Sequential Consistency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2DF2-F704-80E8-3EE3-47C65E1D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A1ADF-48DE-3F3F-FC66-9F989C03A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B39CB-153A-3116-29C9-5F2778DBF5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329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Memory Ordering Nuances</a:t>
            </a:r>
          </a:p>
        </p:txBody>
      </p:sp>
      <p:sp>
        <p:nvSpPr>
          <p:cNvPr id="12293" name="Rectangle 3"/>
          <p:cNvSpPr>
            <a:spLocks noChangeArrowheads="1"/>
          </p:cNvSpPr>
          <p:nvPr/>
        </p:nvSpPr>
        <p:spPr bwMode="auto">
          <a:xfrm>
            <a:off x="643696" y="1532385"/>
            <a:ext cx="7142341" cy="464486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Concurrent tasks:	T1, T2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Shared variables:	X, Y 	(initially X = 0, Y = 0)</a:t>
            </a:r>
          </a:p>
          <a:p>
            <a:pPr eaLnBrk="0" hangingPunct="0"/>
            <a:endParaRPr lang="en-US" sz="2000" dirty="0">
              <a:latin typeface="Verdana" pitchFamily="34" charset="0"/>
            </a:endParaRPr>
          </a:p>
          <a:p>
            <a:pPr eaLnBrk="0" hangingPunct="0"/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T1:				T2: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Store X, 1    </a:t>
            </a:r>
            <a:r>
              <a:rPr lang="en-US" sz="2000" i="1" dirty="0">
                <a:latin typeface="Verdana" pitchFamily="34" charset="0"/>
              </a:rPr>
              <a:t>(X =  1)</a:t>
            </a:r>
            <a:r>
              <a:rPr lang="en-US" sz="2000" dirty="0">
                <a:latin typeface="Verdana" pitchFamily="34" charset="0"/>
              </a:rPr>
              <a:t>	      Load R</a:t>
            </a:r>
            <a:r>
              <a:rPr lang="en-US" sz="2000" baseline="-25000" dirty="0"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, Y 	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Store Y, 2     </a:t>
            </a:r>
            <a:r>
              <a:rPr lang="en-US" sz="2000" i="1" dirty="0">
                <a:latin typeface="Verdana" pitchFamily="34" charset="0"/>
              </a:rPr>
              <a:t>(Y = 2)</a:t>
            </a:r>
            <a:r>
              <a:rPr lang="en-US" sz="2000" dirty="0">
                <a:latin typeface="Verdana" pitchFamily="34" charset="0"/>
              </a:rPr>
              <a:t>	      Store Y’, R</a:t>
            </a:r>
            <a:r>
              <a:rPr lang="en-US" sz="2000" baseline="-25000" dirty="0"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    </a:t>
            </a:r>
            <a:r>
              <a:rPr lang="en-US" sz="2000" i="1" dirty="0">
                <a:latin typeface="Verdana" pitchFamily="34" charset="0"/>
              </a:rPr>
              <a:t>(Y’= Y)</a:t>
            </a:r>
            <a:endParaRPr lang="en-US" sz="2000" dirty="0">
              <a:latin typeface="Verdana" pitchFamily="34" charset="0"/>
            </a:endParaRP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				      Load R</a:t>
            </a:r>
            <a:r>
              <a:rPr lang="en-US" sz="2000" baseline="-25000" dirty="0"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, X 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				      Store X’, R</a:t>
            </a:r>
            <a:r>
              <a:rPr lang="en-US" sz="2000" baseline="-25000" dirty="0"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    </a:t>
            </a:r>
            <a:r>
              <a:rPr lang="en-US" sz="2000" i="1" dirty="0">
                <a:latin typeface="Verdana" pitchFamily="34" charset="0"/>
              </a:rPr>
              <a:t>(X’= X)</a:t>
            </a:r>
          </a:p>
          <a:p>
            <a:pPr lvl="1" eaLnBrk="0" hangingPunct="0"/>
            <a:endParaRPr lang="en-US" sz="2000" i="1" dirty="0">
              <a:solidFill>
                <a:srgbClr val="56127A"/>
              </a:solidFill>
              <a:latin typeface="Verdana" pitchFamily="34" charset="0"/>
            </a:endParaRPr>
          </a:p>
          <a:p>
            <a:pPr lvl="1" eaLnBrk="0" hangingPunct="0"/>
            <a:endParaRPr lang="en-US" sz="2000" dirty="0">
              <a:solidFill>
                <a:srgbClr val="56127A"/>
              </a:solidFill>
              <a:latin typeface="Verdana" pitchFamily="34" charset="0"/>
            </a:endParaRPr>
          </a:p>
          <a:p>
            <a:pPr eaLnBrk="0" hangingPunct="0"/>
            <a:r>
              <a:rPr lang="en-US" dirty="0">
                <a:solidFill>
                  <a:srgbClr val="C00000"/>
                </a:solidFill>
              </a:rPr>
              <a:t>W</a:t>
            </a:r>
            <a:r>
              <a:rPr lang="en-US" sz="2000" dirty="0">
                <a:solidFill>
                  <a:srgbClr val="C00000"/>
                </a:solidFill>
                <a:latin typeface="Verdana" pitchFamily="34" charset="0"/>
              </a:rPr>
              <a:t>hat are the legitimate answers for X’ and Y’ ?</a:t>
            </a:r>
          </a:p>
          <a:p>
            <a:pPr eaLnBrk="0" hangingPunct="0"/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	(X’,Y’) </a:t>
            </a:r>
            <a:r>
              <a:rPr lang="en-US" sz="2000" dirty="0">
                <a:latin typeface="Verdana" pitchFamily="34" charset="0"/>
                <a:sym typeface="Symbol" pitchFamily="18" charset="2"/>
              </a:rPr>
              <a:t> {(</a:t>
            </a:r>
            <a:r>
              <a:rPr lang="en-US" sz="2000" dirty="0">
                <a:latin typeface="Verdana" pitchFamily="34" charset="0"/>
              </a:rPr>
              <a:t>1,2), (0,0), (1,0), (0,2)}  ?</a:t>
            </a:r>
          </a:p>
          <a:p>
            <a:pPr eaLnBrk="0" hangingPunct="0"/>
            <a:endParaRPr lang="en-US" sz="1600" dirty="0">
              <a:latin typeface="Verdana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96031" y="5340499"/>
            <a:ext cx="965200" cy="660400"/>
            <a:chOff x="3896" y="3344"/>
            <a:chExt cx="608" cy="416"/>
          </a:xfrm>
        </p:grpSpPr>
        <p:sp>
          <p:nvSpPr>
            <p:cNvPr id="12297" name="Line 5"/>
            <p:cNvSpPr>
              <a:spLocks noChangeShapeType="1"/>
            </p:cNvSpPr>
            <p:nvPr/>
          </p:nvSpPr>
          <p:spPr bwMode="auto">
            <a:xfrm>
              <a:off x="3896" y="3344"/>
              <a:ext cx="608" cy="4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6"/>
            <p:cNvSpPr>
              <a:spLocks noChangeShapeType="1"/>
            </p:cNvSpPr>
            <p:nvPr/>
          </p:nvSpPr>
          <p:spPr bwMode="auto">
            <a:xfrm flipH="1">
              <a:off x="3896" y="3344"/>
              <a:ext cx="608" cy="4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98151" name="Text Box 7"/>
          <p:cNvSpPr txBox="1">
            <a:spLocks noChangeArrowheads="1"/>
          </p:cNvSpPr>
          <p:nvPr/>
        </p:nvSpPr>
        <p:spPr bwMode="auto">
          <a:xfrm>
            <a:off x="4403725" y="6102350"/>
            <a:ext cx="3824288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  <a:latin typeface="Verdana" pitchFamily="34" charset="0"/>
              </a:rPr>
              <a:t>If y is 2 then x cannot be 0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1CCBC-5D69-FDD7-A12D-60439354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14FCD0-521D-5809-5DD2-AF7798F74C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4CAB2B-233F-5FDE-9E03-6E45C03A3E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587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79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81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Sequential Consistency</a:t>
            </a:r>
            <a:br>
              <a:rPr lang="en-US" dirty="0"/>
            </a:br>
            <a:r>
              <a:rPr lang="en-US" sz="2400" i="1" dirty="0"/>
              <a:t>A Memory Model</a:t>
            </a:r>
          </a:p>
        </p:txBody>
      </p:sp>
      <p:sp>
        <p:nvSpPr>
          <p:cNvPr id="11269" name="Rectangle 3"/>
          <p:cNvSpPr>
            <a:spLocks noChangeArrowheads="1"/>
          </p:cNvSpPr>
          <p:nvPr/>
        </p:nvSpPr>
        <p:spPr bwMode="auto">
          <a:xfrm>
            <a:off x="1066800" y="3009900"/>
            <a:ext cx="7096125" cy="3184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“A system is </a:t>
            </a:r>
            <a:r>
              <a:rPr lang="en-US" sz="2000" i="1" dirty="0">
                <a:latin typeface="Verdana" pitchFamily="34" charset="0"/>
              </a:rPr>
              <a:t>sequentially consistent </a:t>
            </a:r>
            <a:r>
              <a:rPr lang="en-US" sz="2000" dirty="0">
                <a:latin typeface="Verdana" pitchFamily="34" charset="0"/>
              </a:rPr>
              <a:t>if the result of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any execution is the same as if the operations of all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the processors were executed in some sequential 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order, and the operations of each individual processor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appear in the order specified by the program”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				 </a:t>
            </a:r>
            <a:r>
              <a:rPr lang="en-US" sz="2000" i="1" dirty="0">
                <a:latin typeface="Verdana" pitchFamily="34" charset="0"/>
              </a:rPr>
              <a:t>Leslie Lamport</a:t>
            </a:r>
            <a:endParaRPr lang="en-US" sz="2000" dirty="0">
              <a:latin typeface="Verdana" pitchFamily="34" charset="0"/>
            </a:endParaRPr>
          </a:p>
          <a:p>
            <a:pPr eaLnBrk="0" hangingPunct="0"/>
            <a:endParaRPr lang="en-US" sz="2000" dirty="0">
              <a:solidFill>
                <a:srgbClr val="56127A"/>
              </a:solidFill>
              <a:latin typeface="Verdana" pitchFamily="34" charset="0"/>
            </a:endParaRPr>
          </a:p>
          <a:p>
            <a:pPr eaLnBrk="0" hangingPunct="0"/>
            <a:r>
              <a:rPr lang="en-US" sz="2000" dirty="0">
                <a:solidFill>
                  <a:srgbClr val="C00000"/>
                </a:solidFill>
                <a:latin typeface="Verdana" pitchFamily="34" charset="0"/>
              </a:rPr>
              <a:t>Sequential Consistency = </a:t>
            </a:r>
          </a:p>
          <a:p>
            <a:pPr eaLnBrk="0" hangingPunct="0"/>
            <a:r>
              <a:rPr lang="en-US" sz="2000" dirty="0">
                <a:solidFill>
                  <a:srgbClr val="C00000"/>
                </a:solidFill>
                <a:latin typeface="Verdana" pitchFamily="34" charset="0"/>
              </a:rPr>
              <a:t>	arbitrary </a:t>
            </a:r>
            <a:r>
              <a:rPr lang="en-US" sz="2000" i="1" dirty="0">
                <a:solidFill>
                  <a:srgbClr val="C00000"/>
                </a:solidFill>
                <a:latin typeface="Verdana" pitchFamily="34" charset="0"/>
              </a:rPr>
              <a:t>order-preserving interleaving</a:t>
            </a:r>
            <a:endParaRPr lang="en-US" sz="2000" dirty="0">
              <a:solidFill>
                <a:srgbClr val="C00000"/>
              </a:solidFill>
              <a:latin typeface="Verdana" pitchFamily="34" charset="0"/>
            </a:endParaRPr>
          </a:p>
          <a:p>
            <a:pPr eaLnBrk="0" hangingPunct="0"/>
            <a:r>
              <a:rPr lang="en-US" sz="2000" dirty="0">
                <a:solidFill>
                  <a:srgbClr val="C00000"/>
                </a:solidFill>
                <a:latin typeface="Verdana" pitchFamily="34" charset="0"/>
              </a:rPr>
              <a:t>	of memory references of sequential programs</a:t>
            </a:r>
          </a:p>
        </p:txBody>
      </p:sp>
      <p:grpSp>
        <p:nvGrpSpPr>
          <p:cNvPr id="11270" name="Group 4"/>
          <p:cNvGrpSpPr>
            <a:grpSpLocks/>
          </p:cNvGrpSpPr>
          <p:nvPr/>
        </p:nvGrpSpPr>
        <p:grpSpPr bwMode="auto">
          <a:xfrm>
            <a:off x="2955925" y="1520313"/>
            <a:ext cx="3074988" cy="1254125"/>
            <a:chOff x="1862" y="872"/>
            <a:chExt cx="1937" cy="790"/>
          </a:xfrm>
        </p:grpSpPr>
        <p:sp>
          <p:nvSpPr>
            <p:cNvPr id="11272" name="Rectangle 5"/>
            <p:cNvSpPr>
              <a:spLocks noChangeArrowheads="1"/>
            </p:cNvSpPr>
            <p:nvPr/>
          </p:nvSpPr>
          <p:spPr bwMode="auto">
            <a:xfrm>
              <a:off x="2664" y="1425"/>
              <a:ext cx="243" cy="23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M</a:t>
              </a:r>
            </a:p>
          </p:txBody>
        </p:sp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1864" y="872"/>
              <a:ext cx="207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</a:t>
              </a:r>
            </a:p>
          </p:txBody>
        </p:sp>
        <p:grpSp>
          <p:nvGrpSpPr>
            <p:cNvPr id="11274" name="Group 7"/>
            <p:cNvGrpSpPr>
              <a:grpSpLocks/>
            </p:cNvGrpSpPr>
            <p:nvPr/>
          </p:nvGrpSpPr>
          <p:grpSpPr bwMode="auto">
            <a:xfrm>
              <a:off x="1862" y="1097"/>
              <a:ext cx="1904" cy="330"/>
              <a:chOff x="1894" y="1041"/>
              <a:chExt cx="1840" cy="330"/>
            </a:xfrm>
          </p:grpSpPr>
          <p:sp>
            <p:nvSpPr>
              <p:cNvPr id="11280" name="Line 8"/>
              <p:cNvSpPr>
                <a:spLocks noChangeShapeType="1"/>
              </p:cNvSpPr>
              <p:nvPr/>
            </p:nvSpPr>
            <p:spPr bwMode="auto">
              <a:xfrm>
                <a:off x="1894" y="1206"/>
                <a:ext cx="184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1" name="Line 9"/>
              <p:cNvSpPr>
                <a:spLocks noChangeShapeType="1"/>
              </p:cNvSpPr>
              <p:nvPr/>
            </p:nvSpPr>
            <p:spPr bwMode="auto">
              <a:xfrm>
                <a:off x="2790" y="1214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2" name="Line 10"/>
              <p:cNvSpPr>
                <a:spLocks noChangeShapeType="1"/>
              </p:cNvSpPr>
              <p:nvPr/>
            </p:nvSpPr>
            <p:spPr bwMode="auto">
              <a:xfrm>
                <a:off x="1974" y="1041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3" name="Line 11"/>
              <p:cNvSpPr>
                <a:spLocks noChangeShapeType="1"/>
              </p:cNvSpPr>
              <p:nvPr/>
            </p:nvSpPr>
            <p:spPr bwMode="auto">
              <a:xfrm>
                <a:off x="3654" y="1041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4" name="Line 12"/>
              <p:cNvSpPr>
                <a:spLocks noChangeShapeType="1"/>
              </p:cNvSpPr>
              <p:nvPr/>
            </p:nvSpPr>
            <p:spPr bwMode="auto">
              <a:xfrm>
                <a:off x="3318" y="1041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5" name="Line 13"/>
              <p:cNvSpPr>
                <a:spLocks noChangeShapeType="1"/>
              </p:cNvSpPr>
              <p:nvPr/>
            </p:nvSpPr>
            <p:spPr bwMode="auto">
              <a:xfrm>
                <a:off x="2646" y="1041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6" name="Line 14"/>
              <p:cNvSpPr>
                <a:spLocks noChangeShapeType="1"/>
              </p:cNvSpPr>
              <p:nvPr/>
            </p:nvSpPr>
            <p:spPr bwMode="auto">
              <a:xfrm>
                <a:off x="2982" y="1041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7" name="Line 15"/>
              <p:cNvSpPr>
                <a:spLocks noChangeShapeType="1"/>
              </p:cNvSpPr>
              <p:nvPr/>
            </p:nvSpPr>
            <p:spPr bwMode="auto">
              <a:xfrm>
                <a:off x="2310" y="1041"/>
                <a:ext cx="0" cy="1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275" name="Rectangle 16"/>
            <p:cNvSpPr>
              <a:spLocks noChangeArrowheads="1"/>
            </p:cNvSpPr>
            <p:nvPr/>
          </p:nvSpPr>
          <p:spPr bwMode="auto">
            <a:xfrm>
              <a:off x="2209" y="872"/>
              <a:ext cx="207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1276" name="Rectangle 17"/>
            <p:cNvSpPr>
              <a:spLocks noChangeArrowheads="1"/>
            </p:cNvSpPr>
            <p:nvPr/>
          </p:nvSpPr>
          <p:spPr bwMode="auto">
            <a:xfrm>
              <a:off x="2555" y="872"/>
              <a:ext cx="207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1277" name="Rectangle 18"/>
            <p:cNvSpPr>
              <a:spLocks noChangeArrowheads="1"/>
            </p:cNvSpPr>
            <p:nvPr/>
          </p:nvSpPr>
          <p:spPr bwMode="auto">
            <a:xfrm>
              <a:off x="2900" y="872"/>
              <a:ext cx="207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1278" name="Rectangle 19"/>
            <p:cNvSpPr>
              <a:spLocks noChangeArrowheads="1"/>
            </p:cNvSpPr>
            <p:nvPr/>
          </p:nvSpPr>
          <p:spPr bwMode="auto">
            <a:xfrm>
              <a:off x="3246" y="872"/>
              <a:ext cx="207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1279" name="Rectangle 20"/>
            <p:cNvSpPr>
              <a:spLocks noChangeArrowheads="1"/>
            </p:cNvSpPr>
            <p:nvPr/>
          </p:nvSpPr>
          <p:spPr bwMode="auto">
            <a:xfrm>
              <a:off x="3592" y="872"/>
              <a:ext cx="207" cy="23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chemeClr val="bg1"/>
                  </a:solidFill>
                  <a:latin typeface="Verdana" pitchFamily="34" charset="0"/>
                </a:rPr>
                <a:t>P</a:t>
              </a: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5840C-293E-9810-0709-0B1B04AB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97940-C0E8-099A-36DD-C5328090D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DD12B0-CC27-9539-BD41-410977F9EA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18993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Why SC may be violated</a:t>
            </a:r>
          </a:p>
        </p:txBody>
      </p:sp>
      <p:sp>
        <p:nvSpPr>
          <p:cNvPr id="13317" name="Rectangle 3"/>
          <p:cNvSpPr>
            <a:spLocks noChangeArrowheads="1"/>
          </p:cNvSpPr>
          <p:nvPr/>
        </p:nvSpPr>
        <p:spPr bwMode="auto">
          <a:xfrm>
            <a:off x="601164" y="1511119"/>
            <a:ext cx="7345363" cy="31675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Sequential consistency imposes more memory ordering constraints than those imposed by uniprocessor program dependencies (     )</a:t>
            </a:r>
          </a:p>
          <a:p>
            <a:pPr eaLnBrk="0" hangingPunct="0"/>
            <a:r>
              <a:rPr lang="en-US" sz="2000" i="1" dirty="0">
                <a:latin typeface="Verdana" pitchFamily="34" charset="0"/>
              </a:rPr>
              <a:t>      What are these in our example ?</a:t>
            </a:r>
          </a:p>
          <a:p>
            <a:pPr eaLnBrk="0" hangingPunct="0"/>
            <a:endParaRPr lang="en-US" sz="2000" i="1" dirty="0">
              <a:solidFill>
                <a:schemeClr val="hlink"/>
              </a:solidFill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T1:				T2: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Store X, 1     </a:t>
            </a:r>
            <a:r>
              <a:rPr lang="en-US" sz="2000" i="1" dirty="0">
                <a:latin typeface="Verdana" pitchFamily="34" charset="0"/>
              </a:rPr>
              <a:t>(X =  1)</a:t>
            </a:r>
            <a:r>
              <a:rPr lang="en-US" sz="2000" dirty="0">
                <a:latin typeface="Verdana" pitchFamily="34" charset="0"/>
              </a:rPr>
              <a:t>	      Load R</a:t>
            </a:r>
            <a:r>
              <a:rPr lang="en-US" sz="2000" baseline="-25000" dirty="0"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, Y 	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Store Y, 2      </a:t>
            </a:r>
            <a:r>
              <a:rPr lang="en-US" sz="2000" i="1" dirty="0">
                <a:latin typeface="Verdana" pitchFamily="34" charset="0"/>
              </a:rPr>
              <a:t>(Y = 2)</a:t>
            </a:r>
            <a:r>
              <a:rPr lang="en-US" sz="2000" dirty="0">
                <a:latin typeface="Verdana" pitchFamily="34" charset="0"/>
              </a:rPr>
              <a:t>	      Store Y’, R</a:t>
            </a:r>
            <a:r>
              <a:rPr lang="en-US" sz="2000" baseline="-25000" dirty="0"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     </a:t>
            </a:r>
            <a:r>
              <a:rPr lang="en-US" sz="2000" i="1" dirty="0">
                <a:latin typeface="Verdana" pitchFamily="34" charset="0"/>
              </a:rPr>
              <a:t>(Y’= Y)</a:t>
            </a:r>
            <a:endParaRPr lang="en-US" sz="2000" dirty="0">
              <a:latin typeface="Verdana" pitchFamily="34" charset="0"/>
            </a:endParaRP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				      Load R</a:t>
            </a:r>
            <a:r>
              <a:rPr lang="en-US" sz="2000" baseline="-25000" dirty="0"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, X 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				      Store X’, R</a:t>
            </a:r>
            <a:r>
              <a:rPr lang="en-US" sz="2000" baseline="-25000" dirty="0"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     </a:t>
            </a:r>
            <a:r>
              <a:rPr lang="en-US" sz="2000" i="1" dirty="0">
                <a:latin typeface="Verdana" pitchFamily="34" charset="0"/>
              </a:rPr>
              <a:t>(X’= X)</a:t>
            </a:r>
          </a:p>
        </p:txBody>
      </p:sp>
      <p:sp>
        <p:nvSpPr>
          <p:cNvPr id="1799172" name="Freeform 4"/>
          <p:cNvSpPr>
            <a:spLocks/>
          </p:cNvSpPr>
          <p:nvPr/>
        </p:nvSpPr>
        <p:spPr bwMode="auto">
          <a:xfrm>
            <a:off x="4650877" y="3555106"/>
            <a:ext cx="185737" cy="342900"/>
          </a:xfrm>
          <a:custGeom>
            <a:avLst/>
            <a:gdLst>
              <a:gd name="T0" fmla="*/ 214211954 w 117"/>
              <a:gd name="T1" fmla="*/ 0 h 216"/>
              <a:gd name="T2" fmla="*/ 12599953 w 117"/>
              <a:gd name="T3" fmla="*/ 262096275 h 216"/>
              <a:gd name="T4" fmla="*/ 294856716 w 117"/>
              <a:gd name="T5" fmla="*/ 544353795 h 216"/>
              <a:gd name="T6" fmla="*/ 0 60000 65536"/>
              <a:gd name="T7" fmla="*/ 0 60000 65536"/>
              <a:gd name="T8" fmla="*/ 0 60000 65536"/>
              <a:gd name="T9" fmla="*/ 0 w 117"/>
              <a:gd name="T10" fmla="*/ 0 h 216"/>
              <a:gd name="T11" fmla="*/ 117 w 117"/>
              <a:gd name="T12" fmla="*/ 216 h 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" h="216">
                <a:moveTo>
                  <a:pt x="85" y="0"/>
                </a:moveTo>
                <a:cubicBezTo>
                  <a:pt x="42" y="34"/>
                  <a:pt x="0" y="68"/>
                  <a:pt x="5" y="104"/>
                </a:cubicBezTo>
                <a:cubicBezTo>
                  <a:pt x="10" y="140"/>
                  <a:pt x="63" y="178"/>
                  <a:pt x="117" y="216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99173" name="Freeform 5"/>
          <p:cNvSpPr>
            <a:spLocks/>
          </p:cNvSpPr>
          <p:nvPr/>
        </p:nvSpPr>
        <p:spPr bwMode="auto">
          <a:xfrm>
            <a:off x="4650877" y="4190106"/>
            <a:ext cx="185737" cy="342900"/>
          </a:xfrm>
          <a:custGeom>
            <a:avLst/>
            <a:gdLst>
              <a:gd name="T0" fmla="*/ 214211954 w 117"/>
              <a:gd name="T1" fmla="*/ 0 h 216"/>
              <a:gd name="T2" fmla="*/ 12599953 w 117"/>
              <a:gd name="T3" fmla="*/ 262096275 h 216"/>
              <a:gd name="T4" fmla="*/ 294856716 w 117"/>
              <a:gd name="T5" fmla="*/ 544353795 h 216"/>
              <a:gd name="T6" fmla="*/ 0 60000 65536"/>
              <a:gd name="T7" fmla="*/ 0 60000 65536"/>
              <a:gd name="T8" fmla="*/ 0 60000 65536"/>
              <a:gd name="T9" fmla="*/ 0 w 117"/>
              <a:gd name="T10" fmla="*/ 0 h 216"/>
              <a:gd name="T11" fmla="*/ 117 w 117"/>
              <a:gd name="T12" fmla="*/ 216 h 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" h="216">
                <a:moveTo>
                  <a:pt x="85" y="0"/>
                </a:moveTo>
                <a:cubicBezTo>
                  <a:pt x="42" y="34"/>
                  <a:pt x="0" y="68"/>
                  <a:pt x="5" y="104"/>
                </a:cubicBezTo>
                <a:cubicBezTo>
                  <a:pt x="10" y="140"/>
                  <a:pt x="63" y="178"/>
                  <a:pt x="117" y="216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99174" name="Freeform 6"/>
          <p:cNvSpPr>
            <a:spLocks/>
          </p:cNvSpPr>
          <p:nvPr/>
        </p:nvSpPr>
        <p:spPr bwMode="auto">
          <a:xfrm>
            <a:off x="4511177" y="3885306"/>
            <a:ext cx="185737" cy="342900"/>
          </a:xfrm>
          <a:custGeom>
            <a:avLst/>
            <a:gdLst>
              <a:gd name="T0" fmla="*/ 214211954 w 117"/>
              <a:gd name="T1" fmla="*/ 0 h 216"/>
              <a:gd name="T2" fmla="*/ 12599953 w 117"/>
              <a:gd name="T3" fmla="*/ 262096275 h 216"/>
              <a:gd name="T4" fmla="*/ 294856716 w 117"/>
              <a:gd name="T5" fmla="*/ 544353795 h 216"/>
              <a:gd name="T6" fmla="*/ 0 60000 65536"/>
              <a:gd name="T7" fmla="*/ 0 60000 65536"/>
              <a:gd name="T8" fmla="*/ 0 60000 65536"/>
              <a:gd name="T9" fmla="*/ 0 w 117"/>
              <a:gd name="T10" fmla="*/ 0 h 216"/>
              <a:gd name="T11" fmla="*/ 117 w 117"/>
              <a:gd name="T12" fmla="*/ 216 h 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" h="216">
                <a:moveTo>
                  <a:pt x="85" y="0"/>
                </a:moveTo>
                <a:cubicBezTo>
                  <a:pt x="42" y="34"/>
                  <a:pt x="0" y="68"/>
                  <a:pt x="5" y="104"/>
                </a:cubicBezTo>
                <a:cubicBezTo>
                  <a:pt x="10" y="140"/>
                  <a:pt x="63" y="178"/>
                  <a:pt x="117" y="21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99175" name="Freeform 7"/>
          <p:cNvSpPr>
            <a:spLocks/>
          </p:cNvSpPr>
          <p:nvPr/>
        </p:nvSpPr>
        <p:spPr bwMode="auto">
          <a:xfrm>
            <a:off x="929777" y="3593206"/>
            <a:ext cx="185737" cy="342900"/>
          </a:xfrm>
          <a:custGeom>
            <a:avLst/>
            <a:gdLst>
              <a:gd name="T0" fmla="*/ 214211954 w 117"/>
              <a:gd name="T1" fmla="*/ 0 h 216"/>
              <a:gd name="T2" fmla="*/ 12599953 w 117"/>
              <a:gd name="T3" fmla="*/ 262096275 h 216"/>
              <a:gd name="T4" fmla="*/ 294856716 w 117"/>
              <a:gd name="T5" fmla="*/ 544353795 h 216"/>
              <a:gd name="T6" fmla="*/ 0 60000 65536"/>
              <a:gd name="T7" fmla="*/ 0 60000 65536"/>
              <a:gd name="T8" fmla="*/ 0 60000 65536"/>
              <a:gd name="T9" fmla="*/ 0 w 117"/>
              <a:gd name="T10" fmla="*/ 0 h 216"/>
              <a:gd name="T11" fmla="*/ 117 w 117"/>
              <a:gd name="T12" fmla="*/ 216 h 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" h="216">
                <a:moveTo>
                  <a:pt x="85" y="0"/>
                </a:moveTo>
                <a:cubicBezTo>
                  <a:pt x="42" y="34"/>
                  <a:pt x="0" y="68"/>
                  <a:pt x="5" y="104"/>
                </a:cubicBezTo>
                <a:cubicBezTo>
                  <a:pt x="10" y="140"/>
                  <a:pt x="63" y="178"/>
                  <a:pt x="117" y="21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Line 8"/>
          <p:cNvSpPr>
            <a:spLocks noChangeShapeType="1"/>
          </p:cNvSpPr>
          <p:nvPr/>
        </p:nvSpPr>
        <p:spPr bwMode="auto">
          <a:xfrm>
            <a:off x="3807914" y="2347731"/>
            <a:ext cx="4445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663782" y="2728563"/>
            <a:ext cx="4732345" cy="400050"/>
            <a:chOff x="3663782" y="2792361"/>
            <a:chExt cx="4732345" cy="400050"/>
          </a:xfrm>
        </p:grpSpPr>
        <p:sp>
          <p:nvSpPr>
            <p:cNvPr id="13326" name="Line 10"/>
            <p:cNvSpPr>
              <a:spLocks noChangeShapeType="1"/>
            </p:cNvSpPr>
            <p:nvPr/>
          </p:nvSpPr>
          <p:spPr bwMode="auto">
            <a:xfrm>
              <a:off x="7449794" y="3014611"/>
              <a:ext cx="67310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7" name="Text Box 11"/>
            <p:cNvSpPr txBox="1">
              <a:spLocks noChangeArrowheads="1"/>
            </p:cNvSpPr>
            <p:nvPr/>
          </p:nvSpPr>
          <p:spPr bwMode="auto">
            <a:xfrm>
              <a:off x="3663782" y="2792361"/>
              <a:ext cx="473234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Verdana" pitchFamily="34" charset="0"/>
                </a:rPr>
                <a:t>additional SC requirements (        )</a:t>
              </a:r>
            </a:p>
          </p:txBody>
        </p:sp>
      </p:grpSp>
      <p:sp>
        <p:nvSpPr>
          <p:cNvPr id="1799180" name="Rectangle 12"/>
          <p:cNvSpPr>
            <a:spLocks noChangeArrowheads="1"/>
          </p:cNvSpPr>
          <p:nvPr/>
        </p:nvSpPr>
        <p:spPr bwMode="auto">
          <a:xfrm>
            <a:off x="777532" y="5023995"/>
            <a:ext cx="7345363" cy="10130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High-performance processor implementations often violate SC by not enforcing the extra dependencies  required by 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1397" y="5896097"/>
            <a:ext cx="2970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Example Store Buffers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C3E48D-51DA-17D4-AA83-5AE39A78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928B7-F499-8C8C-BA62-9EFD637D9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72D1AC-AE46-8CA9-4C78-5E86D2FBD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752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9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79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9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79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9172" grpId="0" animBg="1"/>
      <p:bldP spid="1799173" grpId="0" animBg="1"/>
      <p:bldP spid="1799174" grpId="0" animBg="1"/>
      <p:bldP spid="1799175" grpId="0" animBg="1"/>
      <p:bldP spid="1799180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599" y="304800"/>
            <a:ext cx="8253895" cy="1143000"/>
          </a:xfrm>
        </p:spPr>
        <p:txBody>
          <a:bodyPr/>
          <a:lstStyle/>
          <a:p>
            <a:r>
              <a:rPr lang="en-US" dirty="0"/>
              <a:t>Store Buffers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28228" name="Rectangle 36"/>
          <p:cNvSpPr>
            <a:spLocks noGrp="1" noChangeArrowheads="1"/>
          </p:cNvSpPr>
          <p:nvPr>
            <p:ph idx="1"/>
          </p:nvPr>
        </p:nvSpPr>
        <p:spPr>
          <a:xfrm>
            <a:off x="555226" y="1647153"/>
            <a:ext cx="5418799" cy="3567139"/>
          </a:xfrm>
          <a:noFill/>
          <a:ln/>
        </p:spPr>
        <p:txBody>
          <a:bodyPr/>
          <a:lstStyle/>
          <a:p>
            <a:r>
              <a:rPr lang="en-US" sz="2000" dirty="0"/>
              <a:t>A processor considers a Store to have been executed as soon as it is stored in the Store buffer, that is, before it is put in memory</a:t>
            </a:r>
          </a:p>
          <a:p>
            <a:r>
              <a:rPr lang="en-US" sz="2000" dirty="0"/>
              <a:t>A load can read values from the  local store buffer (forwarding)</a:t>
            </a:r>
          </a:p>
        </p:txBody>
      </p:sp>
      <p:sp>
        <p:nvSpPr>
          <p:cNvPr id="1928220" name="Freeform 28"/>
          <p:cNvSpPr>
            <a:spLocks/>
          </p:cNvSpPr>
          <p:nvPr/>
        </p:nvSpPr>
        <p:spPr bwMode="auto">
          <a:xfrm>
            <a:off x="5964472" y="2592515"/>
            <a:ext cx="824973" cy="577467"/>
          </a:xfrm>
          <a:custGeom>
            <a:avLst/>
            <a:gdLst/>
            <a:ahLst/>
            <a:cxnLst>
              <a:cxn ang="0">
                <a:pos x="0" y="1105"/>
              </a:cxn>
              <a:cxn ang="0">
                <a:pos x="709" y="730"/>
              </a:cxn>
              <a:cxn ang="0">
                <a:pos x="911" y="371"/>
              </a:cxn>
              <a:cxn ang="0">
                <a:pos x="940" y="103"/>
              </a:cxn>
              <a:cxn ang="0">
                <a:pos x="870" y="0"/>
              </a:cxn>
            </a:cxnLst>
            <a:rect l="0" t="0" r="r" b="b"/>
            <a:pathLst>
              <a:path w="950" h="1105">
                <a:moveTo>
                  <a:pt x="0" y="1105"/>
                </a:moveTo>
                <a:cubicBezTo>
                  <a:pt x="286" y="1083"/>
                  <a:pt x="537" y="956"/>
                  <a:pt x="709" y="730"/>
                </a:cubicBezTo>
                <a:cubicBezTo>
                  <a:pt x="865" y="589"/>
                  <a:pt x="872" y="476"/>
                  <a:pt x="911" y="371"/>
                </a:cubicBezTo>
                <a:cubicBezTo>
                  <a:pt x="950" y="266"/>
                  <a:pt x="947" y="165"/>
                  <a:pt x="940" y="103"/>
                </a:cubicBezTo>
                <a:cubicBezTo>
                  <a:pt x="927" y="66"/>
                  <a:pt x="897" y="27"/>
                  <a:pt x="870" y="0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3316" y="1447800"/>
            <a:ext cx="2797399" cy="3021169"/>
            <a:chOff x="5029200" y="1524000"/>
            <a:chExt cx="3308797" cy="3475036"/>
          </a:xfrm>
        </p:grpSpPr>
        <p:grpSp>
          <p:nvGrpSpPr>
            <p:cNvPr id="1928201" name="Group 9"/>
            <p:cNvGrpSpPr>
              <a:grpSpLocks/>
            </p:cNvGrpSpPr>
            <p:nvPr/>
          </p:nvGrpSpPr>
          <p:grpSpPr bwMode="auto">
            <a:xfrm>
              <a:off x="5029200" y="2743200"/>
              <a:ext cx="609600" cy="304800"/>
              <a:chOff x="2640" y="1536"/>
              <a:chExt cx="336" cy="192"/>
            </a:xfrm>
            <a:solidFill>
              <a:schemeClr val="accent2"/>
            </a:solidFill>
          </p:grpSpPr>
          <p:sp>
            <p:nvSpPr>
              <p:cNvPr id="1928202" name="Rectangle 10"/>
              <p:cNvSpPr>
                <a:spLocks noChangeArrowheads="1"/>
              </p:cNvSpPr>
              <p:nvPr/>
            </p:nvSpPr>
            <p:spPr bwMode="auto">
              <a:xfrm>
                <a:off x="2640" y="1584"/>
                <a:ext cx="336" cy="48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8203" name="Rectangle 11"/>
              <p:cNvSpPr>
                <a:spLocks noChangeArrowheads="1"/>
              </p:cNvSpPr>
              <p:nvPr/>
            </p:nvSpPr>
            <p:spPr bwMode="auto">
              <a:xfrm>
                <a:off x="2640" y="1632"/>
                <a:ext cx="336" cy="48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8204" name="Rectangle 12"/>
              <p:cNvSpPr>
                <a:spLocks noChangeArrowheads="1"/>
              </p:cNvSpPr>
              <p:nvPr/>
            </p:nvSpPr>
            <p:spPr bwMode="auto">
              <a:xfrm>
                <a:off x="2640" y="1680"/>
                <a:ext cx="336" cy="48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8205" name="Freeform 13"/>
              <p:cNvSpPr>
                <a:spLocks/>
              </p:cNvSpPr>
              <p:nvPr/>
            </p:nvSpPr>
            <p:spPr bwMode="auto">
              <a:xfrm>
                <a:off x="2640" y="1536"/>
                <a:ext cx="336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2"/>
                  </a:cxn>
                  <a:cxn ang="0">
                    <a:pos x="192" y="192"/>
                  </a:cxn>
                  <a:cxn ang="0">
                    <a:pos x="192" y="0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8195" name="Rectangle 3"/>
            <p:cNvSpPr>
              <a:spLocks noChangeArrowheads="1"/>
            </p:cNvSpPr>
            <p:nvPr/>
          </p:nvSpPr>
          <p:spPr bwMode="auto">
            <a:xfrm>
              <a:off x="5105400" y="1524000"/>
              <a:ext cx="1066800" cy="838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Arial" charset="0"/>
                </a:rPr>
                <a:t>P</a:t>
              </a:r>
            </a:p>
          </p:txBody>
        </p:sp>
        <p:sp>
          <p:nvSpPr>
            <p:cNvPr id="1928197" name="Rectangle 5"/>
            <p:cNvSpPr>
              <a:spLocks noChangeArrowheads="1"/>
            </p:cNvSpPr>
            <p:nvPr/>
          </p:nvSpPr>
          <p:spPr bwMode="auto">
            <a:xfrm>
              <a:off x="5137597" y="3932236"/>
              <a:ext cx="3200400" cy="106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Arial" charset="0"/>
                </a:rPr>
                <a:t>Memory</a:t>
              </a:r>
            </a:p>
          </p:txBody>
        </p:sp>
        <p:sp>
          <p:nvSpPr>
            <p:cNvPr id="1928198" name="Line 6"/>
            <p:cNvSpPr>
              <a:spLocks noChangeShapeType="1"/>
            </p:cNvSpPr>
            <p:nvPr/>
          </p:nvSpPr>
          <p:spPr bwMode="auto">
            <a:xfrm>
              <a:off x="5137597" y="3475036"/>
              <a:ext cx="3200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00" name="Line 8"/>
            <p:cNvSpPr>
              <a:spLocks noChangeShapeType="1"/>
            </p:cNvSpPr>
            <p:nvPr/>
          </p:nvSpPr>
          <p:spPr bwMode="auto">
            <a:xfrm>
              <a:off x="6737797" y="3475036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06" name="Line 14"/>
            <p:cNvSpPr>
              <a:spLocks noChangeShapeType="1"/>
            </p:cNvSpPr>
            <p:nvPr/>
          </p:nvSpPr>
          <p:spPr bwMode="auto">
            <a:xfrm>
              <a:off x="5334000" y="2362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07" name="Line 15"/>
            <p:cNvSpPr>
              <a:spLocks noChangeShapeType="1"/>
            </p:cNvSpPr>
            <p:nvPr/>
          </p:nvSpPr>
          <p:spPr bwMode="auto">
            <a:xfrm>
              <a:off x="5334000" y="304800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08" name="Line 16"/>
            <p:cNvSpPr>
              <a:spLocks noChangeShapeType="1"/>
            </p:cNvSpPr>
            <p:nvPr/>
          </p:nvSpPr>
          <p:spPr bwMode="auto">
            <a:xfrm flipV="1">
              <a:off x="6019800" y="2667000"/>
              <a:ext cx="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09" name="Line 17"/>
            <p:cNvSpPr>
              <a:spLocks noChangeShapeType="1"/>
            </p:cNvSpPr>
            <p:nvPr/>
          </p:nvSpPr>
          <p:spPr bwMode="auto">
            <a:xfrm flipV="1">
              <a:off x="5638800" y="2667000"/>
              <a:ext cx="2286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10" name="Rectangle 18"/>
            <p:cNvSpPr>
              <a:spLocks noChangeArrowheads="1"/>
            </p:cNvSpPr>
            <p:nvPr/>
          </p:nvSpPr>
          <p:spPr bwMode="auto">
            <a:xfrm>
              <a:off x="7239000" y="1524000"/>
              <a:ext cx="1066800" cy="838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Arial" charset="0"/>
                </a:rPr>
                <a:t>P</a:t>
              </a:r>
            </a:p>
          </p:txBody>
        </p:sp>
        <p:grpSp>
          <p:nvGrpSpPr>
            <p:cNvPr id="1928213" name="Group 21"/>
            <p:cNvGrpSpPr>
              <a:grpSpLocks/>
            </p:cNvGrpSpPr>
            <p:nvPr/>
          </p:nvGrpSpPr>
          <p:grpSpPr bwMode="auto">
            <a:xfrm>
              <a:off x="7162800" y="2743200"/>
              <a:ext cx="609600" cy="304800"/>
              <a:chOff x="2640" y="1536"/>
              <a:chExt cx="336" cy="192"/>
            </a:xfrm>
          </p:grpSpPr>
          <p:sp>
            <p:nvSpPr>
              <p:cNvPr id="1928214" name="Rectangle 22"/>
              <p:cNvSpPr>
                <a:spLocks noChangeArrowheads="1"/>
              </p:cNvSpPr>
              <p:nvPr/>
            </p:nvSpPr>
            <p:spPr bwMode="auto">
              <a:xfrm>
                <a:off x="2640" y="1584"/>
                <a:ext cx="336" cy="4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8215" name="Rectangle 23"/>
              <p:cNvSpPr>
                <a:spLocks noChangeArrowheads="1"/>
              </p:cNvSpPr>
              <p:nvPr/>
            </p:nvSpPr>
            <p:spPr bwMode="auto">
              <a:xfrm>
                <a:off x="2640" y="1632"/>
                <a:ext cx="336" cy="4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8216" name="Rectangle 24"/>
              <p:cNvSpPr>
                <a:spLocks noChangeArrowheads="1"/>
              </p:cNvSpPr>
              <p:nvPr/>
            </p:nvSpPr>
            <p:spPr bwMode="auto">
              <a:xfrm>
                <a:off x="2640" y="1680"/>
                <a:ext cx="336" cy="4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8217" name="Freeform 25"/>
              <p:cNvSpPr>
                <a:spLocks/>
              </p:cNvSpPr>
              <p:nvPr/>
            </p:nvSpPr>
            <p:spPr bwMode="auto">
              <a:xfrm>
                <a:off x="2640" y="1536"/>
                <a:ext cx="336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2"/>
                  </a:cxn>
                  <a:cxn ang="0">
                    <a:pos x="192" y="192"/>
                  </a:cxn>
                  <a:cxn ang="0">
                    <a:pos x="192" y="0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8218" name="Line 26"/>
            <p:cNvSpPr>
              <a:spLocks noChangeShapeType="1"/>
            </p:cNvSpPr>
            <p:nvPr/>
          </p:nvSpPr>
          <p:spPr bwMode="auto">
            <a:xfrm>
              <a:off x="7467600" y="2362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19" name="Line 27"/>
            <p:cNvSpPr>
              <a:spLocks noChangeShapeType="1"/>
            </p:cNvSpPr>
            <p:nvPr/>
          </p:nvSpPr>
          <p:spPr bwMode="auto">
            <a:xfrm>
              <a:off x="7467600" y="304800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21" name="Freeform 29"/>
            <p:cNvSpPr>
              <a:spLocks/>
            </p:cNvSpPr>
            <p:nvPr/>
          </p:nvSpPr>
          <p:spPr bwMode="auto">
            <a:xfrm>
              <a:off x="5715000" y="2590800"/>
              <a:ext cx="458788" cy="762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289" y="94"/>
                </a:cxn>
                <a:cxn ang="0">
                  <a:pos x="240" y="0"/>
                </a:cxn>
                <a:cxn ang="0">
                  <a:pos x="48" y="0"/>
                </a:cxn>
                <a:cxn ang="0">
                  <a:pos x="0" y="96"/>
                </a:cxn>
              </a:cxnLst>
              <a:rect l="0" t="0" r="r" b="b"/>
              <a:pathLst>
                <a:path w="289" h="96">
                  <a:moveTo>
                    <a:pt x="0" y="96"/>
                  </a:moveTo>
                  <a:lnTo>
                    <a:pt x="289" y="94"/>
                  </a:lnTo>
                  <a:lnTo>
                    <a:pt x="240" y="0"/>
                  </a:lnTo>
                  <a:lnTo>
                    <a:pt x="48" y="0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22" name="Line 30"/>
            <p:cNvSpPr>
              <a:spLocks noChangeShapeType="1"/>
            </p:cNvSpPr>
            <p:nvPr/>
          </p:nvSpPr>
          <p:spPr bwMode="auto">
            <a:xfrm flipV="1">
              <a:off x="5943600" y="2362200"/>
              <a:ext cx="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23" name="Line 31"/>
            <p:cNvSpPr>
              <a:spLocks noChangeShapeType="1"/>
            </p:cNvSpPr>
            <p:nvPr/>
          </p:nvSpPr>
          <p:spPr bwMode="auto">
            <a:xfrm flipV="1">
              <a:off x="8153400" y="2667000"/>
              <a:ext cx="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24" name="Line 32"/>
            <p:cNvSpPr>
              <a:spLocks noChangeShapeType="1"/>
            </p:cNvSpPr>
            <p:nvPr/>
          </p:nvSpPr>
          <p:spPr bwMode="auto">
            <a:xfrm flipV="1">
              <a:off x="7772400" y="2667000"/>
              <a:ext cx="2286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25" name="Freeform 33"/>
            <p:cNvSpPr>
              <a:spLocks/>
            </p:cNvSpPr>
            <p:nvPr/>
          </p:nvSpPr>
          <p:spPr bwMode="auto">
            <a:xfrm>
              <a:off x="7848600" y="2590800"/>
              <a:ext cx="458788" cy="762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289" y="94"/>
                </a:cxn>
                <a:cxn ang="0">
                  <a:pos x="240" y="0"/>
                </a:cxn>
                <a:cxn ang="0">
                  <a:pos x="48" y="0"/>
                </a:cxn>
                <a:cxn ang="0">
                  <a:pos x="0" y="96"/>
                </a:cxn>
              </a:cxnLst>
              <a:rect l="0" t="0" r="r" b="b"/>
              <a:pathLst>
                <a:path w="289" h="96">
                  <a:moveTo>
                    <a:pt x="0" y="96"/>
                  </a:moveTo>
                  <a:lnTo>
                    <a:pt x="289" y="94"/>
                  </a:lnTo>
                  <a:lnTo>
                    <a:pt x="240" y="0"/>
                  </a:lnTo>
                  <a:lnTo>
                    <a:pt x="48" y="0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8226" name="Line 34"/>
            <p:cNvSpPr>
              <a:spLocks noChangeShapeType="1"/>
            </p:cNvSpPr>
            <p:nvPr/>
          </p:nvSpPr>
          <p:spPr bwMode="auto">
            <a:xfrm flipV="1">
              <a:off x="8077200" y="2362200"/>
              <a:ext cx="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28227" name="Freeform 35"/>
          <p:cNvSpPr>
            <a:spLocks/>
          </p:cNvSpPr>
          <p:nvPr/>
        </p:nvSpPr>
        <p:spPr bwMode="auto">
          <a:xfrm flipH="1">
            <a:off x="4295104" y="2622155"/>
            <a:ext cx="1694674" cy="15059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63" y="115"/>
              </a:cxn>
              <a:cxn ang="0">
                <a:pos x="658" y="148"/>
              </a:cxn>
            </a:cxnLst>
            <a:rect l="0" t="0" r="r" b="b"/>
            <a:pathLst>
              <a:path w="658" h="148">
                <a:moveTo>
                  <a:pt x="0" y="0"/>
                </a:moveTo>
                <a:cubicBezTo>
                  <a:pt x="76" y="45"/>
                  <a:pt x="153" y="90"/>
                  <a:pt x="263" y="115"/>
                </a:cubicBezTo>
                <a:cubicBezTo>
                  <a:pt x="373" y="140"/>
                  <a:pt x="515" y="144"/>
                  <a:pt x="658" y="14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6582922" y="2844251"/>
            <a:ext cx="228600" cy="596279"/>
          </a:xfrm>
          <a:custGeom>
            <a:avLst/>
            <a:gdLst>
              <a:gd name="connsiteX0" fmla="*/ 0 w 170121"/>
              <a:gd name="connsiteY0" fmla="*/ 0 h 393404"/>
              <a:gd name="connsiteX1" fmla="*/ 170121 w 170121"/>
              <a:gd name="connsiteY1" fmla="*/ 212651 h 393404"/>
              <a:gd name="connsiteX2" fmla="*/ 0 w 170121"/>
              <a:gd name="connsiteY2" fmla="*/ 393404 h 39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21" h="393404">
                <a:moveTo>
                  <a:pt x="0" y="0"/>
                </a:moveTo>
                <a:cubicBezTo>
                  <a:pt x="85060" y="73542"/>
                  <a:pt x="170121" y="147084"/>
                  <a:pt x="170121" y="212651"/>
                </a:cubicBezTo>
                <a:cubicBezTo>
                  <a:pt x="170121" y="278218"/>
                  <a:pt x="85060" y="335811"/>
                  <a:pt x="0" y="39340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6067" y="3738294"/>
            <a:ext cx="5103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Loads/Stores can appear to be ordered differently to other processors  </a:t>
            </a:r>
          </a:p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                ==&gt; violate SC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15772" y="5015684"/>
            <a:ext cx="6385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systems only enforce </a:t>
            </a:r>
            <a:r>
              <a:rPr lang="en-US" i="1" dirty="0"/>
              <a:t>FIFO ordering for the stores to the same address</a:t>
            </a:r>
            <a:r>
              <a:rPr lang="en-US" dirty="0"/>
              <a:t> while</a:t>
            </a:r>
          </a:p>
          <a:p>
            <a:r>
              <a:rPr lang="en-US"/>
              <a:t>moving a store from store buffer to memory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7D69608-23B1-A3EA-DE04-B7D2B275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39AF2E-C255-A84B-77DC-17C9A64C1E3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1FD85-D86A-AB11-BD5C-2D9488F9F2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08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2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8220" grpId="0" animBg="1"/>
      <p:bldP spid="6" grpId="0" animBg="1"/>
      <p:bldP spid="7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290" name="Rectangle 2"/>
          <p:cNvSpPr>
            <a:spLocks noChangeArrowheads="1"/>
          </p:cNvSpPr>
          <p:nvPr/>
        </p:nvSpPr>
        <p:spPr bwMode="auto">
          <a:xfrm>
            <a:off x="1358900" y="3901768"/>
            <a:ext cx="7391400" cy="12240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i="1" dirty="0"/>
              <a:t>Sequential consistency:</a:t>
            </a:r>
          </a:p>
          <a:p>
            <a:pPr>
              <a:spcBef>
                <a:spcPct val="20000"/>
              </a:spcBef>
            </a:pPr>
            <a:endParaRPr lang="en-US" i="1" dirty="0">
              <a:solidFill>
                <a:srgbClr val="56127A"/>
              </a:solidFill>
              <a:latin typeface="Verdana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i="1" dirty="0">
                <a:solidFill>
                  <a:srgbClr val="56127A"/>
                </a:solidFill>
                <a:latin typeface="Verdana" pitchFamily="34" charset="0"/>
              </a:rPr>
              <a:t>With FIFO store buffers: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i="1" dirty="0">
              <a:solidFill>
                <a:srgbClr val="56127A"/>
              </a:solidFill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i="1" dirty="0">
                <a:solidFill>
                  <a:srgbClr val="56127A"/>
                </a:solidFill>
              </a:rPr>
              <a:t>With non-FIFO store buffers: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932291" name="Rectangle 3"/>
          <p:cNvSpPr>
            <a:spLocks noChangeArrowheads="1"/>
          </p:cNvSpPr>
          <p:nvPr/>
        </p:nvSpPr>
        <p:spPr bwMode="auto">
          <a:xfrm>
            <a:off x="533400" y="1752600"/>
            <a:ext cx="7620000" cy="152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en-US" i="1" u="sng" dirty="0">
                <a:latin typeface="Verdana" pitchFamily="34" charset="0"/>
              </a:rPr>
              <a:t>		Process 1			Process 2	</a:t>
            </a:r>
            <a:endParaRPr lang="en-US" dirty="0">
              <a:latin typeface="Verdana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en-US" dirty="0">
                <a:latin typeface="Verdana" pitchFamily="34" charset="0"/>
              </a:rPr>
              <a:t>		</a:t>
            </a:r>
            <a:r>
              <a:rPr lang="en-US" sz="2000" dirty="0">
                <a:latin typeface="Verdana" pitchFamily="34" charset="0"/>
              </a:rPr>
              <a:t>Store X, 1;			Load </a:t>
            </a:r>
            <a:r>
              <a:rPr lang="en-US" dirty="0"/>
              <a:t>R</a:t>
            </a:r>
            <a:r>
              <a:rPr lang="en-US" sz="2000" baseline="-25000" dirty="0"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, Y; 		Store Y, </a:t>
            </a:r>
            <a:r>
              <a:rPr lang="en-US" dirty="0"/>
              <a:t>2</a:t>
            </a:r>
            <a:r>
              <a:rPr lang="en-US" sz="2000" dirty="0">
                <a:latin typeface="Verdana" pitchFamily="34" charset="0"/>
              </a:rPr>
              <a:t>;			Load R</a:t>
            </a:r>
            <a:r>
              <a:rPr lang="en-US" sz="2000" baseline="-25000" dirty="0"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, X;</a:t>
            </a:r>
            <a:r>
              <a:rPr lang="en-US" sz="1800" dirty="0">
                <a:latin typeface="Verdana" pitchFamily="34" charset="0"/>
              </a:rPr>
              <a:t>	</a:t>
            </a:r>
          </a:p>
        </p:txBody>
      </p:sp>
      <p:sp>
        <p:nvSpPr>
          <p:cNvPr id="19322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Violations of SC</a:t>
            </a:r>
            <a:br>
              <a:rPr lang="en-US" dirty="0"/>
            </a:br>
            <a:r>
              <a:rPr lang="en-US" sz="2400" dirty="0"/>
              <a:t>Example 1</a:t>
            </a:r>
          </a:p>
        </p:txBody>
      </p:sp>
      <p:sp>
        <p:nvSpPr>
          <p:cNvPr id="1932294" name="Rectangle 6"/>
          <p:cNvSpPr>
            <a:spLocks noChangeArrowheads="1"/>
          </p:cNvSpPr>
          <p:nvPr/>
        </p:nvSpPr>
        <p:spPr bwMode="auto">
          <a:xfrm>
            <a:off x="952500" y="3343272"/>
            <a:ext cx="752951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i="1" dirty="0">
                <a:latin typeface="Verdana" pitchFamily="34" charset="0"/>
              </a:rPr>
              <a:t>Question:  Is it possible that  R</a:t>
            </a:r>
            <a:r>
              <a:rPr lang="en-US" i="1" baseline="-25000" dirty="0">
                <a:latin typeface="Verdana" pitchFamily="34" charset="0"/>
              </a:rPr>
              <a:t>1</a:t>
            </a:r>
            <a:r>
              <a:rPr lang="en-US" i="1" dirty="0">
                <a:latin typeface="Verdana" pitchFamily="34" charset="0"/>
              </a:rPr>
              <a:t>=2 but R</a:t>
            </a:r>
            <a:r>
              <a:rPr lang="en-US" i="1" baseline="-25000" dirty="0">
                <a:latin typeface="Verdana" pitchFamily="34" charset="0"/>
              </a:rPr>
              <a:t>2</a:t>
            </a:r>
            <a:r>
              <a:rPr lang="en-US" i="1" dirty="0">
                <a:latin typeface="Verdana" pitchFamily="34" charset="0"/>
              </a:rPr>
              <a:t>=0?</a:t>
            </a:r>
            <a:endParaRPr lang="en-US" sz="2000" dirty="0">
              <a:solidFill>
                <a:srgbClr val="008000"/>
              </a:solidFill>
              <a:latin typeface="Verdan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16628" y="3903537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Verdana" pitchFamily="34" charset="0"/>
              </a:rPr>
              <a:t>No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73526" y="4627137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Verdana" pitchFamily="34" charset="0"/>
              </a:rPr>
              <a:t>No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6A65E-A0F9-2BF3-69E4-EDA9BF15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2F595-3723-A2FE-9D37-7652C243B8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DAD0EB-2172-A7DC-D229-2ECE38EAB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1FC6F-85F5-7AD1-1876-51550D7F10C4}"/>
              </a:ext>
            </a:extLst>
          </p:cNvPr>
          <p:cNvSpPr txBox="1"/>
          <p:nvPr/>
        </p:nvSpPr>
        <p:spPr>
          <a:xfrm>
            <a:off x="5573526" y="5387727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Verdana" pitchFamily="34" charset="0"/>
              </a:rPr>
              <a:t>Yes</a:t>
            </a:r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AD1E7A6-36C8-C7EC-57A1-C2562E0D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22975"/>
            <a:ext cx="2528888" cy="600075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dirty="0">
                <a:solidFill>
                  <a:srgbClr val="777777"/>
                </a:solidFill>
                <a:latin typeface="Verdana" pitchFamily="34" charset="0"/>
              </a:rPr>
              <a:t>Initially, all memory </a:t>
            </a:r>
          </a:p>
          <a:p>
            <a:pPr eaLnBrk="0" hangingPunct="0"/>
            <a:r>
              <a:rPr lang="en-US" sz="1600" dirty="0">
                <a:solidFill>
                  <a:srgbClr val="777777"/>
                </a:solidFill>
                <a:latin typeface="Verdana" pitchFamily="34" charset="0"/>
              </a:rPr>
              <a:t>locations contain zeros</a:t>
            </a:r>
          </a:p>
        </p:txBody>
      </p:sp>
    </p:spTree>
    <p:extLst>
      <p:ext uri="{BB962C8B-B14F-4D97-AF65-F5344CB8AC3E}">
        <p14:creationId xmlns:p14="http://schemas.microsoft.com/office/powerpoint/2010/main" val="62887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3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3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3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2290" grpId="0" uiExpand="1" build="p" autoUpdateAnimBg="0"/>
      <p:bldP spid="10" grpId="0"/>
      <p:bldP spid="11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218" name="Rectangle 2"/>
          <p:cNvSpPr>
            <a:spLocks noChangeArrowheads="1"/>
          </p:cNvSpPr>
          <p:nvPr/>
        </p:nvSpPr>
        <p:spPr bwMode="auto">
          <a:xfrm>
            <a:off x="1264444" y="3846089"/>
            <a:ext cx="73787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0" hangingPunct="0">
              <a:buFontTx/>
              <a:buChar char="•"/>
            </a:pPr>
            <a:r>
              <a:rPr lang="en-US" i="1" dirty="0"/>
              <a:t>Sequential consistency:</a:t>
            </a:r>
          </a:p>
          <a:p>
            <a:pPr marL="342900" indent="-342900" eaLnBrk="0" hangingPunct="0">
              <a:buFontTx/>
              <a:buChar char="•"/>
            </a:pPr>
            <a:endParaRPr lang="en-US" i="1" dirty="0"/>
          </a:p>
          <a:p>
            <a:pPr marL="342900" indent="-342900" eaLnBrk="0" hangingPunct="0">
              <a:buFontTx/>
              <a:buChar char="•"/>
            </a:pPr>
            <a:r>
              <a:rPr lang="en-US" i="1" dirty="0">
                <a:solidFill>
                  <a:srgbClr val="56127A"/>
                </a:solidFill>
                <a:latin typeface="Verdana" pitchFamily="34" charset="0"/>
              </a:rPr>
              <a:t>Suppose Stores don’t leave the store buffers before the Loads are executed:</a:t>
            </a:r>
            <a:r>
              <a:rPr lang="en-US" i="1" dirty="0">
                <a:solidFill>
                  <a:schemeClr val="tx2"/>
                </a:solidFill>
                <a:latin typeface="Verdana" pitchFamily="34" charset="0"/>
              </a:rPr>
              <a:t> </a:t>
            </a:r>
            <a:r>
              <a:rPr lang="en-US" sz="1800" i="1" dirty="0">
                <a:solidFill>
                  <a:schemeClr val="tx2"/>
                </a:solidFill>
                <a:latin typeface="Verdana" pitchFamily="34" charset="0"/>
              </a:rPr>
              <a:t>	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solidFill>
                <a:srgbClr val="008000"/>
              </a:solidFill>
              <a:latin typeface="Verdana" pitchFamily="34" charset="0"/>
            </a:endParaRPr>
          </a:p>
        </p:txBody>
      </p:sp>
      <p:sp>
        <p:nvSpPr>
          <p:cNvPr id="1929219" name="Rectangle 3"/>
          <p:cNvSpPr>
            <a:spLocks noChangeArrowheads="1"/>
          </p:cNvSpPr>
          <p:nvPr/>
        </p:nvSpPr>
        <p:spPr bwMode="auto">
          <a:xfrm>
            <a:off x="533400" y="1752600"/>
            <a:ext cx="7620000" cy="175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</a:pPr>
            <a:r>
              <a:rPr lang="en-US" i="1" u="sng" dirty="0">
                <a:latin typeface="Verdana" pitchFamily="34" charset="0"/>
              </a:rPr>
              <a:t>		Process 1			Process 2	</a:t>
            </a:r>
            <a:endParaRPr lang="en-US" dirty="0">
              <a:latin typeface="Verdana" pitchFamily="34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Verdana" pitchFamily="34" charset="0"/>
              </a:rPr>
              <a:t>		</a:t>
            </a:r>
            <a:r>
              <a:rPr lang="en-US" sz="2000" dirty="0">
                <a:latin typeface="Verdana" pitchFamily="34" charset="0"/>
              </a:rPr>
              <a:t>Store X, 1;			Store Y, </a:t>
            </a:r>
            <a:r>
              <a:rPr lang="en-US" dirty="0"/>
              <a:t>2</a:t>
            </a:r>
            <a:r>
              <a:rPr lang="en-US" sz="2000" dirty="0">
                <a:latin typeface="Verdana" pitchFamily="34" charset="0"/>
              </a:rPr>
              <a:t>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Verdana" pitchFamily="34" charset="0"/>
              </a:rPr>
              <a:t>		Load R</a:t>
            </a:r>
            <a:r>
              <a:rPr lang="en-US" sz="2000" baseline="-25000" dirty="0"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, Y;			Load R</a:t>
            </a:r>
            <a:r>
              <a:rPr lang="en-US" sz="2000" baseline="-25000" dirty="0"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, X;</a:t>
            </a:r>
            <a:r>
              <a:rPr lang="en-US" sz="2000" dirty="0">
                <a:solidFill>
                  <a:srgbClr val="56127A"/>
                </a:solidFill>
                <a:latin typeface="Verdana" pitchFamily="34" charset="0"/>
              </a:rPr>
              <a:t>	</a:t>
            </a:r>
          </a:p>
        </p:txBody>
      </p:sp>
      <p:sp>
        <p:nvSpPr>
          <p:cNvPr id="1929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Violations of SC</a:t>
            </a:r>
            <a:br>
              <a:rPr lang="en-US" dirty="0"/>
            </a:br>
            <a:r>
              <a:rPr lang="en-US" sz="2400" dirty="0"/>
              <a:t>Example 2</a:t>
            </a:r>
          </a:p>
        </p:txBody>
      </p:sp>
      <p:sp>
        <p:nvSpPr>
          <p:cNvPr id="1929221" name="Text Box 5"/>
          <p:cNvSpPr txBox="1">
            <a:spLocks noChangeArrowheads="1"/>
          </p:cNvSpPr>
          <p:nvPr/>
        </p:nvSpPr>
        <p:spPr bwMode="auto">
          <a:xfrm>
            <a:off x="0" y="6022975"/>
            <a:ext cx="2528888" cy="600075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dirty="0">
                <a:solidFill>
                  <a:srgbClr val="777777"/>
                </a:solidFill>
                <a:latin typeface="Verdana" pitchFamily="34" charset="0"/>
              </a:rPr>
              <a:t>Initially, all memory </a:t>
            </a:r>
          </a:p>
          <a:p>
            <a:pPr eaLnBrk="0" hangingPunct="0"/>
            <a:r>
              <a:rPr lang="en-US" sz="1600" dirty="0">
                <a:solidFill>
                  <a:srgbClr val="777777"/>
                </a:solidFill>
                <a:latin typeface="Verdana" pitchFamily="34" charset="0"/>
              </a:rPr>
              <a:t>locations contain zeros</a:t>
            </a:r>
          </a:p>
        </p:txBody>
      </p:sp>
      <p:sp>
        <p:nvSpPr>
          <p:cNvPr id="1929222" name="Rectangle 6"/>
          <p:cNvSpPr>
            <a:spLocks noChangeArrowheads="1"/>
          </p:cNvSpPr>
          <p:nvPr/>
        </p:nvSpPr>
        <p:spPr bwMode="auto">
          <a:xfrm>
            <a:off x="842963" y="3388690"/>
            <a:ext cx="752951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i="1" dirty="0">
                <a:latin typeface="Verdana" pitchFamily="34" charset="0"/>
              </a:rPr>
              <a:t>Question:  Is it possible that </a:t>
            </a:r>
            <a:r>
              <a:rPr lang="en-US" i="1" dirty="0"/>
              <a:t>R</a:t>
            </a:r>
            <a:r>
              <a:rPr lang="en-US" i="1" baseline="-25000" dirty="0">
                <a:latin typeface="Verdana" pitchFamily="34" charset="0"/>
              </a:rPr>
              <a:t>1</a:t>
            </a:r>
            <a:r>
              <a:rPr lang="en-US" i="1" dirty="0">
                <a:latin typeface="Verdana" pitchFamily="34" charset="0"/>
              </a:rPr>
              <a:t>=0 and R</a:t>
            </a:r>
            <a:r>
              <a:rPr lang="en-US" i="1" baseline="-25000" dirty="0">
                <a:latin typeface="Verdana" pitchFamily="34" charset="0"/>
              </a:rPr>
              <a:t>2</a:t>
            </a:r>
            <a:r>
              <a:rPr lang="en-US" i="1" dirty="0">
                <a:latin typeface="Verdana" pitchFamily="34" charset="0"/>
              </a:rPr>
              <a:t>=0?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3729" y="3838969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Verdana" pitchFamily="34" charset="0"/>
              </a:rPr>
              <a:t>No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54045" y="475336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Verdana" pitchFamily="34" charset="0"/>
              </a:rPr>
              <a:t>Yes !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54CE4-5BD6-C67E-7346-75AC5AFD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3110E-100D-C563-C3A1-68E454783B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68683-0AC6-8B6A-E443-3CB219C2C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36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Practical Producer-Consumer Example </a:t>
            </a:r>
            <a:r>
              <a:rPr lang="en-US" sz="2400" i="1" dirty="0"/>
              <a:t>continued</a:t>
            </a:r>
            <a:endParaRPr lang="en-US" dirty="0"/>
          </a:p>
        </p:txBody>
      </p:sp>
      <p:grpSp>
        <p:nvGrpSpPr>
          <p:cNvPr id="10245" name="Group 3"/>
          <p:cNvGrpSpPr>
            <a:grpSpLocks/>
          </p:cNvGrpSpPr>
          <p:nvPr/>
        </p:nvGrpSpPr>
        <p:grpSpPr bwMode="auto">
          <a:xfrm>
            <a:off x="750460" y="1558925"/>
            <a:ext cx="3379787" cy="1616075"/>
            <a:chOff x="245" y="2214"/>
            <a:chExt cx="2129" cy="1018"/>
          </a:xfrm>
        </p:grpSpPr>
        <p:sp>
          <p:nvSpPr>
            <p:cNvPr id="10257" name="Rectangle 4"/>
            <p:cNvSpPr>
              <a:spLocks noChangeArrowheads="1"/>
            </p:cNvSpPr>
            <p:nvPr/>
          </p:nvSpPr>
          <p:spPr bwMode="auto">
            <a:xfrm>
              <a:off x="809" y="3027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10258" name="Rectangle 5"/>
            <p:cNvSpPr>
              <a:spLocks noChangeArrowheads="1"/>
            </p:cNvSpPr>
            <p:nvPr/>
          </p:nvSpPr>
          <p:spPr bwMode="auto">
            <a:xfrm>
              <a:off x="802" y="2645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10259" name="Text Box 6"/>
            <p:cNvSpPr txBox="1">
              <a:spLocks noChangeArrowheads="1"/>
            </p:cNvSpPr>
            <p:nvPr/>
          </p:nvSpPr>
          <p:spPr bwMode="auto">
            <a:xfrm>
              <a:off x="245" y="2214"/>
              <a:ext cx="2129" cy="10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Producer posting Item x: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, (tail)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(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), x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=R</a:t>
              </a:r>
              <a:r>
                <a:rPr lang="en-US" sz="2000" baseline="-25000" dirty="0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+1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tail,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endParaRPr lang="en-US" sz="2000" dirty="0">
                <a:latin typeface="Verdana" pitchFamily="34" charset="0"/>
              </a:endParaRPr>
            </a:p>
          </p:txBody>
        </p:sp>
      </p:grpSp>
      <p:grpSp>
        <p:nvGrpSpPr>
          <p:cNvPr id="10246" name="Group 7"/>
          <p:cNvGrpSpPr>
            <a:grpSpLocks/>
          </p:cNvGrpSpPr>
          <p:nvPr/>
        </p:nvGrpSpPr>
        <p:grpSpPr bwMode="auto">
          <a:xfrm>
            <a:off x="4897439" y="1558926"/>
            <a:ext cx="4065588" cy="2554288"/>
            <a:chOff x="3269" y="2070"/>
            <a:chExt cx="2561" cy="1609"/>
          </a:xfrm>
        </p:grpSpPr>
        <p:sp>
          <p:nvSpPr>
            <p:cNvPr id="10254" name="Rectangle 8"/>
            <p:cNvSpPr>
              <a:spLocks noChangeArrowheads="1"/>
            </p:cNvSpPr>
            <p:nvPr/>
          </p:nvSpPr>
          <p:spPr bwMode="auto">
            <a:xfrm>
              <a:off x="3849" y="2875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10255" name="Rectangle 9"/>
            <p:cNvSpPr>
              <a:spLocks noChangeArrowheads="1"/>
            </p:cNvSpPr>
            <p:nvPr/>
          </p:nvSpPr>
          <p:spPr bwMode="auto">
            <a:xfrm>
              <a:off x="3842" y="2493"/>
              <a:ext cx="1285" cy="186"/>
            </a:xfrm>
            <a:prstGeom prst="rect">
              <a:avLst/>
            </a:prstGeom>
            <a:solidFill>
              <a:srgbClr val="CFBDC8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10256" name="Text Box 10"/>
            <p:cNvSpPr txBox="1">
              <a:spLocks noChangeArrowheads="1"/>
            </p:cNvSpPr>
            <p:nvPr/>
          </p:nvSpPr>
          <p:spPr bwMode="auto">
            <a:xfrm>
              <a:off x="3269" y="2070"/>
              <a:ext cx="2561" cy="160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Verdana" pitchFamily="34" charset="0"/>
                </a:rPr>
                <a:t>Consumer: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, head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spin:	Load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dirty="0">
                  <a:latin typeface="Verdana" pitchFamily="34" charset="0"/>
                </a:rPr>
                <a:t>, tail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if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==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tail</a:t>
              </a:r>
              <a:r>
                <a:rPr lang="en-US" sz="2000" baseline="-25000" dirty="0">
                  <a:latin typeface="Verdana" pitchFamily="34" charset="0"/>
                </a:rPr>
                <a:t> </a:t>
              </a:r>
              <a:r>
                <a:rPr lang="en-US" sz="2000" dirty="0" err="1">
                  <a:latin typeface="Verdana" pitchFamily="34" charset="0"/>
                </a:rPr>
                <a:t>goto</a:t>
              </a:r>
              <a:r>
                <a:rPr lang="en-US" sz="2000" dirty="0">
                  <a:latin typeface="Verdana" pitchFamily="34" charset="0"/>
                </a:rPr>
                <a:t> spin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Load R, (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)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=R</a:t>
              </a:r>
              <a:r>
                <a:rPr lang="en-US" sz="2000" baseline="-25000" dirty="0">
                  <a:latin typeface="Verdana" pitchFamily="34" charset="0"/>
                </a:rPr>
                <a:t>head</a:t>
              </a:r>
              <a:r>
                <a:rPr lang="en-US" sz="2000" dirty="0">
                  <a:latin typeface="Verdana" pitchFamily="34" charset="0"/>
                </a:rPr>
                <a:t>+1</a:t>
              </a: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Store head, </a:t>
              </a:r>
              <a:r>
                <a:rPr lang="en-US" sz="2000" dirty="0" err="1">
                  <a:latin typeface="Verdana" pitchFamily="34" charset="0"/>
                </a:rPr>
                <a:t>R</a:t>
              </a:r>
              <a:r>
                <a:rPr lang="en-US" sz="2000" baseline="-25000" dirty="0" err="1">
                  <a:latin typeface="Verdana" pitchFamily="34" charset="0"/>
                </a:rPr>
                <a:t>head</a:t>
              </a:r>
              <a:endParaRPr lang="en-US" sz="2000" dirty="0">
                <a:latin typeface="Verdana" pitchFamily="34" charset="0"/>
              </a:endParaRPr>
            </a:p>
            <a:p>
              <a:pPr eaLnBrk="0" hangingPunct="0"/>
              <a:r>
                <a:rPr lang="en-US" sz="2000" dirty="0">
                  <a:latin typeface="Verdana" pitchFamily="34" charset="0"/>
                </a:rPr>
                <a:t>	process(R)</a:t>
              </a:r>
            </a:p>
          </p:txBody>
        </p:sp>
      </p:grpSp>
      <p:sp>
        <p:nvSpPr>
          <p:cNvPr id="10247" name="Text Box 11"/>
          <p:cNvSpPr txBox="1">
            <a:spLocks noChangeArrowheads="1"/>
          </p:cNvSpPr>
          <p:nvPr/>
        </p:nvSpPr>
        <p:spPr bwMode="auto">
          <a:xfrm>
            <a:off x="584200" y="3502025"/>
            <a:ext cx="4276725" cy="711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i="1" dirty="0">
                <a:solidFill>
                  <a:srgbClr val="C00000"/>
                </a:solidFill>
                <a:latin typeface="Verdana" pitchFamily="34" charset="0"/>
              </a:rPr>
              <a:t>Can the tail pointer get updated</a:t>
            </a:r>
          </a:p>
          <a:p>
            <a:pPr eaLnBrk="0" hangingPunct="0"/>
            <a:r>
              <a:rPr lang="en-US" sz="2000" i="1" dirty="0">
                <a:solidFill>
                  <a:srgbClr val="C00000"/>
                </a:solidFill>
                <a:latin typeface="Verdana" pitchFamily="34" charset="0"/>
              </a:rPr>
              <a:t>before the item x is stored?</a:t>
            </a:r>
          </a:p>
        </p:txBody>
      </p:sp>
      <p:sp>
        <p:nvSpPr>
          <p:cNvPr id="1796108" name="Text Box 12"/>
          <p:cNvSpPr txBox="1">
            <a:spLocks noChangeArrowheads="1"/>
          </p:cNvSpPr>
          <p:nvPr/>
        </p:nvSpPr>
        <p:spPr bwMode="auto">
          <a:xfrm>
            <a:off x="622300" y="4402138"/>
            <a:ext cx="7902575" cy="1949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Programmer assumes that if 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3 </a:t>
            </a:r>
            <a:r>
              <a:rPr lang="en-US" sz="2000" dirty="0">
                <a:latin typeface="Verdana" pitchFamily="34" charset="0"/>
              </a:rPr>
              <a:t>happens after 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2</a:t>
            </a:r>
            <a:r>
              <a:rPr lang="en-US" sz="2000" dirty="0">
                <a:latin typeface="Verdana" pitchFamily="34" charset="0"/>
              </a:rPr>
              <a:t>, then 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4</a:t>
            </a:r>
            <a:r>
              <a:rPr lang="en-US" sz="2000" dirty="0">
                <a:latin typeface="Verdana" pitchFamily="34" charset="0"/>
              </a:rPr>
              <a:t> happens after 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1</a:t>
            </a:r>
            <a:r>
              <a:rPr lang="en-US" sz="2000" dirty="0">
                <a:latin typeface="Verdana" pitchFamily="34" charset="0"/>
              </a:rPr>
              <a:t>.</a:t>
            </a:r>
          </a:p>
          <a:p>
            <a:pPr eaLnBrk="0" hangingPunct="0"/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Problem sequences:</a:t>
            </a:r>
          </a:p>
          <a:p>
            <a:pPr lvl="1" eaLnBrk="0" hangingPunct="0"/>
            <a:r>
              <a:rPr lang="en-US" sz="2000" dirty="0">
                <a:latin typeface="Verdana" pitchFamily="34" charset="0"/>
              </a:rPr>
              <a:t>		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2, 3, 4, 1</a:t>
            </a:r>
          </a:p>
          <a:p>
            <a:pPr lvl="1" eaLnBrk="0" hangingPunct="0"/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		4, 1, 2, 3</a:t>
            </a:r>
          </a:p>
        </p:txBody>
      </p:sp>
      <p:sp>
        <p:nvSpPr>
          <p:cNvPr id="10249" name="Text Box 13"/>
          <p:cNvSpPr txBox="1">
            <a:spLocks noChangeArrowheads="1"/>
          </p:cNvSpPr>
          <p:nvPr/>
        </p:nvSpPr>
        <p:spPr bwMode="auto">
          <a:xfrm>
            <a:off x="1050348" y="2152650"/>
            <a:ext cx="34607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  <a:latin typeface="Verdana" pitchFamily="34" charset="0"/>
              </a:rPr>
              <a:t>1</a:t>
            </a:r>
          </a:p>
        </p:txBody>
      </p:sp>
      <p:sp>
        <p:nvSpPr>
          <p:cNvPr id="10250" name="Text Box 14"/>
          <p:cNvSpPr txBox="1">
            <a:spLocks noChangeArrowheads="1"/>
          </p:cNvSpPr>
          <p:nvPr/>
        </p:nvSpPr>
        <p:spPr bwMode="auto">
          <a:xfrm>
            <a:off x="1050348" y="2787650"/>
            <a:ext cx="34607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>
                <a:solidFill>
                  <a:srgbClr val="FF0000"/>
                </a:solidFill>
                <a:latin typeface="Verdana" pitchFamily="34" charset="0"/>
              </a:rPr>
              <a:t>2</a:t>
            </a:r>
          </a:p>
        </p:txBody>
      </p:sp>
      <p:sp>
        <p:nvSpPr>
          <p:cNvPr id="10251" name="Text Box 15"/>
          <p:cNvSpPr txBox="1">
            <a:spLocks noChangeArrowheads="1"/>
          </p:cNvSpPr>
          <p:nvPr/>
        </p:nvSpPr>
        <p:spPr bwMode="auto">
          <a:xfrm>
            <a:off x="8188325" y="2152650"/>
            <a:ext cx="34607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>
                <a:solidFill>
                  <a:srgbClr val="FF0000"/>
                </a:solidFill>
                <a:latin typeface="Verdana" pitchFamily="34" charset="0"/>
              </a:rPr>
              <a:t>3</a:t>
            </a:r>
          </a:p>
        </p:txBody>
      </p:sp>
      <p:sp>
        <p:nvSpPr>
          <p:cNvPr id="10252" name="Text Box 16"/>
          <p:cNvSpPr txBox="1">
            <a:spLocks noChangeArrowheads="1"/>
          </p:cNvSpPr>
          <p:nvPr/>
        </p:nvSpPr>
        <p:spPr bwMode="auto">
          <a:xfrm>
            <a:off x="8188325" y="2787650"/>
            <a:ext cx="34607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>
                <a:solidFill>
                  <a:srgbClr val="FF0000"/>
                </a:solidFill>
                <a:latin typeface="Verdana" pitchFamily="34" charset="0"/>
              </a:rPr>
              <a:t>4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B308A-25B3-3DEE-29E1-F61B9E17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DDE44-00C4-C45D-14CC-F39382EC19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21AD2-577B-7AAE-9F9C-8B44E5904E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32CD0-5027-B96F-3554-DA2D3CA4ABD8}"/>
              </a:ext>
            </a:extLst>
          </p:cNvPr>
          <p:cNvSpPr txBox="1"/>
          <p:nvPr/>
        </p:nvSpPr>
        <p:spPr>
          <a:xfrm>
            <a:off x="4316412" y="5732534"/>
            <a:ext cx="406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do we determine which sequences are allowed?</a:t>
            </a:r>
          </a:p>
        </p:txBody>
      </p:sp>
    </p:spTree>
    <p:extLst>
      <p:ext uri="{BB962C8B-B14F-4D97-AF65-F5344CB8AC3E}">
        <p14:creationId xmlns:p14="http://schemas.microsoft.com/office/powerpoint/2010/main" val="261401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6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6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6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6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6108" grpId="0" build="p" bldLvl="2" autoUpdateAnimBg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8007-7C5B-0554-70BA-34695F4E5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dirty="0"/>
              <a:t>Memory Consistency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CE0D-938E-99DF-B21F-4E0B2EBC1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practice, processors use “weaker” memory models than SC</a:t>
            </a:r>
          </a:p>
          <a:p>
            <a:pPr lvl="1"/>
            <a:r>
              <a:rPr lang="en-US" sz="2000" dirty="0"/>
              <a:t>Why?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“Memory Consistency Model” </a:t>
            </a:r>
            <a:r>
              <a:rPr lang="en-US" sz="2400" i="1" dirty="0"/>
              <a:t>(aka Memory Model)</a:t>
            </a:r>
            <a:r>
              <a:rPr lang="en-US" sz="2400" dirty="0"/>
              <a:t> describes what values can be returned by load instructions across concurrent processes/threads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65C2-1AA5-B258-87A5-5BF5EEA9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955F1-6FB3-E348-B6AB-598079D499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38BBD-E9EF-09A8-BBA0-DBCB6580D3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3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dirty="0"/>
              <a:t>TSO: A memory model for machines with store buffers  </a:t>
            </a:r>
            <a:endParaRPr lang="en-US" i="1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483733" y="4152674"/>
            <a:ext cx="8023577" cy="2566731"/>
          </a:xfrm>
        </p:spPr>
        <p:txBody>
          <a:bodyPr/>
          <a:lstStyle/>
          <a:p>
            <a:r>
              <a:rPr lang="en-US" sz="2000" dirty="0"/>
              <a:t>A store first goes into the Store buffer (SB)</a:t>
            </a:r>
          </a:p>
          <a:p>
            <a:r>
              <a:rPr lang="en-US" sz="2000" dirty="0"/>
              <a:t>A load reads the youngest corresponding entry from SB before reading the memory</a:t>
            </a:r>
          </a:p>
          <a:p>
            <a:r>
              <a:rPr lang="en-US" sz="2000" dirty="0"/>
              <a:t>A store is </a:t>
            </a:r>
            <a:r>
              <a:rPr lang="en-US" sz="2000" dirty="0" err="1"/>
              <a:t>dequeued</a:t>
            </a:r>
            <a:r>
              <a:rPr lang="en-US" sz="2000" dirty="0"/>
              <a:t> from the SB in FIFO order to update the monolithic memory (</a:t>
            </a:r>
            <a:r>
              <a:rPr lang="en-US" sz="2000" i="1" dirty="0"/>
              <a:t>background rule</a:t>
            </a:r>
            <a:r>
              <a:rPr lang="en-US" sz="2000" dirty="0"/>
              <a:t>)</a:t>
            </a:r>
          </a:p>
          <a:p>
            <a:r>
              <a:rPr lang="en-US" sz="2000" dirty="0"/>
              <a:t>A </a:t>
            </a:r>
            <a:r>
              <a:rPr lang="en-US" sz="2000" i="1" dirty="0"/>
              <a:t>commit fence </a:t>
            </a:r>
            <a:r>
              <a:rPr lang="en-US" sz="2000" dirty="0"/>
              <a:t>stalls local execution until SB is empty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60763" y="1494464"/>
            <a:ext cx="5768208" cy="2075142"/>
            <a:chOff x="1560764" y="1548039"/>
            <a:chExt cx="5494792" cy="2521604"/>
          </a:xfrm>
        </p:grpSpPr>
        <p:sp>
          <p:nvSpPr>
            <p:cNvPr id="38" name="TextBox 37"/>
            <p:cNvSpPr txBox="1"/>
            <p:nvPr/>
          </p:nvSpPr>
          <p:spPr>
            <a:xfrm>
              <a:off x="1730652" y="3583450"/>
              <a:ext cx="5251526" cy="4861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/>
                <a:t>Monolithic memory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81339" y="1945593"/>
              <a:ext cx="550151" cy="4861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/>
                <a:t>…</a:t>
              </a:r>
              <a:endParaRPr lang="zh-CN" altLang="en-US" sz="2000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560764" y="1548039"/>
              <a:ext cx="2291568" cy="486193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/>
                <a:t>Processor 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855088" y="1961323"/>
              <a:ext cx="1693564" cy="4861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err="1"/>
                <a:t>Reg</a:t>
              </a:r>
              <a:r>
                <a:rPr lang="en-US" altLang="zh-CN" dirty="0"/>
                <a:t> state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730652" y="1619302"/>
              <a:ext cx="1952391" cy="1836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2700079" y="3277501"/>
              <a:ext cx="3583" cy="34899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958677" y="1576262"/>
              <a:ext cx="2096879" cy="486193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/>
                <a:t>Processor 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54222" y="1961323"/>
              <a:ext cx="1693564" cy="4861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err="1"/>
                <a:t>Reg</a:t>
              </a:r>
              <a:r>
                <a:rPr lang="en-US" altLang="zh-CN" dirty="0"/>
                <a:t> state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29786" y="1619302"/>
              <a:ext cx="1952391" cy="1836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999213" y="3298767"/>
              <a:ext cx="3583" cy="34899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040456" y="2586504"/>
              <a:ext cx="1322829" cy="785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800" dirty="0"/>
                <a:t>Store</a:t>
              </a:r>
            </a:p>
            <a:p>
              <a:pPr algn="ctr"/>
              <a:r>
                <a:rPr lang="en-US" altLang="zh-CN" sz="1800" dirty="0"/>
                <a:t>buffer 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331101" y="2604290"/>
              <a:ext cx="1339806" cy="785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800" dirty="0"/>
                <a:t>Store</a:t>
              </a:r>
            </a:p>
            <a:p>
              <a:pPr algn="ctr"/>
              <a:r>
                <a:rPr lang="en-US" altLang="zh-CN" sz="1800" dirty="0"/>
                <a:t>buffer </a:t>
              </a:r>
            </a:p>
          </p:txBody>
        </p:sp>
        <p:cxnSp>
          <p:nvCxnSpPr>
            <p:cNvPr id="50" name="Straight Arrow Connector 49"/>
            <p:cNvCxnSpPr>
              <a:endCxn id="48" idx="0"/>
            </p:cNvCxnSpPr>
            <p:nvPr/>
          </p:nvCxnSpPr>
          <p:spPr>
            <a:xfrm flipH="1">
              <a:off x="2701871" y="2345379"/>
              <a:ext cx="3544" cy="24112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5999232" y="2359556"/>
              <a:ext cx="3544" cy="24112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7412822" y="1574737"/>
            <a:ext cx="1740703" cy="1042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simple and vendor independent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1085" y="1541128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 a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80" y="2415889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a,v</a:t>
            </a:r>
            <a:r>
              <a:rPr lang="en-US" dirty="0"/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989" y="3135993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a,v</a:t>
            </a:r>
            <a:r>
              <a:rPr lang="en-US" dirty="0"/>
              <a:t>&gt;</a:t>
            </a:r>
          </a:p>
        </p:txBody>
      </p:sp>
      <p:sp>
        <p:nvSpPr>
          <p:cNvPr id="6" name="Freeform 5"/>
          <p:cNvSpPr/>
          <p:nvPr/>
        </p:nvSpPr>
        <p:spPr bwMode="auto">
          <a:xfrm>
            <a:off x="1422400" y="2032000"/>
            <a:ext cx="749300" cy="635000"/>
          </a:xfrm>
          <a:custGeom>
            <a:avLst/>
            <a:gdLst>
              <a:gd name="connsiteX0" fmla="*/ 0 w 749300"/>
              <a:gd name="connsiteY0" fmla="*/ 0 h 635000"/>
              <a:gd name="connsiteX1" fmla="*/ 152400 w 749300"/>
              <a:gd name="connsiteY1" fmla="*/ 444500 h 635000"/>
              <a:gd name="connsiteX2" fmla="*/ 749300 w 749300"/>
              <a:gd name="connsiteY2" fmla="*/ 63500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9300" h="635000">
                <a:moveTo>
                  <a:pt x="0" y="0"/>
                </a:moveTo>
                <a:cubicBezTo>
                  <a:pt x="13758" y="169333"/>
                  <a:pt x="27517" y="338667"/>
                  <a:pt x="152400" y="444500"/>
                </a:cubicBezTo>
                <a:cubicBezTo>
                  <a:pt x="277283" y="550333"/>
                  <a:pt x="513291" y="592666"/>
                  <a:pt x="749300" y="63500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1942948" y="2832100"/>
            <a:ext cx="190652" cy="520700"/>
          </a:xfrm>
          <a:custGeom>
            <a:avLst/>
            <a:gdLst>
              <a:gd name="connsiteX0" fmla="*/ 190652 w 190652"/>
              <a:gd name="connsiteY0" fmla="*/ 0 h 520700"/>
              <a:gd name="connsiteX1" fmla="*/ 152 w 190652"/>
              <a:gd name="connsiteY1" fmla="*/ 254000 h 520700"/>
              <a:gd name="connsiteX2" fmla="*/ 165252 w 190652"/>
              <a:gd name="connsiteY2" fmla="*/ 5207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652" h="520700">
                <a:moveTo>
                  <a:pt x="190652" y="0"/>
                </a:moveTo>
                <a:cubicBezTo>
                  <a:pt x="97518" y="83608"/>
                  <a:pt x="4385" y="167217"/>
                  <a:pt x="152" y="254000"/>
                </a:cubicBezTo>
                <a:cubicBezTo>
                  <a:pt x="-4081" y="340783"/>
                  <a:pt x="80585" y="430741"/>
                  <a:pt x="165252" y="52070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5373" y="3695926"/>
            <a:ext cx="479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TSO allows loads to overtake stores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986DF-5A82-B49E-75A3-E1C73D3F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3FCB2FE-EABD-0628-2909-55D95DBD87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D02F8-FDAA-3B18-0613-EA49E2D36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22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23" grpId="0"/>
      <p:bldP spid="24" grpId="0"/>
      <p:bldP spid="6" grpId="0" animBg="1"/>
      <p:bldP spid="8" grpId="0" animBg="1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 Fences</a:t>
            </a:r>
            <a:br>
              <a:rPr lang="en-US"/>
            </a:br>
            <a:r>
              <a:rPr lang="en-US" sz="2400" i="1"/>
              <a:t>Instructions to sequentialize memory accesses</a:t>
            </a:r>
            <a:endParaRPr lang="en-US" b="1" i="1"/>
          </a:p>
        </p:txBody>
      </p:sp>
      <p:sp>
        <p:nvSpPr>
          <p:cNvPr id="22533" name="Text Box 3"/>
          <p:cNvSpPr txBox="1">
            <a:spLocks noChangeArrowheads="1"/>
          </p:cNvSpPr>
          <p:nvPr/>
        </p:nvSpPr>
        <p:spPr bwMode="auto">
          <a:xfrm>
            <a:off x="684213" y="1544638"/>
            <a:ext cx="8108913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Processors which do not support SC</a:t>
            </a:r>
            <a:r>
              <a:rPr lang="en-US" dirty="0"/>
              <a:t> memory model</a:t>
            </a:r>
            <a:r>
              <a:rPr lang="en-US" sz="2000" dirty="0">
                <a:latin typeface="Verdana" pitchFamily="34" charset="0"/>
              </a:rPr>
              <a:t> provide </a:t>
            </a:r>
            <a:r>
              <a:rPr lang="en-US" sz="2000" i="1" dirty="0">
                <a:latin typeface="Verdana" pitchFamily="34" charset="0"/>
              </a:rPr>
              <a:t>memory fence </a:t>
            </a:r>
            <a:r>
              <a:rPr lang="en-US" sz="2000" dirty="0">
                <a:latin typeface="Verdana" pitchFamily="34" charset="0"/>
              </a:rPr>
              <a:t>instructions to force the serialization of memory accesses as needed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454416" y="3745620"/>
            <a:ext cx="2039937" cy="295275"/>
          </a:xfrm>
          <a:prstGeom prst="rect">
            <a:avLst/>
          </a:prstGeom>
          <a:solidFill>
            <a:srgbClr val="CFBDC8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 i="1">
              <a:solidFill>
                <a:schemeClr val="bg2"/>
              </a:solidFill>
              <a:latin typeface="Verdana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59066" y="2759782"/>
            <a:ext cx="3379787" cy="1920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Producer posting Item x: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, (tail)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Store (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), x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</a:t>
            </a:r>
            <a:r>
              <a:rPr lang="en-US" sz="2000" dirty="0" err="1">
                <a:latin typeface="Verdana" pitchFamily="34" charset="0"/>
              </a:rPr>
              <a:t>Fence</a:t>
            </a:r>
            <a:r>
              <a:rPr lang="en-US" sz="2000" baseline="-25000" dirty="0" err="1">
                <a:latin typeface="Verdana" pitchFamily="34" charset="0"/>
              </a:rPr>
              <a:t>SS</a:t>
            </a:r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	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=R</a:t>
            </a:r>
            <a:r>
              <a:rPr lang="en-US" sz="2000" baseline="-25000" dirty="0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+1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Store tail,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988316" y="3923420"/>
            <a:ext cx="2039937" cy="295275"/>
          </a:xfrm>
          <a:prstGeom prst="rect">
            <a:avLst/>
          </a:prstGeom>
          <a:solidFill>
            <a:srgbClr val="CFBDC8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 i="1">
              <a:solidFill>
                <a:schemeClr val="bg2"/>
              </a:solidFill>
              <a:latin typeface="Verdana" pitchFamily="34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067566" y="2645482"/>
            <a:ext cx="4065537" cy="28623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Verdana" pitchFamily="34" charset="0"/>
              </a:rPr>
              <a:t>Consumer: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, (head)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spin:	Load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dirty="0">
                <a:latin typeface="Verdana" pitchFamily="34" charset="0"/>
              </a:rPr>
              <a:t>, (tail)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if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==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tail</a:t>
            </a:r>
            <a:r>
              <a:rPr lang="en-US" sz="2000" baseline="-25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goto</a:t>
            </a:r>
            <a:r>
              <a:rPr lang="en-US" sz="2000" dirty="0">
                <a:latin typeface="Verdana" pitchFamily="34" charset="0"/>
              </a:rPr>
              <a:t> spin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</a:t>
            </a:r>
            <a:r>
              <a:rPr lang="en-US" sz="2000" dirty="0" err="1">
                <a:latin typeface="Verdana" pitchFamily="34" charset="0"/>
              </a:rPr>
              <a:t>Fence</a:t>
            </a:r>
            <a:r>
              <a:rPr lang="en-US" sz="2000" baseline="-25000" dirty="0" err="1">
                <a:latin typeface="Verdana" pitchFamily="34" charset="0"/>
              </a:rPr>
              <a:t>LL</a:t>
            </a:r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	Load R, (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=R</a:t>
            </a:r>
            <a:r>
              <a:rPr lang="en-US" sz="2000" baseline="-25000" dirty="0">
                <a:latin typeface="Verdana" pitchFamily="34" charset="0"/>
              </a:rPr>
              <a:t>head</a:t>
            </a:r>
            <a:r>
              <a:rPr lang="en-US" sz="2000" dirty="0">
                <a:latin typeface="Verdana" pitchFamily="34" charset="0"/>
              </a:rPr>
              <a:t>+1</a:t>
            </a:r>
          </a:p>
          <a:p>
            <a:pPr eaLnBrk="0" hangingPunct="0"/>
            <a:r>
              <a:rPr lang="en-US" sz="2000" dirty="0">
                <a:latin typeface="Verdana" pitchFamily="34" charset="0"/>
              </a:rPr>
              <a:t>	Store head, </a:t>
            </a:r>
            <a:r>
              <a:rPr lang="en-US" sz="2000" dirty="0" err="1">
                <a:latin typeface="Verdana" pitchFamily="34" charset="0"/>
              </a:rPr>
              <a:t>R</a:t>
            </a:r>
            <a:r>
              <a:rPr lang="en-US" sz="2000" baseline="-25000" dirty="0" err="1">
                <a:latin typeface="Verdana" pitchFamily="34" charset="0"/>
              </a:rPr>
              <a:t>head</a:t>
            </a:r>
            <a:endParaRPr lang="en-US" sz="2000" dirty="0">
              <a:latin typeface="Verdana" pitchFamily="34" charset="0"/>
            </a:endParaRPr>
          </a:p>
          <a:p>
            <a:pPr eaLnBrk="0" hangingPunct="0"/>
            <a:r>
              <a:rPr lang="en-US" sz="2000" dirty="0">
                <a:latin typeface="Verdana" pitchFamily="34" charset="0"/>
              </a:rPr>
              <a:t>	process(R)</a:t>
            </a:r>
          </a:p>
        </p:txBody>
      </p:sp>
      <p:grpSp>
        <p:nvGrpSpPr>
          <p:cNvPr id="12" name="Group 31"/>
          <p:cNvGrpSpPr>
            <a:grpSpLocks/>
          </p:cNvGrpSpPr>
          <p:nvPr/>
        </p:nvGrpSpPr>
        <p:grpSpPr bwMode="auto">
          <a:xfrm>
            <a:off x="330466" y="3953582"/>
            <a:ext cx="3009900" cy="1846263"/>
            <a:chOff x="101" y="2966"/>
            <a:chExt cx="1896" cy="1163"/>
          </a:xfrm>
        </p:grpSpPr>
        <p:sp>
          <p:nvSpPr>
            <p:cNvPr id="13" name="Text Box 32"/>
            <p:cNvSpPr txBox="1">
              <a:spLocks noChangeArrowheads="1"/>
            </p:cNvSpPr>
            <p:nvPr/>
          </p:nvSpPr>
          <p:spPr bwMode="auto">
            <a:xfrm>
              <a:off x="101" y="3486"/>
              <a:ext cx="1896" cy="6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i="1">
                  <a:solidFill>
                    <a:srgbClr val="007D0C"/>
                  </a:solidFill>
                  <a:latin typeface="Verdana" pitchFamily="34" charset="0"/>
                </a:rPr>
                <a:t>ensures that tail ptr</a:t>
              </a:r>
            </a:p>
            <a:p>
              <a:pPr eaLnBrk="0" hangingPunct="0"/>
              <a:r>
                <a:rPr lang="en-US" sz="2000" i="1">
                  <a:solidFill>
                    <a:srgbClr val="007D0C"/>
                  </a:solidFill>
                  <a:latin typeface="Verdana" pitchFamily="34" charset="0"/>
                </a:rPr>
                <a:t>is not updated before </a:t>
              </a:r>
            </a:p>
            <a:p>
              <a:pPr eaLnBrk="0" hangingPunct="0"/>
              <a:r>
                <a:rPr lang="en-US" sz="2000" i="1">
                  <a:solidFill>
                    <a:srgbClr val="007D0C"/>
                  </a:solidFill>
                  <a:latin typeface="Verdana" pitchFamily="34" charset="0"/>
                </a:rPr>
                <a:t>x has been stored</a:t>
              </a:r>
              <a:endParaRPr lang="en-US" sz="2000" i="1">
                <a:solidFill>
                  <a:schemeClr val="bg2"/>
                </a:solidFill>
                <a:latin typeface="Verdana" pitchFamily="34" charset="0"/>
              </a:endParaRPr>
            </a:p>
          </p:txBody>
        </p:sp>
        <p:sp>
          <p:nvSpPr>
            <p:cNvPr id="14" name="Line 33"/>
            <p:cNvSpPr>
              <a:spLocks noChangeShapeType="1"/>
            </p:cNvSpPr>
            <p:nvPr/>
          </p:nvSpPr>
          <p:spPr bwMode="auto">
            <a:xfrm flipV="1">
              <a:off x="396" y="2966"/>
              <a:ext cx="393" cy="517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34"/>
          <p:cNvGrpSpPr>
            <a:grpSpLocks/>
          </p:cNvGrpSpPr>
          <p:nvPr/>
        </p:nvGrpSpPr>
        <p:grpSpPr bwMode="auto">
          <a:xfrm>
            <a:off x="3551503" y="4064707"/>
            <a:ext cx="2524125" cy="1870075"/>
            <a:chOff x="2130" y="3036"/>
            <a:chExt cx="1590" cy="1178"/>
          </a:xfrm>
        </p:grpSpPr>
        <p:sp>
          <p:nvSpPr>
            <p:cNvPr id="16" name="Text Box 35"/>
            <p:cNvSpPr txBox="1">
              <a:spLocks noChangeArrowheads="1"/>
            </p:cNvSpPr>
            <p:nvPr/>
          </p:nvSpPr>
          <p:spPr bwMode="auto">
            <a:xfrm>
              <a:off x="2130" y="3571"/>
              <a:ext cx="1590" cy="6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i="1">
                  <a:solidFill>
                    <a:srgbClr val="007D0C"/>
                  </a:solidFill>
                  <a:latin typeface="Verdana" pitchFamily="34" charset="0"/>
                </a:rPr>
                <a:t>ensures that R is</a:t>
              </a:r>
            </a:p>
            <a:p>
              <a:pPr eaLnBrk="0" hangingPunct="0"/>
              <a:r>
                <a:rPr lang="en-US" sz="2000" i="1">
                  <a:solidFill>
                    <a:srgbClr val="007D0C"/>
                  </a:solidFill>
                  <a:latin typeface="Verdana" pitchFamily="34" charset="0"/>
                </a:rPr>
                <a:t>not loaded before </a:t>
              </a:r>
            </a:p>
            <a:p>
              <a:pPr eaLnBrk="0" hangingPunct="0"/>
              <a:r>
                <a:rPr lang="en-US" sz="2000" i="1">
                  <a:solidFill>
                    <a:srgbClr val="007D0C"/>
                  </a:solidFill>
                  <a:latin typeface="Verdana" pitchFamily="34" charset="0"/>
                </a:rPr>
                <a:t>x has been stored</a:t>
              </a:r>
            </a:p>
          </p:txBody>
        </p:sp>
        <p:sp>
          <p:nvSpPr>
            <p:cNvPr id="17" name="Line 36"/>
            <p:cNvSpPr>
              <a:spLocks noChangeShapeType="1"/>
            </p:cNvSpPr>
            <p:nvPr/>
          </p:nvSpPr>
          <p:spPr bwMode="auto">
            <a:xfrm flipV="1">
              <a:off x="3191" y="3036"/>
              <a:ext cx="489" cy="533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391786" y="6092456"/>
            <a:ext cx="516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RISC-V has one instruction called “fence”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135D47-5741-1EE0-8B45-D2725DB2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33E0F2-80C2-BED0-72BD-CCA37CA093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64C92B-EEBF-9303-1305-40C018F80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Model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182" y="1554125"/>
            <a:ext cx="7772400" cy="3145465"/>
          </a:xfrm>
        </p:spPr>
        <p:txBody>
          <a:bodyPr/>
          <a:lstStyle/>
          <a:p>
            <a:r>
              <a:rPr lang="en-US" sz="2400" dirty="0"/>
              <a:t>Architectural optimizations that are correct for uniprocessors, often violate sequential consistency and result in a new memory model for multiprocessors</a:t>
            </a:r>
          </a:p>
          <a:p>
            <a:r>
              <a:rPr lang="en-US" sz="2400" dirty="0"/>
              <a:t>Memory model issues are subtle and contentious</a:t>
            </a:r>
          </a:p>
          <a:p>
            <a:pPr lvl="1"/>
            <a:r>
              <a:rPr lang="en-US" sz="2000" dirty="0"/>
              <a:t>x86 ISA uses TSO, whose definition is easy to understand and unambiguous </a:t>
            </a:r>
          </a:p>
          <a:p>
            <a:pPr lvl="1"/>
            <a:r>
              <a:rPr lang="en-US" sz="2000" dirty="0"/>
              <a:t>ISAs for ARM, PowerPC etc. use weaker memory models and even experts don’t agree on their definitions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9BB6E-9EAE-4EA7-5F99-6E4963D6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BA671-72E7-8716-27E3-58F225AF67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AD66A-624E-2761-AD4C-0B3D87EF4C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5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 and Caches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214" y="1595907"/>
            <a:ext cx="4699716" cy="4114800"/>
          </a:xfrm>
        </p:spPr>
        <p:txBody>
          <a:bodyPr/>
          <a:lstStyle/>
          <a:p>
            <a:r>
              <a:rPr lang="en-US" sz="2400" dirty="0"/>
              <a:t>Caches present a similar problem as store buffers – stores in one cache will not be visible to other caches automatically</a:t>
            </a:r>
          </a:p>
          <a:p>
            <a:r>
              <a:rPr lang="en-US" sz="2400" dirty="0"/>
              <a:t>Cache problem is solved differently – </a:t>
            </a:r>
            <a:r>
              <a:rPr lang="en-US" sz="2400" i="1" dirty="0"/>
              <a:t>caches are kept coherent </a:t>
            </a:r>
          </a:p>
          <a:p>
            <a:pPr marL="0" indent="0">
              <a:buNone/>
            </a:pPr>
            <a:endParaRPr lang="en-US" sz="2400" i="1" dirty="0"/>
          </a:p>
          <a:p>
            <a:endParaRPr lang="en-US" sz="24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5704268" y="1595907"/>
            <a:ext cx="3200400" cy="3874394"/>
            <a:chOff x="5105400" y="2145406"/>
            <a:chExt cx="3200400" cy="3874394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5105400" y="2145406"/>
              <a:ext cx="1066800" cy="838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Arial" charset="0"/>
                </a:rPr>
                <a:t>P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5105400" y="3429000"/>
              <a:ext cx="1066800" cy="609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latin typeface="Arial" charset="0"/>
                </a:rPr>
                <a:t>Cache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5105400" y="4953000"/>
              <a:ext cx="3200400" cy="106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Arial" charset="0"/>
                </a:rPr>
                <a:t>Memory</a:t>
              </a:r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5105400" y="4495800"/>
              <a:ext cx="3200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>
              <a:off x="5638800" y="40386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6705600" y="44958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7239000" y="2157212"/>
              <a:ext cx="1066800" cy="838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Arial" charset="0"/>
                </a:rPr>
                <a:t>P</a:t>
              </a: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7239000" y="3429000"/>
              <a:ext cx="1066800" cy="609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latin typeface="Arial" charset="0"/>
                </a:rPr>
                <a:t>Cache</a:t>
              </a: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7772400" y="40386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7"/>
            <p:cNvSpPr>
              <a:spLocks noChangeShapeType="1"/>
            </p:cNvSpPr>
            <p:nvPr/>
          </p:nvSpPr>
          <p:spPr bwMode="auto">
            <a:xfrm>
              <a:off x="5636654" y="2995412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7770254" y="2995412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147293" y="5727445"/>
            <a:ext cx="7221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mic Sans MS" panose="030F0702030302020204" pitchFamily="66" charset="0"/>
              </a:rPr>
              <a:t>How to build coherent caches is the topic of next lecture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347C9-846C-9F8B-0C6B-A80ACE5A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March 19,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BD7B0-2206-1EEE-6BF7-B00305DDB57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6.1920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11AF1-85BE-ED3A-BEC5-100AFE06D4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L12-</a:t>
            </a:r>
            <a:fld id="{53294580-05E8-4585-908E-66FCC5062CA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1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Designs\Blueprint.pot</Template>
  <TotalTime>55731</TotalTime>
  <Words>2881</Words>
  <Application>Microsoft Macintosh PowerPoint</Application>
  <PresentationFormat>On-screen Show (4:3)</PresentationFormat>
  <Paragraphs>613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Comic Sans MS</vt:lpstr>
      <vt:lpstr>Symbol</vt:lpstr>
      <vt:lpstr>Tahoma</vt:lpstr>
      <vt:lpstr>Times New Roman</vt:lpstr>
      <vt:lpstr>Verdana</vt:lpstr>
      <vt:lpstr>Wingdings</vt:lpstr>
      <vt:lpstr>Blueprint</vt:lpstr>
      <vt:lpstr>PowerPoint Presentation</vt:lpstr>
      <vt:lpstr>Recap: Threads</vt:lpstr>
      <vt:lpstr>Example use of threads</vt:lpstr>
      <vt:lpstr>Recap: Threads</vt:lpstr>
      <vt:lpstr>Symmetric Multiprocessors</vt:lpstr>
      <vt:lpstr>Heterogeneous Processors</vt:lpstr>
      <vt:lpstr>Multithreaded Programming</vt:lpstr>
      <vt:lpstr>Focus of Today’s Lecture</vt:lpstr>
      <vt:lpstr>Focus of Today’s Lecture</vt:lpstr>
      <vt:lpstr>Synchronization</vt:lpstr>
      <vt:lpstr>Thread-safe programming</vt:lpstr>
      <vt:lpstr>Example: Producer-Consumer communicate via a FIFO </vt:lpstr>
      <vt:lpstr>Multithreaded programming is subtle</vt:lpstr>
      <vt:lpstr>Multiple Consumers</vt:lpstr>
      <vt:lpstr>Locks or Semaphores E. W. Dijkstra, 1965</vt:lpstr>
      <vt:lpstr>Atomic read-modify-write instructions</vt:lpstr>
      <vt:lpstr>Multiple Consumers Example using the Test&amp;Set Instruction</vt:lpstr>
      <vt:lpstr>Synchronization and Concurrency</vt:lpstr>
      <vt:lpstr>Programming Challenges</vt:lpstr>
      <vt:lpstr>Implementation Challenges</vt:lpstr>
      <vt:lpstr>Focus of Today’s Lecture</vt:lpstr>
      <vt:lpstr>Memory Ordering Nuances</vt:lpstr>
      <vt:lpstr>Sequential Consistency A Memory Model</vt:lpstr>
      <vt:lpstr>Why SC may be violated</vt:lpstr>
      <vt:lpstr>Store Buffers</vt:lpstr>
      <vt:lpstr>Violations of SC Example 1</vt:lpstr>
      <vt:lpstr>Violations of SC Example 2</vt:lpstr>
      <vt:lpstr>A Practical Producer-Consumer Example continued</vt:lpstr>
      <vt:lpstr>Memory Consistency Model</vt:lpstr>
      <vt:lpstr>TSO: A memory model for machines with store buffers  </vt:lpstr>
      <vt:lpstr>Memory Fences Instructions to sequentialize memory accesses</vt:lpstr>
      <vt:lpstr>Memory Model Challenges</vt:lpstr>
      <vt:lpstr>SC and Caches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Bluespec technical deep dive</dc:title>
  <dc:creator>Nikhil</dc:creator>
  <cp:lastModifiedBy>Krishna, Tushar</cp:lastModifiedBy>
  <cp:revision>1478</cp:revision>
  <cp:lastPrinted>2014-11-18T21:13:49Z</cp:lastPrinted>
  <dcterms:created xsi:type="dcterms:W3CDTF">2003-01-21T19:25:41Z</dcterms:created>
  <dcterms:modified xsi:type="dcterms:W3CDTF">2024-03-19T04:12:13Z</dcterms:modified>
</cp:coreProperties>
</file>