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1138" r:id="rId2"/>
    <p:sldId id="1068" r:id="rId3"/>
    <p:sldId id="1071" r:id="rId4"/>
    <p:sldId id="1069" r:id="rId5"/>
    <p:sldId id="1072" r:id="rId6"/>
    <p:sldId id="1074" r:id="rId7"/>
    <p:sldId id="1114" r:id="rId8"/>
    <p:sldId id="1116" r:id="rId9"/>
    <p:sldId id="1079" r:id="rId10"/>
    <p:sldId id="1080" r:id="rId11"/>
    <p:sldId id="1081" r:id="rId12"/>
    <p:sldId id="1082" r:id="rId13"/>
    <p:sldId id="1083" r:id="rId14"/>
    <p:sldId id="1084" r:id="rId15"/>
    <p:sldId id="1117" r:id="rId16"/>
    <p:sldId id="1120" r:id="rId17"/>
    <p:sldId id="1119" r:id="rId18"/>
    <p:sldId id="1121" r:id="rId19"/>
    <p:sldId id="1122" r:id="rId20"/>
    <p:sldId id="1126" r:id="rId21"/>
    <p:sldId id="1123" r:id="rId22"/>
    <p:sldId id="1127" r:id="rId23"/>
    <p:sldId id="1124" r:id="rId24"/>
    <p:sldId id="1125" r:id="rId25"/>
    <p:sldId id="1130" r:id="rId26"/>
    <p:sldId id="1131" r:id="rId27"/>
    <p:sldId id="1092" r:id="rId28"/>
    <p:sldId id="1118" r:id="rId29"/>
    <p:sldId id="1132" r:id="rId30"/>
    <p:sldId id="1094" r:id="rId31"/>
    <p:sldId id="1095" r:id="rId32"/>
    <p:sldId id="1096" r:id="rId33"/>
    <p:sldId id="1133" r:id="rId34"/>
    <p:sldId id="1098" r:id="rId35"/>
    <p:sldId id="1099" r:id="rId36"/>
    <p:sldId id="1100" r:id="rId37"/>
    <p:sldId id="1134" r:id="rId38"/>
    <p:sldId id="1135" r:id="rId39"/>
    <p:sldId id="1102" r:id="rId40"/>
    <p:sldId id="1103" r:id="rId41"/>
    <p:sldId id="1104" r:id="rId42"/>
    <p:sldId id="1107" r:id="rId43"/>
    <p:sldId id="1108" r:id="rId44"/>
    <p:sldId id="1109" r:id="rId45"/>
    <p:sldId id="1110" r:id="rId46"/>
    <p:sldId id="1144" r:id="rId47"/>
    <p:sldId id="1139" r:id="rId48"/>
    <p:sldId id="1140" r:id="rId49"/>
    <p:sldId id="1141" r:id="rId50"/>
    <p:sldId id="1142" r:id="rId51"/>
    <p:sldId id="1143" r:id="rId52"/>
    <p:sldId id="1137" r:id="rId53"/>
  </p:sldIdLst>
  <p:sldSz cx="9144000" cy="6858000" type="screen4x3"/>
  <p:notesSz cx="6997700" cy="92837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6127A"/>
    <a:srgbClr val="66FF99"/>
    <a:srgbClr val="FF0000"/>
    <a:srgbClr val="FFA74F"/>
    <a:srgbClr val="FFCC66"/>
    <a:srgbClr val="CFBDC8"/>
    <a:srgbClr val="6600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856" autoAdjust="0"/>
    <p:restoredTop sz="94693" autoAdjust="0"/>
  </p:normalViewPr>
  <p:slideViewPr>
    <p:cSldViewPr snapToGrid="0">
      <p:cViewPr varScale="1">
        <p:scale>
          <a:sx n="91" d="100"/>
          <a:sy n="91" d="100"/>
        </p:scale>
        <p:origin x="162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500" y="-108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7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B3B0611-0765-CCB6-F276-398C02FF6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t" anchorCtr="0" compatLnSpc="1">
            <a:prstTxWarp prst="textNoShape">
              <a:avLst/>
            </a:prstTxWarp>
          </a:bodyPr>
          <a:lstStyle>
            <a:lvl1pPr algn="l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31A2DE9-2C9E-E641-30B8-0F1EA24895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371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t" anchorCtr="0" compatLnSpc="1">
            <a:prstTxWarp prst="textNoShape">
              <a:avLst/>
            </a:prstTxWarp>
          </a:bodyPr>
          <a:lstStyle>
            <a:lvl1pPr algn="r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068A61A-D48E-744E-B170-FA5F80E62E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371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b" anchorCtr="0" compatLnSpc="1">
            <a:prstTxWarp prst="textNoShape">
              <a:avLst/>
            </a:prstTxWarp>
          </a:bodyPr>
          <a:lstStyle>
            <a:lvl1pPr algn="l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347F4A0C-6285-BE63-D010-8838F222A38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3712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100">
                <a:latin typeface="Times New Roman" panose="02020603050405020304" pitchFamily="18" charset="0"/>
              </a:defRPr>
            </a:lvl1pPr>
          </a:lstStyle>
          <a:p>
            <a:fld id="{A36859D7-AA4C-4E9A-8967-6FFE1CD0482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AEA8377-8137-3769-6AB9-B505C3DE7E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t" anchorCtr="0" compatLnSpc="1">
            <a:prstTxWarp prst="textNoShape">
              <a:avLst/>
            </a:prstTxWarp>
          </a:bodyPr>
          <a:lstStyle>
            <a:lvl1pPr algn="l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20A6655-3ADB-418F-FBDF-8481DC5A7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371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t" anchorCtr="0" compatLnSpc="1">
            <a:prstTxWarp prst="textNoShape">
              <a:avLst/>
            </a:prstTxWarp>
          </a:bodyPr>
          <a:lstStyle>
            <a:lvl1pPr algn="r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87B4D02-1A39-AED4-5063-59E561DE24A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24B25E4-13D2-7008-E997-F93E92BA63D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0075"/>
            <a:ext cx="5127625" cy="417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B640268-F9AC-D8F3-046E-18E2CD3E71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371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b" anchorCtr="0" compatLnSpc="1">
            <a:prstTxWarp prst="textNoShape">
              <a:avLst/>
            </a:prstTxWarp>
          </a:bodyPr>
          <a:lstStyle>
            <a:lvl1pPr algn="l" defTabSz="922338">
              <a:defRPr sz="11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A747B7E-58E0-648B-3AE1-D48216C21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3712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61" tIns="46131" rIns="92261" bIns="4613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100">
                <a:latin typeface="Times New Roman" panose="02020603050405020304" pitchFamily="18" charset="0"/>
              </a:defRPr>
            </a:lvl1pPr>
          </a:lstStyle>
          <a:p>
            <a:fld id="{E3D2E055-859D-4254-90DC-7A094742E02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7CABC0-5938-C852-57BD-607F635760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B8FA0F-1A45-4ECF-9B20-F05B462606E8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393666" name="Rectangle 2">
            <a:extLst>
              <a:ext uri="{FF2B5EF4-FFF2-40B4-BE49-F238E27FC236}">
                <a16:creationId xmlns:a16="http://schemas.microsoft.com/office/drawing/2014/main" id="{DD518A7D-C521-4DDA-512F-25AF397C3E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3667" name="Rectangle 3">
            <a:extLst>
              <a:ext uri="{FF2B5EF4-FFF2-40B4-BE49-F238E27FC236}">
                <a16:creationId xmlns:a16="http://schemas.microsoft.com/office/drawing/2014/main" id="{7952ECEF-01E4-DE69-1EBF-21F1E89B9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79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0C17DEB-1608-4B91-6140-9D528E9E5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AC9DB7-E038-4631-9EA9-0939D807BB86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098178" name="Rectangle 2">
            <a:extLst>
              <a:ext uri="{FF2B5EF4-FFF2-40B4-BE49-F238E27FC236}">
                <a16:creationId xmlns:a16="http://schemas.microsoft.com/office/drawing/2014/main" id="{236506D6-3635-13D6-AA19-BE5E85063F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8179" name="Rectangle 3">
            <a:extLst>
              <a:ext uri="{FF2B5EF4-FFF2-40B4-BE49-F238E27FC236}">
                <a16:creationId xmlns:a16="http://schemas.microsoft.com/office/drawing/2014/main" id="{91A6B6FF-4239-D57B-0488-24987F00E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/>
              <a:t>Can the dispatched instruction cause a</a:t>
            </a:r>
          </a:p>
          <a:p>
            <a:pPr lvl="2"/>
            <a:r>
              <a:rPr lang="en-US" altLang="en-US"/>
              <a:t>WAR hazard ? </a:t>
            </a:r>
            <a:r>
              <a:rPr lang="en-US" altLang="en-US" i="1">
                <a:solidFill>
                  <a:srgbClr val="FF0000"/>
                </a:solidFill>
              </a:rPr>
              <a:t>NO: Operands read at issue</a:t>
            </a:r>
            <a:r>
              <a:rPr lang="en-US" altLang="en-US"/>
              <a:t>	</a:t>
            </a:r>
          </a:p>
          <a:p>
            <a:pPr lvl="2"/>
            <a:r>
              <a:rPr lang="en-US" altLang="en-US"/>
              <a:t>WAW hazard ? </a:t>
            </a:r>
            <a:r>
              <a:rPr lang="en-US" altLang="en-US" i="1">
                <a:solidFill>
                  <a:srgbClr val="FF0000"/>
                </a:solidFill>
              </a:rPr>
              <a:t>YES: Out-of-order completion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FE75775-98A8-7517-FAF7-1639E6A5CF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1B7752-797E-436F-85B4-23697F679ECB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056194" name="Rectangle 2">
            <a:extLst>
              <a:ext uri="{FF2B5EF4-FFF2-40B4-BE49-F238E27FC236}">
                <a16:creationId xmlns:a16="http://schemas.microsoft.com/office/drawing/2014/main" id="{64261806-66FA-C178-7A86-B3004A74E6A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703263"/>
            <a:ext cx="4622800" cy="3467100"/>
          </a:xfrm>
          <a:ln/>
        </p:spPr>
      </p:sp>
      <p:sp>
        <p:nvSpPr>
          <p:cNvPr id="2056195" name="Rectangle 3">
            <a:extLst>
              <a:ext uri="{FF2B5EF4-FFF2-40B4-BE49-F238E27FC236}">
                <a16:creationId xmlns:a16="http://schemas.microsoft.com/office/drawing/2014/main" id="{9E4657FE-E797-AE8B-CC9D-5736F05A3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1275" cy="41783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>
            <a:extLst>
              <a:ext uri="{FF2B5EF4-FFF2-40B4-BE49-F238E27FC236}">
                <a16:creationId xmlns:a16="http://schemas.microsoft.com/office/drawing/2014/main" id="{90643260-4A0A-564F-74C2-3C2744E0DB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1828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3200">
                <a:solidFill>
                  <a:srgbClr val="FF0000"/>
                </a:solidFill>
                <a:latin typeface="DINNeuzeitGrotesk BoldCond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F17B99EB-04FE-E315-AAC4-8A9C075FB3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239000" y="0"/>
            <a:ext cx="1905000" cy="457200"/>
          </a:xfrm>
        </p:spPr>
        <p:txBody>
          <a:bodyPr/>
          <a:lstStyle>
            <a:lvl1pPr>
              <a:defRPr sz="1000"/>
            </a:lvl1pPr>
          </a:lstStyle>
          <a:p>
            <a:fld id="{7C1648ED-8F98-4AE1-A3A5-89594527E5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7373" name="Text Box 29">
            <a:extLst>
              <a:ext uri="{FF2B5EF4-FFF2-40B4-BE49-F238E27FC236}">
                <a16:creationId xmlns:a16="http://schemas.microsoft.com/office/drawing/2014/main" id="{C24F9F22-77BA-E389-F1F7-242702079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14144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altLang="en-US" sz="2400">
              <a:latin typeface="Times" panose="02020603050405020304" pitchFamily="18" charset="0"/>
            </a:endParaRPr>
          </a:p>
        </p:txBody>
      </p:sp>
      <p:pic>
        <p:nvPicPr>
          <p:cNvPr id="57384" name="Picture 40">
            <a:extLst>
              <a:ext uri="{FF2B5EF4-FFF2-40B4-BE49-F238E27FC236}">
                <a16:creationId xmlns:a16="http://schemas.microsoft.com/office/drawing/2014/main" id="{A6DDFC00-FEE2-07D7-9883-318EEE6C21A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mpd="dbl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85" name="Text Box 41">
            <a:extLst>
              <a:ext uri="{FF2B5EF4-FFF2-40B4-BE49-F238E27FC236}">
                <a16:creationId xmlns:a16="http://schemas.microsoft.com/office/drawing/2014/main" id="{FA368132-8DC7-05E0-C565-1A7B975D7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6581001"/>
            <a:ext cx="7296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200" dirty="0">
                <a:latin typeface="Verdana" panose="020B0604030504040204" pitchFamily="34" charset="0"/>
              </a:rPr>
              <a:t>6.1920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68B4-3DC5-D98C-3F2B-E5BF3297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C275-D7C2-A76B-3086-CCD2715B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2C6BB-8739-48E5-23DB-7A500469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B9024-4480-520B-A6B7-261F929D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368E6-741B-FB73-C178-C0B8E09E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59286" y="6464300"/>
            <a:ext cx="1371600" cy="4572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L11-</a:t>
            </a:r>
            <a:fld id="{4B69DDD6-8F21-4B34-BC24-E00FBA920423}" type="slidenum">
              <a:rPr lang="en-US" altLang="en-US"/>
              <a:pPr/>
              <a:t>‹#›</a:t>
            </a:fld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354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1F30-51E3-556D-BDDC-8989FCAB2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D286-B6B0-90F4-AAD2-592301015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0C2CB-E699-FAF8-3E47-DCF37BBF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9616F-BEB1-D4CC-33EA-68968D10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E03FF-80C2-8812-8114-416BA318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42C790DC-3117-4343-84CB-35723C182EF6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29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231A-D8BD-6592-A8BF-FB1811B1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AC58-42CC-98B6-39F8-61AF8E0F2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0613" y="1314450"/>
            <a:ext cx="3376612" cy="4678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428E8-6625-0B1C-4DBC-10EA75133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9625" y="1314450"/>
            <a:ext cx="3378200" cy="4678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2A479-96CC-71F3-B59F-26C62A08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0C488-F7DB-2C75-C9C2-5F5FB482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8FC2B-6803-A66E-1C84-726CDE29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66DE975C-6045-4966-BB15-E0E8AAAC6F32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49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DF84-2BA8-70FC-0FE2-D187D4DC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5EB1A-891E-F141-2272-301025A8E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CA3AA-FC7A-97DF-5E9B-CED0C5691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D5976-F3FC-63BB-7F0D-B2FC7937F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92173-7201-F2A9-DBC4-CEFBFD84D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EECA2-8D14-B464-74CE-2A9DF4D3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B0E25-00C4-69AD-E443-700A2188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9753C-E201-426E-8D6F-0935D31E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4C2CEEAC-3D99-43D7-B66C-64E2976E377A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57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2277-A417-7F7D-15D9-A804D25B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BBDD0-86F4-2BEA-26F7-480FFA59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4F845-EDE2-B971-35E4-26BA36D6F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9EFFB-9E47-1ABB-490A-B58F53FF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56CF7AE2-BA51-4D21-8EB5-7A82141A76AD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95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3FC14-2AB4-F1F6-FB87-1CA1CCDA4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7D8A3-2DA4-23FE-15BC-EE8709B7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C4C12-23FB-2886-1B4F-3C2E3538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72DFF80A-125F-415B-9641-0EE07F3701D0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07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9D81-BA3A-37F8-42C0-1762EC13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ECCA-79BA-258D-6A98-997F2843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B72D3-D602-4327-CAB2-F8B831A65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A3A92-D7F8-C22A-6700-86C91116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D4862-88C9-3F65-EED5-B52B6563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C157B-D2FD-6BF7-FE4D-02DA3AEE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23E3D7DD-9037-4FCD-B2DC-1883A4F2D860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80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6114-A270-DC3C-BEED-A50E3942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8967D-575D-4490-5687-641717B06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FF55E-AE9B-1063-7381-19F7A00A6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7A209-07C9-FC31-0E82-37DC27F2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977B5-4705-70C4-F145-F3AF9D7C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1920C-2942-6FEA-3D04-658020AE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002D703F-812D-4422-A3BA-8E13B74D7FA6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34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C128-CC75-866C-9656-A431160B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3D860-ACC4-61BC-ED8E-333247D09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432C2-5A4B-729A-CF65-F8C7749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208C5-9A5B-BE4B-6A5E-9D83B93C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878A-81DD-44D7-5E62-1462C6AE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C0A7B05C-ABC0-4F66-9A33-D54B73280768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36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30767B-5116-9374-CDE3-9B370103A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089650" y="341313"/>
            <a:ext cx="1911350" cy="5651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24A61-31E6-8EA7-C257-B4B0642C7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2425" y="341313"/>
            <a:ext cx="5584825" cy="5651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61E4A-7D4F-EDBE-7072-8D2EC010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53F17-8881-FD1A-E573-9D002B55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8475C-32A1-50EF-5C34-9AC3DD65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6.823 L11-</a:t>
            </a:r>
            <a:fld id="{A2456FC0-D005-41AB-8818-5A99685E8B3C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476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34C0135-8923-D526-8B57-0EA45087F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341313"/>
            <a:ext cx="764857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A6926F-3317-0325-930B-C19CD4150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0613" y="1314450"/>
            <a:ext cx="6907212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8585374-5AF0-16F1-0661-04D6687036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16700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+mn-lt"/>
              </a:defRPr>
            </a:lvl1pPr>
          </a:lstStyle>
          <a:p>
            <a:r>
              <a:rPr lang="en-US" altLang="en-US"/>
              <a:t>March 14, 2024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FC4CA47-2F09-9CB4-408F-DE8ED702FF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616700"/>
            <a:ext cx="365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3000"/>
              </a:lnSpc>
              <a:defRPr sz="1200">
                <a:latin typeface="+mn-lt"/>
              </a:defRPr>
            </a:lvl1pPr>
          </a:lstStyle>
          <a:p>
            <a:r>
              <a:rPr lang="en-US" altLang="en-US"/>
              <a:t>6.1920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3EB0B14-D831-95FA-431A-4C3642BD5A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r>
              <a:rPr lang="en-US" altLang="en-US"/>
              <a:t>6.823 L11-</a:t>
            </a:r>
            <a:fld id="{D115DBA3-18FA-4F05-AF72-9E9156EC37D5}" type="slidenum">
              <a:rPr lang="en-US" altLang="en-US"/>
              <a:pPr/>
              <a:t>‹#›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  <p:sp>
        <p:nvSpPr>
          <p:cNvPr id="1065" name="Line 41">
            <a:extLst>
              <a:ext uri="{FF2B5EF4-FFF2-40B4-BE49-F238E27FC236}">
                <a16:creationId xmlns:a16="http://schemas.microsoft.com/office/drawing/2014/main" id="{7F9182CC-5217-97F3-A98A-7B4082DB7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200" y="1219200"/>
            <a:ext cx="853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66" name="Picture 42">
            <a:extLst>
              <a:ext uri="{FF2B5EF4-FFF2-40B4-BE49-F238E27FC236}">
                <a16:creationId xmlns:a16="http://schemas.microsoft.com/office/drawing/2014/main" id="{F42124BA-AF11-45E9-40FA-75621E8D0DB1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6438900"/>
            <a:ext cx="457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mpd="dbl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rgbClr val="56127A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rgbClr val="56127A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rgbClr val="56127A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ern="1200">
          <a:solidFill>
            <a:srgbClr val="56127A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rgbClr val="56127A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56127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9" name="Rectangle 7">
            <a:extLst>
              <a:ext uri="{FF2B5EF4-FFF2-40B4-BE49-F238E27FC236}">
                <a16:creationId xmlns:a16="http://schemas.microsoft.com/office/drawing/2014/main" id="{2BFAA854-42C5-407E-4752-A68766E6CC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0" hangingPunct="0"/>
            <a:r>
              <a:rPr lang="en-US" altLang="en-US"/>
              <a:t>Complex Pipelining:</a:t>
            </a:r>
          </a:p>
          <a:p>
            <a:pPr eaLnBrk="0" hangingPunct="0"/>
            <a:r>
              <a:rPr lang="en-US" altLang="en-US"/>
              <a:t>Out-of-Order Execution &amp; Register Renaming</a:t>
            </a:r>
          </a:p>
        </p:txBody>
      </p:sp>
      <p:sp>
        <p:nvSpPr>
          <p:cNvPr id="581638" name="Rectangle 6">
            <a:extLst>
              <a:ext uri="{FF2B5EF4-FFF2-40B4-BE49-F238E27FC236}">
                <a16:creationId xmlns:a16="http://schemas.microsoft.com/office/drawing/2014/main" id="{94E84458-CCD2-E4CE-E566-7AD2D012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3995738"/>
            <a:ext cx="73279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 dirty="0">
                <a:latin typeface="Verdana" panose="020B0604030504040204" pitchFamily="34" charset="0"/>
              </a:rPr>
              <a:t>Arvind</a:t>
            </a:r>
          </a:p>
          <a:p>
            <a:r>
              <a:rPr lang="en-US" altLang="en-US" dirty="0">
                <a:latin typeface="Verdana" panose="020B0604030504040204" pitchFamily="34" charset="0"/>
              </a:rPr>
              <a:t>Electrical Engineering and Computer Science</a:t>
            </a:r>
          </a:p>
          <a:p>
            <a:r>
              <a:rPr lang="en-US" altLang="en-US" dirty="0">
                <a:latin typeface="Verdana" panose="020B0604030504040204" pitchFamily="34" charset="0"/>
              </a:rPr>
              <a:t>M.I.T.</a:t>
            </a:r>
          </a:p>
          <a:p>
            <a:r>
              <a:rPr lang="en-US" altLang="en-US" i="1" dirty="0">
                <a:latin typeface="Verdana" panose="020B0604030504040204" pitchFamily="34" charset="0"/>
              </a:rPr>
              <a:t>Based on 6.823 lectures from 2005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01AD3-FA90-7CD0-C450-2D80147AE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1648ED-8F98-4AE1-A3A5-89594527E5A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92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74" name="Rectangle 2">
            <a:extLst>
              <a:ext uri="{FF2B5EF4-FFF2-40B4-BE49-F238E27FC236}">
                <a16:creationId xmlns:a16="http://schemas.microsoft.com/office/drawing/2014/main" id="{1548AC13-18A3-7ADC-5419-D626BF4AC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Complex Pipelining: Motivation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EB4B8-047B-D377-7CB5-EB570EDED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25475" name="Rectangle 3">
            <a:extLst>
              <a:ext uri="{FF2B5EF4-FFF2-40B4-BE49-F238E27FC236}">
                <a16:creationId xmlns:a16="http://schemas.microsoft.com/office/drawing/2014/main" id="{514803E5-7227-1FBD-3205-BE8AE5285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738313"/>
            <a:ext cx="7820025" cy="270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Pipelining becomes complex when we want high performance in the presence of</a:t>
            </a:r>
          </a:p>
          <a:p>
            <a:pPr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Long latency or partially pipelined floating-point units</a:t>
            </a:r>
          </a:p>
          <a:p>
            <a:pPr lvl="1" algn="l" eaLnBrk="0" hangingPunct="0"/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Multiple function and memory units</a:t>
            </a:r>
          </a:p>
          <a:p>
            <a:pPr lvl="1" algn="l" eaLnBrk="0" hangingPunct="0">
              <a:buFontTx/>
              <a:buChar char="•"/>
            </a:pPr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Memory systems with variable access time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FA3D0F9-9D66-FD39-884F-85916FF1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FBE672F-9D3D-398F-BA04-37836B73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DD2CD0-D68E-8E6E-4860-D7A853FC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46" name="Rectangle 2">
            <a:extLst>
              <a:ext uri="{FF2B5EF4-FFF2-40B4-BE49-F238E27FC236}">
                <a16:creationId xmlns:a16="http://schemas.microsoft.com/office/drawing/2014/main" id="{9B5083F9-707C-CF8C-9F01-A7320CB48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Function Unit Characteristics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E90A3-D6D4-4FAD-78BD-D40BCEAAC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28564" name="Rectangle 20">
            <a:extLst>
              <a:ext uri="{FF2B5EF4-FFF2-40B4-BE49-F238E27FC236}">
                <a16:creationId xmlns:a16="http://schemas.microsoft.com/office/drawing/2014/main" id="{BBAA29A3-CEC5-7726-960A-1A8CDC8D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1344613"/>
            <a:ext cx="156051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fully</a:t>
            </a:r>
          </a:p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pipelined</a:t>
            </a:r>
          </a:p>
        </p:txBody>
      </p:sp>
      <p:sp>
        <p:nvSpPr>
          <p:cNvPr id="2028565" name="Rectangle 21">
            <a:extLst>
              <a:ext uri="{FF2B5EF4-FFF2-40B4-BE49-F238E27FC236}">
                <a16:creationId xmlns:a16="http://schemas.microsoft.com/office/drawing/2014/main" id="{67378E39-2565-D67E-5D0D-A98ED8BF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2716213"/>
            <a:ext cx="156051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partially</a:t>
            </a:r>
          </a:p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pipelined</a:t>
            </a:r>
          </a:p>
        </p:txBody>
      </p:sp>
      <p:sp>
        <p:nvSpPr>
          <p:cNvPr id="2028566" name="Rectangle 22">
            <a:extLst>
              <a:ext uri="{FF2B5EF4-FFF2-40B4-BE49-F238E27FC236}">
                <a16:creationId xmlns:a16="http://schemas.microsoft.com/office/drawing/2014/main" id="{9EBE8204-2E8D-6AB8-E108-3D6D06F83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4087813"/>
            <a:ext cx="7208837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Function units have internal pipeline registers</a:t>
            </a:r>
          </a:p>
          <a:p>
            <a:pPr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1" algn="l" eaLnBrk="0" hangingPunct="0"/>
            <a:r>
              <a:rPr lang="en-US" altLang="en-US">
                <a:latin typeface="Symbol" panose="05050102010706020507" pitchFamily="18" charset="2"/>
              </a:rPr>
              <a:t>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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operands are latched when an instruction </a:t>
            </a: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enters a function unit </a:t>
            </a:r>
          </a:p>
          <a:p>
            <a:pPr lvl="1" algn="l" eaLnBrk="0" hangingPunct="0"/>
            <a:r>
              <a:rPr lang="en-US" altLang="en-US">
                <a:latin typeface="Symbol" panose="05050102010706020507" pitchFamily="18" charset="2"/>
              </a:rPr>
              <a:t>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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inputs to a function unit (e.g., register file)</a:t>
            </a:r>
          </a:p>
          <a:p>
            <a:pPr lvl="1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   can change during a long latency operation</a:t>
            </a:r>
          </a:p>
        </p:txBody>
      </p:sp>
      <p:grpSp>
        <p:nvGrpSpPr>
          <p:cNvPr id="2028572" name="Group 28">
            <a:extLst>
              <a:ext uri="{FF2B5EF4-FFF2-40B4-BE49-F238E27FC236}">
                <a16:creationId xmlns:a16="http://schemas.microsoft.com/office/drawing/2014/main" id="{3C3155F3-6713-15BB-F013-AA9A243C14BE}"/>
              </a:ext>
            </a:extLst>
          </p:cNvPr>
          <p:cNvGrpSpPr>
            <a:grpSpLocks/>
          </p:cNvGrpSpPr>
          <p:nvPr/>
        </p:nvGrpSpPr>
        <p:grpSpPr bwMode="auto">
          <a:xfrm>
            <a:off x="3689350" y="1358900"/>
            <a:ext cx="3424238" cy="946150"/>
            <a:chOff x="2324" y="856"/>
            <a:chExt cx="2157" cy="596"/>
          </a:xfrm>
        </p:grpSpPr>
        <p:sp>
          <p:nvSpPr>
            <p:cNvPr id="2028547" name="Rectangle 3">
              <a:extLst>
                <a:ext uri="{FF2B5EF4-FFF2-40B4-BE49-F238E27FC236}">
                  <a16:creationId xmlns:a16="http://schemas.microsoft.com/office/drawing/2014/main" id="{3C43342E-537B-9867-3D27-EBFAC12D9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56"/>
              <a:ext cx="1040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49" name="Line 5">
              <a:extLst>
                <a:ext uri="{FF2B5EF4-FFF2-40B4-BE49-F238E27FC236}">
                  <a16:creationId xmlns:a16="http://schemas.microsoft.com/office/drawing/2014/main" id="{DB76C904-98F5-17F0-D836-273337277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860"/>
              <a:ext cx="0" cy="50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0" name="Line 6">
              <a:extLst>
                <a:ext uri="{FF2B5EF4-FFF2-40B4-BE49-F238E27FC236}">
                  <a16:creationId xmlns:a16="http://schemas.microsoft.com/office/drawing/2014/main" id="{97186C18-D53A-C978-51D1-1F361E862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2" y="860"/>
              <a:ext cx="0" cy="50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2" name="Line 8">
              <a:extLst>
                <a:ext uri="{FF2B5EF4-FFF2-40B4-BE49-F238E27FC236}">
                  <a16:creationId xmlns:a16="http://schemas.microsoft.com/office/drawing/2014/main" id="{6F848F94-1A31-1755-79E5-25A97AAD3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104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4" name="Line 10">
              <a:extLst>
                <a:ext uri="{FF2B5EF4-FFF2-40B4-BE49-F238E27FC236}">
                  <a16:creationId xmlns:a16="http://schemas.microsoft.com/office/drawing/2014/main" id="{E812AACF-D3C5-F6C6-0B91-BA00C7F73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104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5" name="Line 11">
              <a:extLst>
                <a:ext uri="{FF2B5EF4-FFF2-40B4-BE49-F238E27FC236}">
                  <a16:creationId xmlns:a16="http://schemas.microsoft.com/office/drawing/2014/main" id="{D2541472-C9A5-4577-A936-8C7D4A143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" y="1232"/>
              <a:ext cx="456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8" name="Rectangle 14">
              <a:extLst>
                <a:ext uri="{FF2B5EF4-FFF2-40B4-BE49-F238E27FC236}">
                  <a16:creationId xmlns:a16="http://schemas.microsoft.com/office/drawing/2014/main" id="{6FA03420-65B8-7DE6-BBBC-7246D4B62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196"/>
              <a:ext cx="493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busy</a:t>
              </a:r>
            </a:p>
          </p:txBody>
        </p:sp>
        <p:sp>
          <p:nvSpPr>
            <p:cNvPr id="2028561" name="Rectangle 17">
              <a:extLst>
                <a:ext uri="{FF2B5EF4-FFF2-40B4-BE49-F238E27FC236}">
                  <a16:creationId xmlns:a16="http://schemas.microsoft.com/office/drawing/2014/main" id="{D746A5F3-29D7-5EC9-C808-03513E77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1146"/>
              <a:ext cx="44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1cyc</a:t>
              </a:r>
            </a:p>
          </p:txBody>
        </p:sp>
        <p:sp>
          <p:nvSpPr>
            <p:cNvPr id="2028562" name="Rectangle 18">
              <a:extLst>
                <a:ext uri="{FF2B5EF4-FFF2-40B4-BE49-F238E27FC236}">
                  <a16:creationId xmlns:a16="http://schemas.microsoft.com/office/drawing/2014/main" id="{52C8FD3E-2601-096C-1F8C-B01FE0BC9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1146"/>
              <a:ext cx="44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1cyc</a:t>
              </a:r>
            </a:p>
          </p:txBody>
        </p:sp>
        <p:sp>
          <p:nvSpPr>
            <p:cNvPr id="2028563" name="Rectangle 19">
              <a:extLst>
                <a:ext uri="{FF2B5EF4-FFF2-40B4-BE49-F238E27FC236}">
                  <a16:creationId xmlns:a16="http://schemas.microsoft.com/office/drawing/2014/main" id="{74A84529-0107-E4A8-12E7-B4D175F7A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" y="1146"/>
              <a:ext cx="44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1cyc</a:t>
              </a:r>
            </a:p>
          </p:txBody>
        </p:sp>
        <p:sp>
          <p:nvSpPr>
            <p:cNvPr id="2028567" name="Line 23">
              <a:extLst>
                <a:ext uri="{FF2B5EF4-FFF2-40B4-BE49-F238E27FC236}">
                  <a16:creationId xmlns:a16="http://schemas.microsoft.com/office/drawing/2014/main" id="{6ECAEFD3-38CE-9D01-525D-C2CD781D4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6" y="1240"/>
              <a:ext cx="456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70" name="Rectangle 26">
              <a:extLst>
                <a:ext uri="{FF2B5EF4-FFF2-40B4-BE49-F238E27FC236}">
                  <a16:creationId xmlns:a16="http://schemas.microsoft.com/office/drawing/2014/main" id="{FD395AF3-15B7-A256-F897-205268DE5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7" y="1204"/>
              <a:ext cx="63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accept</a:t>
              </a:r>
            </a:p>
          </p:txBody>
        </p:sp>
      </p:grpSp>
      <p:grpSp>
        <p:nvGrpSpPr>
          <p:cNvPr id="2028573" name="Group 29">
            <a:extLst>
              <a:ext uri="{FF2B5EF4-FFF2-40B4-BE49-F238E27FC236}">
                <a16:creationId xmlns:a16="http://schemas.microsoft.com/office/drawing/2014/main" id="{43569F47-D75A-F5EE-7C2D-77FB9F8F9F34}"/>
              </a:ext>
            </a:extLst>
          </p:cNvPr>
          <p:cNvGrpSpPr>
            <a:grpSpLocks/>
          </p:cNvGrpSpPr>
          <p:nvPr/>
        </p:nvGrpSpPr>
        <p:grpSpPr bwMode="auto">
          <a:xfrm>
            <a:off x="3727450" y="2755900"/>
            <a:ext cx="3957638" cy="971550"/>
            <a:chOff x="2348" y="1736"/>
            <a:chExt cx="2493" cy="612"/>
          </a:xfrm>
        </p:grpSpPr>
        <p:sp>
          <p:nvSpPr>
            <p:cNvPr id="2028548" name="Rectangle 4">
              <a:extLst>
                <a:ext uri="{FF2B5EF4-FFF2-40B4-BE49-F238E27FC236}">
                  <a16:creationId xmlns:a16="http://schemas.microsoft.com/office/drawing/2014/main" id="{CBB5DB13-60CC-32C9-0B01-24370D019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1736"/>
              <a:ext cx="139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1" name="Line 7">
              <a:extLst>
                <a:ext uri="{FF2B5EF4-FFF2-40B4-BE49-F238E27FC236}">
                  <a16:creationId xmlns:a16="http://schemas.microsoft.com/office/drawing/2014/main" id="{E6235E00-33A1-0020-A637-AB472D87D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1748"/>
              <a:ext cx="0" cy="50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3" name="Line 9">
              <a:extLst>
                <a:ext uri="{FF2B5EF4-FFF2-40B4-BE49-F238E27FC236}">
                  <a16:creationId xmlns:a16="http://schemas.microsoft.com/office/drawing/2014/main" id="{999DBB67-DCDC-D6F0-23F3-EAE5C0BAA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936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6" name="Line 12">
              <a:extLst>
                <a:ext uri="{FF2B5EF4-FFF2-40B4-BE49-F238E27FC236}">
                  <a16:creationId xmlns:a16="http://schemas.microsoft.com/office/drawing/2014/main" id="{6A6997E3-134B-8E3E-4EA0-504186A69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8" y="2136"/>
              <a:ext cx="456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57" name="Rectangle 13">
              <a:extLst>
                <a:ext uri="{FF2B5EF4-FFF2-40B4-BE49-F238E27FC236}">
                  <a16:creationId xmlns:a16="http://schemas.microsoft.com/office/drawing/2014/main" id="{AC655EB7-3A0D-B846-1F54-749EA2DF3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" y="2100"/>
              <a:ext cx="493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busy</a:t>
              </a:r>
            </a:p>
          </p:txBody>
        </p:sp>
        <p:sp>
          <p:nvSpPr>
            <p:cNvPr id="2028559" name="Rectangle 15">
              <a:extLst>
                <a:ext uri="{FF2B5EF4-FFF2-40B4-BE49-F238E27FC236}">
                  <a16:creationId xmlns:a16="http://schemas.microsoft.com/office/drawing/2014/main" id="{E9DC788D-ED62-1D90-9F49-4FD07851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026"/>
              <a:ext cx="49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2 cyc</a:t>
              </a:r>
            </a:p>
          </p:txBody>
        </p:sp>
        <p:sp>
          <p:nvSpPr>
            <p:cNvPr id="2028560" name="Rectangle 16">
              <a:extLst>
                <a:ext uri="{FF2B5EF4-FFF2-40B4-BE49-F238E27FC236}">
                  <a16:creationId xmlns:a16="http://schemas.microsoft.com/office/drawing/2014/main" id="{58848D4C-B1F4-29B9-F9F8-E0BE5A8F0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026"/>
              <a:ext cx="49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2 cyc</a:t>
              </a:r>
            </a:p>
          </p:txBody>
        </p:sp>
        <p:sp>
          <p:nvSpPr>
            <p:cNvPr id="2028568" name="Line 24">
              <a:extLst>
                <a:ext uri="{FF2B5EF4-FFF2-40B4-BE49-F238E27FC236}">
                  <a16:creationId xmlns:a16="http://schemas.microsoft.com/office/drawing/2014/main" id="{FBB8278C-705C-1B4E-C4C8-940019C17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6" y="191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69" name="Line 25">
              <a:extLst>
                <a:ext uri="{FF2B5EF4-FFF2-40B4-BE49-F238E27FC236}">
                  <a16:creationId xmlns:a16="http://schemas.microsoft.com/office/drawing/2014/main" id="{58E099AB-5271-D835-1A43-0F419C2D8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4" y="2112"/>
              <a:ext cx="456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8571" name="Rectangle 27">
              <a:extLst>
                <a:ext uri="{FF2B5EF4-FFF2-40B4-BE49-F238E27FC236}">
                  <a16:creationId xmlns:a16="http://schemas.microsoft.com/office/drawing/2014/main" id="{DCD5F080-3CE1-6C0F-DC0C-C5FA74AA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068"/>
              <a:ext cx="63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accept</a:t>
              </a:r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09C1AF-BEC7-490F-946C-0D50FD31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53586EE-E236-0218-909B-D923141E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4756AB-D79A-082E-75AB-6369A349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498" name="Rectangle 2">
            <a:extLst>
              <a:ext uri="{FF2B5EF4-FFF2-40B4-BE49-F238E27FC236}">
                <a16:creationId xmlns:a16="http://schemas.microsoft.com/office/drawing/2014/main" id="{509931D3-4066-7FF2-247D-8CECD919A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dirty="0"/>
              <a:t>Improving Memory Performance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69547-E02A-E409-AAB2-F354AAB07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0" hangingPunct="0"/>
            <a:r>
              <a:rPr lang="en-US" altLang="en-US" dirty="0">
                <a:latin typeface="Verdana" panose="020B0604030504040204" pitchFamily="34" charset="0"/>
              </a:rPr>
              <a:t>separate instruction and data memory ports </a:t>
            </a:r>
          </a:p>
          <a:p>
            <a:pPr marL="914400" lvl="2" indent="0" eaLnBrk="0" hangingPunct="0">
              <a:buNone/>
            </a:pPr>
            <a:r>
              <a:rPr lang="en-US" altLang="en-US" i="1" dirty="0">
                <a:solidFill>
                  <a:schemeClr val="tx1"/>
                </a:solidFill>
                <a:latin typeface="Symbol" panose="05050102010706020507" pitchFamily="18" charset="2"/>
              </a:rPr>
              <a:t></a:t>
            </a:r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  no self-modifying code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eaLnBrk="0" hangingPunct="0"/>
            <a:r>
              <a:rPr lang="en-US" altLang="en-US" dirty="0">
                <a:latin typeface="Verdana" panose="020B0604030504040204" pitchFamily="34" charset="0"/>
              </a:rPr>
              <a:t> caches </a:t>
            </a:r>
          </a:p>
          <a:p>
            <a:pPr lvl="2" eaLnBrk="0" hangingPunct="0"/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single cycle except in case of a miss </a:t>
            </a:r>
            <a:r>
              <a:rPr lang="en-US" altLang="en-US" i="1" dirty="0">
                <a:solidFill>
                  <a:schemeClr val="tx1"/>
                </a:solidFill>
                <a:latin typeface="Symbol" panose="05050102010706020507" pitchFamily="18" charset="2"/>
              </a:rPr>
              <a:t></a:t>
            </a:r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stall</a:t>
            </a:r>
            <a:endParaRPr lang="en-US" altLang="en-US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eaLnBrk="0" hangingPunct="0"/>
            <a:r>
              <a:rPr lang="en-US" altLang="en-US" dirty="0">
                <a:latin typeface="Verdana" panose="020B0604030504040204" pitchFamily="34" charset="0"/>
              </a:rPr>
              <a:t> interleaved memory </a:t>
            </a:r>
          </a:p>
          <a:p>
            <a:pPr lvl="2" eaLnBrk="0" hangingPunct="0"/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multiple memory accesses </a:t>
            </a:r>
            <a:r>
              <a:rPr lang="en-US" altLang="en-US" i="1" dirty="0">
                <a:solidFill>
                  <a:schemeClr val="tx1"/>
                </a:solidFill>
                <a:latin typeface="Symbol" panose="05050102010706020507" pitchFamily="18" charset="2"/>
              </a:rPr>
              <a:t></a:t>
            </a:r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  bank conflicts</a:t>
            </a:r>
          </a:p>
          <a:p>
            <a:pPr eaLnBrk="0" hangingPunct="0"/>
            <a:r>
              <a:rPr lang="en-US" altLang="en-US" dirty="0">
                <a:latin typeface="Verdana" panose="020B0604030504040204" pitchFamily="34" charset="0"/>
              </a:rPr>
              <a:t> split-phase memory operations</a:t>
            </a:r>
          </a:p>
          <a:p>
            <a:pPr marL="914400" lvl="2" indent="0" eaLnBrk="0" hangingPunct="0">
              <a:buNone/>
            </a:pPr>
            <a:r>
              <a:rPr lang="en-US" altLang="en-US" i="1" dirty="0">
                <a:solidFill>
                  <a:schemeClr val="tx1"/>
                </a:solidFill>
                <a:latin typeface="Symbol" panose="05050102010706020507" pitchFamily="18" charset="2"/>
              </a:rPr>
              <a:t></a:t>
            </a:r>
            <a:r>
              <a:rPr lang="en-US" altLang="en-US" i="1" dirty="0">
                <a:solidFill>
                  <a:schemeClr val="tx1"/>
                </a:solidFill>
                <a:latin typeface="Verdana" panose="020B0604030504040204" pitchFamily="34" charset="0"/>
              </a:rPr>
              <a:t>  out-of-order responses</a:t>
            </a:r>
          </a:p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B725811-8BA0-9826-0F55-BF46107A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0BF630-11C3-40E6-865B-A52E2398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A4FEACD-861C-57C7-F5CD-4DCAEE58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570" name="Rectangle 2">
            <a:extLst>
              <a:ext uri="{FF2B5EF4-FFF2-40B4-BE49-F238E27FC236}">
                <a16:creationId xmlns:a16="http://schemas.microsoft.com/office/drawing/2014/main" id="{8A82D401-3F41-4C61-A70C-B01C5FC31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dirty="0"/>
              <a:t>Complex Pipeline Structure </a:t>
            </a:r>
            <a:r>
              <a:rPr lang="en-US" altLang="en-US" sz="2800" i="1" dirty="0"/>
              <a:t>(abstract view)</a:t>
            </a:r>
            <a:endParaRPr lang="en-US" altLang="en-US" i="1" dirty="0"/>
          </a:p>
        </p:txBody>
      </p:sp>
      <p:grpSp>
        <p:nvGrpSpPr>
          <p:cNvPr id="2029571" name="Group 3">
            <a:extLst>
              <a:ext uri="{FF2B5EF4-FFF2-40B4-BE49-F238E27FC236}">
                <a16:creationId xmlns:a16="http://schemas.microsoft.com/office/drawing/2014/main" id="{53144CD9-435E-B5BC-6260-8F7AD58B6B03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2514600"/>
            <a:ext cx="812800" cy="812800"/>
            <a:chOff x="200" y="1584"/>
            <a:chExt cx="512" cy="512"/>
          </a:xfrm>
        </p:grpSpPr>
        <p:sp>
          <p:nvSpPr>
            <p:cNvPr id="2029572" name="Rectangle 4">
              <a:extLst>
                <a:ext uri="{FF2B5EF4-FFF2-40B4-BE49-F238E27FC236}">
                  <a16:creationId xmlns:a16="http://schemas.microsoft.com/office/drawing/2014/main" id="{BD4F8049-2304-1A54-A6C2-721FF8A33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9573" name="Rectangle 5">
              <a:extLst>
                <a:ext uri="{FF2B5EF4-FFF2-40B4-BE49-F238E27FC236}">
                  <a16:creationId xmlns:a16="http://schemas.microsoft.com/office/drawing/2014/main" id="{C6C991AD-4299-78E0-018B-AC062EF1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1711"/>
              <a:ext cx="273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IF</a:t>
              </a:r>
            </a:p>
          </p:txBody>
        </p:sp>
      </p:grpSp>
      <p:sp>
        <p:nvSpPr>
          <p:cNvPr id="2029574" name="Rectangle 6">
            <a:extLst>
              <a:ext uri="{FF2B5EF4-FFF2-40B4-BE49-F238E27FC236}">
                <a16:creationId xmlns:a16="http://schemas.microsoft.com/office/drawing/2014/main" id="{BDC58D56-90C2-58D3-09FD-ADF7391A5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2716213"/>
            <a:ext cx="6572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ID</a:t>
            </a:r>
          </a:p>
        </p:txBody>
      </p:sp>
      <p:sp>
        <p:nvSpPr>
          <p:cNvPr id="2029575" name="Line 7">
            <a:extLst>
              <a:ext uri="{FF2B5EF4-FFF2-40B4-BE49-F238E27FC236}">
                <a16:creationId xmlns:a16="http://schemas.microsoft.com/office/drawing/2014/main" id="{99C36C94-FF6E-9CFF-DD8E-D2A042CD2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908300"/>
            <a:ext cx="29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76" name="Rectangle 8">
            <a:extLst>
              <a:ext uri="{FF2B5EF4-FFF2-40B4-BE49-F238E27FC236}">
                <a16:creationId xmlns:a16="http://schemas.microsoft.com/office/drawing/2014/main" id="{67B77CF6-18B2-E2D7-C6C2-A7BE755B0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25400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77" name="Rectangle 9">
            <a:extLst>
              <a:ext uri="{FF2B5EF4-FFF2-40B4-BE49-F238E27FC236}">
                <a16:creationId xmlns:a16="http://schemas.microsoft.com/office/drawing/2014/main" id="{8782064B-D610-23E5-ED35-FE0D0897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2514600"/>
            <a:ext cx="850900" cy="8509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29578" name="Group 10">
            <a:extLst>
              <a:ext uri="{FF2B5EF4-FFF2-40B4-BE49-F238E27FC236}">
                <a16:creationId xmlns:a16="http://schemas.microsoft.com/office/drawing/2014/main" id="{F8076448-4F2E-0B3A-713A-C8082B90C3EB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2514600"/>
            <a:ext cx="812800" cy="812800"/>
            <a:chOff x="4456" y="1584"/>
            <a:chExt cx="512" cy="512"/>
          </a:xfrm>
        </p:grpSpPr>
        <p:sp>
          <p:nvSpPr>
            <p:cNvPr id="2029579" name="Rectangle 11">
              <a:extLst>
                <a:ext uri="{FF2B5EF4-FFF2-40B4-BE49-F238E27FC236}">
                  <a16:creationId xmlns:a16="http://schemas.microsoft.com/office/drawing/2014/main" id="{C90FB850-DCC8-0227-78E9-3481F74EB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9580" name="Rectangle 12">
              <a:extLst>
                <a:ext uri="{FF2B5EF4-FFF2-40B4-BE49-F238E27FC236}">
                  <a16:creationId xmlns:a16="http://schemas.microsoft.com/office/drawing/2014/main" id="{22E5002B-A399-C05B-470A-5E5C664C6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711"/>
              <a:ext cx="38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WB</a:t>
              </a:r>
            </a:p>
          </p:txBody>
        </p:sp>
      </p:grpSp>
      <p:sp>
        <p:nvSpPr>
          <p:cNvPr id="2029581" name="Rectangle 13">
            <a:extLst>
              <a:ext uri="{FF2B5EF4-FFF2-40B4-BE49-F238E27FC236}">
                <a16:creationId xmlns:a16="http://schemas.microsoft.com/office/drawing/2014/main" id="{DDB09746-054C-A37B-C790-0DF157BC1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7526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82" name="Rectangle 14">
            <a:extLst>
              <a:ext uri="{FF2B5EF4-FFF2-40B4-BE49-F238E27FC236}">
                <a16:creationId xmlns:a16="http://schemas.microsoft.com/office/drawing/2014/main" id="{86047DB3-5BB4-D5C2-C03E-AED9F4F5E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1954213"/>
            <a:ext cx="6810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ALU</a:t>
            </a:r>
          </a:p>
        </p:txBody>
      </p:sp>
      <p:sp>
        <p:nvSpPr>
          <p:cNvPr id="2029583" name="Rectangle 15">
            <a:extLst>
              <a:ext uri="{FF2B5EF4-FFF2-40B4-BE49-F238E27FC236}">
                <a16:creationId xmlns:a16="http://schemas.microsoft.com/office/drawing/2014/main" id="{48212E0F-C791-31B6-6D5E-A6772BF15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1752600"/>
            <a:ext cx="11684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84" name="Rectangle 16">
            <a:extLst>
              <a:ext uri="{FF2B5EF4-FFF2-40B4-BE49-F238E27FC236}">
                <a16:creationId xmlns:a16="http://schemas.microsoft.com/office/drawing/2014/main" id="{89F6EB95-6EE8-93B6-6A38-07D7FB8A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863" y="1954213"/>
            <a:ext cx="7937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Mem</a:t>
            </a:r>
          </a:p>
        </p:txBody>
      </p:sp>
      <p:sp>
        <p:nvSpPr>
          <p:cNvPr id="2029585" name="Rectangle 17">
            <a:extLst>
              <a:ext uri="{FF2B5EF4-FFF2-40B4-BE49-F238E27FC236}">
                <a16:creationId xmlns:a16="http://schemas.microsoft.com/office/drawing/2014/main" id="{1339C3F9-01D0-75DF-E8B5-E42D05D0D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933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86" name="Rectangle 18">
            <a:extLst>
              <a:ext uri="{FF2B5EF4-FFF2-40B4-BE49-F238E27FC236}">
                <a16:creationId xmlns:a16="http://schemas.microsoft.com/office/drawing/2014/main" id="{E3271C01-B8E5-2E93-735E-13E0D7A49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135313"/>
            <a:ext cx="7969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Fadd</a:t>
            </a:r>
          </a:p>
        </p:txBody>
      </p:sp>
      <p:sp>
        <p:nvSpPr>
          <p:cNvPr id="2029587" name="Rectangle 19">
            <a:extLst>
              <a:ext uri="{FF2B5EF4-FFF2-40B4-BE49-F238E27FC236}">
                <a16:creationId xmlns:a16="http://schemas.microsoft.com/office/drawing/2014/main" id="{81A650D0-B8B5-E0EA-A578-23E9A4C3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243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88" name="Rectangle 20">
            <a:extLst>
              <a:ext uri="{FF2B5EF4-FFF2-40B4-BE49-F238E27FC236}">
                <a16:creationId xmlns:a16="http://schemas.microsoft.com/office/drawing/2014/main" id="{9BF44505-292A-5CFC-A55B-004D56D02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4125913"/>
            <a:ext cx="80486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Fmul</a:t>
            </a:r>
          </a:p>
        </p:txBody>
      </p:sp>
      <p:sp>
        <p:nvSpPr>
          <p:cNvPr id="2029589" name="Rectangle 21">
            <a:extLst>
              <a:ext uri="{FF2B5EF4-FFF2-40B4-BE49-F238E27FC236}">
                <a16:creationId xmlns:a16="http://schemas.microsoft.com/office/drawing/2014/main" id="{90147CEB-C427-5115-4396-DC355C2CA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600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90" name="Rectangle 22">
            <a:extLst>
              <a:ext uri="{FF2B5EF4-FFF2-40B4-BE49-F238E27FC236}">
                <a16:creationId xmlns:a16="http://schemas.microsoft.com/office/drawing/2014/main" id="{CBBAEDB8-DD6B-E28A-37AD-909840A2F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25" y="5802313"/>
            <a:ext cx="706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Fdiv</a:t>
            </a:r>
          </a:p>
        </p:txBody>
      </p:sp>
      <p:sp>
        <p:nvSpPr>
          <p:cNvPr id="2029591" name="Oval 23">
            <a:extLst>
              <a:ext uri="{FF2B5EF4-FFF2-40B4-BE49-F238E27FC236}">
                <a16:creationId xmlns:a16="http://schemas.microsoft.com/office/drawing/2014/main" id="{91516A48-B6B0-5D55-90CD-4C8EFAE61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48704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92" name="Oval 24">
            <a:extLst>
              <a:ext uri="{FF2B5EF4-FFF2-40B4-BE49-F238E27FC236}">
                <a16:creationId xmlns:a16="http://schemas.microsoft.com/office/drawing/2014/main" id="{2357DA78-074F-E01B-D4BC-BBF25A531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165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93" name="Oval 25">
            <a:extLst>
              <a:ext uri="{FF2B5EF4-FFF2-40B4-BE49-F238E27FC236}">
                <a16:creationId xmlns:a16="http://schemas.microsoft.com/office/drawing/2014/main" id="{2612BF58-F9FD-E884-CBE1-1B15259B4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51752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594" name="Oval 26">
            <a:extLst>
              <a:ext uri="{FF2B5EF4-FFF2-40B4-BE49-F238E27FC236}">
                <a16:creationId xmlns:a16="http://schemas.microsoft.com/office/drawing/2014/main" id="{79E2BB35-BF1F-C370-DD6B-96FF44FC7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3213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29595" name="Group 27">
            <a:extLst>
              <a:ext uri="{FF2B5EF4-FFF2-40B4-BE49-F238E27FC236}">
                <a16:creationId xmlns:a16="http://schemas.microsoft.com/office/drawing/2014/main" id="{0015072D-5F10-3280-45DE-C6B8B2BF6B9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20900"/>
            <a:ext cx="636588" cy="3836988"/>
            <a:chOff x="2208" y="1336"/>
            <a:chExt cx="401" cy="2417"/>
          </a:xfrm>
        </p:grpSpPr>
        <p:sp>
          <p:nvSpPr>
            <p:cNvPr id="2029596" name="Freeform 28">
              <a:extLst>
                <a:ext uri="{FF2B5EF4-FFF2-40B4-BE49-F238E27FC236}">
                  <a16:creationId xmlns:a16="http://schemas.microsoft.com/office/drawing/2014/main" id="{468F9B22-967A-CC31-601E-96C55EBA5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336"/>
              <a:ext cx="401" cy="497"/>
            </a:xfrm>
            <a:custGeom>
              <a:avLst/>
              <a:gdLst>
                <a:gd name="T0" fmla="*/ 0 w 401"/>
                <a:gd name="T1" fmla="*/ 496 h 497"/>
                <a:gd name="T2" fmla="*/ 400 w 401"/>
                <a:gd name="T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497">
                  <a:moveTo>
                    <a:pt x="0" y="496"/>
                  </a:moveTo>
                  <a:lnTo>
                    <a:pt x="40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9597" name="Freeform 29">
              <a:extLst>
                <a:ext uri="{FF2B5EF4-FFF2-40B4-BE49-F238E27FC236}">
                  <a16:creationId xmlns:a16="http://schemas.microsoft.com/office/drawing/2014/main" id="{B5FC0551-ADC6-9F3B-66D3-B440AF5A5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225"/>
            </a:xfrm>
            <a:custGeom>
              <a:avLst/>
              <a:gdLst>
                <a:gd name="T0" fmla="*/ 0 w 401"/>
                <a:gd name="T1" fmla="*/ 0 h 225"/>
                <a:gd name="T2" fmla="*/ 400 w 401"/>
                <a:gd name="T3" fmla="*/ 2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225">
                  <a:moveTo>
                    <a:pt x="0" y="0"/>
                  </a:moveTo>
                  <a:lnTo>
                    <a:pt x="400" y="22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9598" name="Freeform 30">
              <a:extLst>
                <a:ext uri="{FF2B5EF4-FFF2-40B4-BE49-F238E27FC236}">
                  <a16:creationId xmlns:a16="http://schemas.microsoft.com/office/drawing/2014/main" id="{E5CD53B7-25EA-0405-CCC3-01B46E08D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841"/>
            </a:xfrm>
            <a:custGeom>
              <a:avLst/>
              <a:gdLst>
                <a:gd name="T0" fmla="*/ 0 w 401"/>
                <a:gd name="T1" fmla="*/ 0 h 841"/>
                <a:gd name="T2" fmla="*/ 400 w 401"/>
                <a:gd name="T3" fmla="*/ 84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841">
                  <a:moveTo>
                    <a:pt x="0" y="0"/>
                  </a:moveTo>
                  <a:lnTo>
                    <a:pt x="400" y="8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9599" name="Freeform 31">
              <a:extLst>
                <a:ext uri="{FF2B5EF4-FFF2-40B4-BE49-F238E27FC236}">
                  <a16:creationId xmlns:a16="http://schemas.microsoft.com/office/drawing/2014/main" id="{065E8142-BB3F-E28B-899B-D68F38A5E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32"/>
              <a:ext cx="393" cy="1921"/>
            </a:xfrm>
            <a:custGeom>
              <a:avLst/>
              <a:gdLst>
                <a:gd name="T0" fmla="*/ 0 w 393"/>
                <a:gd name="T1" fmla="*/ 0 h 1921"/>
                <a:gd name="T2" fmla="*/ 392 w 393"/>
                <a:gd name="T3" fmla="*/ 192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3" h="1921">
                  <a:moveTo>
                    <a:pt x="0" y="0"/>
                  </a:moveTo>
                  <a:lnTo>
                    <a:pt x="392" y="19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9600" name="Freeform 32">
            <a:extLst>
              <a:ext uri="{FF2B5EF4-FFF2-40B4-BE49-F238E27FC236}">
                <a16:creationId xmlns:a16="http://schemas.microsoft.com/office/drawing/2014/main" id="{3BF4BD21-E2C5-5C94-CB3C-23AEA6C8CA93}"/>
              </a:ext>
            </a:extLst>
          </p:cNvPr>
          <p:cNvSpPr>
            <a:spLocks/>
          </p:cNvSpPr>
          <p:nvPr/>
        </p:nvSpPr>
        <p:spPr bwMode="auto">
          <a:xfrm>
            <a:off x="6604000" y="2133600"/>
            <a:ext cx="446088" cy="484188"/>
          </a:xfrm>
          <a:custGeom>
            <a:avLst/>
            <a:gdLst>
              <a:gd name="T0" fmla="*/ 280 w 281"/>
              <a:gd name="T1" fmla="*/ 304 h 305"/>
              <a:gd name="T2" fmla="*/ 0 w 281"/>
              <a:gd name="T3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1" h="305">
                <a:moveTo>
                  <a:pt x="280" y="304"/>
                </a:move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1" name="Freeform 33">
            <a:extLst>
              <a:ext uri="{FF2B5EF4-FFF2-40B4-BE49-F238E27FC236}">
                <a16:creationId xmlns:a16="http://schemas.microsoft.com/office/drawing/2014/main" id="{B9EDEBDA-509E-2F9D-B48E-3A635DC19AF8}"/>
              </a:ext>
            </a:extLst>
          </p:cNvPr>
          <p:cNvSpPr>
            <a:spLocks/>
          </p:cNvSpPr>
          <p:nvPr/>
        </p:nvSpPr>
        <p:spPr bwMode="auto">
          <a:xfrm>
            <a:off x="5803900" y="2946400"/>
            <a:ext cx="1233488" cy="331788"/>
          </a:xfrm>
          <a:custGeom>
            <a:avLst/>
            <a:gdLst>
              <a:gd name="T0" fmla="*/ 776 w 777"/>
              <a:gd name="T1" fmla="*/ 0 h 209"/>
              <a:gd name="T2" fmla="*/ 0 w 777"/>
              <a:gd name="T3" fmla="*/ 208 h 20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209">
                <a:moveTo>
                  <a:pt x="776" y="0"/>
                </a:moveTo>
                <a:lnTo>
                  <a:pt x="0" y="20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2" name="Freeform 34">
            <a:extLst>
              <a:ext uri="{FF2B5EF4-FFF2-40B4-BE49-F238E27FC236}">
                <a16:creationId xmlns:a16="http://schemas.microsoft.com/office/drawing/2014/main" id="{3F9AB21B-8EAA-A982-45D5-A3DA2D26A50B}"/>
              </a:ext>
            </a:extLst>
          </p:cNvPr>
          <p:cNvSpPr>
            <a:spLocks/>
          </p:cNvSpPr>
          <p:nvPr/>
        </p:nvSpPr>
        <p:spPr bwMode="auto">
          <a:xfrm>
            <a:off x="5803900" y="3111500"/>
            <a:ext cx="1246188" cy="1144588"/>
          </a:xfrm>
          <a:custGeom>
            <a:avLst/>
            <a:gdLst>
              <a:gd name="T0" fmla="*/ 784 w 785"/>
              <a:gd name="T1" fmla="*/ 0 h 721"/>
              <a:gd name="T2" fmla="*/ 0 w 785"/>
              <a:gd name="T3" fmla="*/ 720 h 7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85" h="721">
                <a:moveTo>
                  <a:pt x="784" y="0"/>
                </a:moveTo>
                <a:lnTo>
                  <a:pt x="0" y="72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3" name="Freeform 35">
            <a:extLst>
              <a:ext uri="{FF2B5EF4-FFF2-40B4-BE49-F238E27FC236}">
                <a16:creationId xmlns:a16="http://schemas.microsoft.com/office/drawing/2014/main" id="{EFCECD64-DEED-C39E-6692-7A10CEDEC4D3}"/>
              </a:ext>
            </a:extLst>
          </p:cNvPr>
          <p:cNvSpPr>
            <a:spLocks/>
          </p:cNvSpPr>
          <p:nvPr/>
        </p:nvSpPr>
        <p:spPr bwMode="auto">
          <a:xfrm>
            <a:off x="5816600" y="3263900"/>
            <a:ext cx="1233488" cy="2719388"/>
          </a:xfrm>
          <a:custGeom>
            <a:avLst/>
            <a:gdLst>
              <a:gd name="T0" fmla="*/ 776 w 777"/>
              <a:gd name="T1" fmla="*/ 0 h 1713"/>
              <a:gd name="T2" fmla="*/ 0 w 777"/>
              <a:gd name="T3" fmla="*/ 1712 h 17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1713">
                <a:moveTo>
                  <a:pt x="776" y="0"/>
                </a:moveTo>
                <a:lnTo>
                  <a:pt x="0" y="17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4" name="Freeform 36">
            <a:extLst>
              <a:ext uri="{FF2B5EF4-FFF2-40B4-BE49-F238E27FC236}">
                <a16:creationId xmlns:a16="http://schemas.microsoft.com/office/drawing/2014/main" id="{8B289AA7-3AB1-8334-3ECC-BA6CBFEFE5A2}"/>
              </a:ext>
            </a:extLst>
          </p:cNvPr>
          <p:cNvSpPr>
            <a:spLocks/>
          </p:cNvSpPr>
          <p:nvPr/>
        </p:nvSpPr>
        <p:spPr bwMode="auto">
          <a:xfrm>
            <a:off x="4965700" y="2133600"/>
            <a:ext cx="2084388" cy="623888"/>
          </a:xfrm>
          <a:custGeom>
            <a:avLst/>
            <a:gdLst>
              <a:gd name="T0" fmla="*/ 0 w 1313"/>
              <a:gd name="T1" fmla="*/ 0 h 393"/>
              <a:gd name="T2" fmla="*/ 120 w 1313"/>
              <a:gd name="T3" fmla="*/ 0 h 393"/>
              <a:gd name="T4" fmla="*/ 120 w 1313"/>
              <a:gd name="T5" fmla="*/ 392 h 393"/>
              <a:gd name="T6" fmla="*/ 1312 w 1313"/>
              <a:gd name="T7" fmla="*/ 392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13" h="393">
                <a:moveTo>
                  <a:pt x="0" y="0"/>
                </a:moveTo>
                <a:lnTo>
                  <a:pt x="120" y="0"/>
                </a:lnTo>
                <a:lnTo>
                  <a:pt x="120" y="392"/>
                </a:lnTo>
                <a:lnTo>
                  <a:pt x="1312" y="39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5" name="Line 37">
            <a:extLst>
              <a:ext uri="{FF2B5EF4-FFF2-40B4-BE49-F238E27FC236}">
                <a16:creationId xmlns:a16="http://schemas.microsoft.com/office/drawing/2014/main" id="{120EBBC5-534E-CF21-8895-3438AC23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2133600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606" name="Freeform 38">
            <a:extLst>
              <a:ext uri="{FF2B5EF4-FFF2-40B4-BE49-F238E27FC236}">
                <a16:creationId xmlns:a16="http://schemas.microsoft.com/office/drawing/2014/main" id="{C4961FC2-512C-8B60-FF11-ED5D6900CFF1}"/>
              </a:ext>
            </a:extLst>
          </p:cNvPr>
          <p:cNvSpPr>
            <a:spLocks/>
          </p:cNvSpPr>
          <p:nvPr/>
        </p:nvSpPr>
        <p:spPr bwMode="auto">
          <a:xfrm>
            <a:off x="3086100" y="1435100"/>
            <a:ext cx="5183188" cy="1487488"/>
          </a:xfrm>
          <a:custGeom>
            <a:avLst/>
            <a:gdLst>
              <a:gd name="T0" fmla="*/ 3032 w 3265"/>
              <a:gd name="T1" fmla="*/ 936 h 937"/>
              <a:gd name="T2" fmla="*/ 3264 w 3265"/>
              <a:gd name="T3" fmla="*/ 936 h 937"/>
              <a:gd name="T4" fmla="*/ 3264 w 3265"/>
              <a:gd name="T5" fmla="*/ 0 h 937"/>
              <a:gd name="T6" fmla="*/ 0 w 3265"/>
              <a:gd name="T7" fmla="*/ 0 h 937"/>
              <a:gd name="T8" fmla="*/ 0 w 3265"/>
              <a:gd name="T9" fmla="*/ 680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5" h="937">
                <a:moveTo>
                  <a:pt x="3032" y="936"/>
                </a:moveTo>
                <a:lnTo>
                  <a:pt x="3264" y="936"/>
                </a:lnTo>
                <a:lnTo>
                  <a:pt x="3264" y="0"/>
                </a:lnTo>
                <a:lnTo>
                  <a:pt x="0" y="0"/>
                </a:lnTo>
                <a:lnTo>
                  <a:pt x="0" y="6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9607" name="Rectangle 39">
            <a:extLst>
              <a:ext uri="{FF2B5EF4-FFF2-40B4-BE49-F238E27FC236}">
                <a16:creationId xmlns:a16="http://schemas.microsoft.com/office/drawing/2014/main" id="{D4C76FB6-AE41-1978-457D-21A5F0A58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16213"/>
            <a:ext cx="1000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Issue</a:t>
            </a:r>
          </a:p>
        </p:txBody>
      </p:sp>
      <p:sp>
        <p:nvSpPr>
          <p:cNvPr id="2029608" name="Line 40">
            <a:extLst>
              <a:ext uri="{FF2B5EF4-FFF2-40B4-BE49-F238E27FC236}">
                <a16:creationId xmlns:a16="http://schemas.microsoft.com/office/drawing/2014/main" id="{4222D2D4-7C78-B305-1DE6-988ED6B39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2946400"/>
            <a:ext cx="36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9609" name="Rectangle 41">
            <a:extLst>
              <a:ext uri="{FF2B5EF4-FFF2-40B4-BE49-F238E27FC236}">
                <a16:creationId xmlns:a16="http://schemas.microsoft.com/office/drawing/2014/main" id="{F0669DC6-F6CB-D585-EA22-5DFAA0953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3419475"/>
            <a:ext cx="90646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GPR’s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FPR’s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5AE11AD-E315-210A-8E53-A3F0EB30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B1584B6-D91D-EA7B-3847-C4B2A912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3E82460-8963-69A7-3DE3-520C992B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5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618" name="Rectangle 2">
            <a:extLst>
              <a:ext uri="{FF2B5EF4-FFF2-40B4-BE49-F238E27FC236}">
                <a16:creationId xmlns:a16="http://schemas.microsoft.com/office/drawing/2014/main" id="{9C153A53-A79E-3620-A9FB-7A223E75D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3200"/>
              <a:t>Complex Pipeline Control Issues</a:t>
            </a:r>
          </a:p>
        </p:txBody>
      </p:sp>
      <p:sp>
        <p:nvSpPr>
          <p:cNvPr id="2031619" name="Rectangle 3">
            <a:extLst>
              <a:ext uri="{FF2B5EF4-FFF2-40B4-BE49-F238E27FC236}">
                <a16:creationId xmlns:a16="http://schemas.microsoft.com/office/drawing/2014/main" id="{013DA718-BEDD-8F2A-B681-1329FEAD6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8269287" cy="4152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buFontTx/>
              <a:buChar char="•"/>
            </a:pPr>
            <a:r>
              <a:rPr lang="en-US" altLang="en-US" sz="2400" dirty="0">
                <a:latin typeface="Verdana" panose="020B0604030504040204" pitchFamily="34" charset="0"/>
              </a:rPr>
              <a:t> Structural conflicts at the writeback stage due to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   variable latencies of different function units</a:t>
            </a:r>
          </a:p>
          <a:p>
            <a:pPr algn="l" eaLnBrk="0" hangingPunct="0"/>
            <a:endParaRPr lang="en-US" altLang="en-US" sz="2400" dirty="0">
              <a:latin typeface="Verdana" panose="020B0604030504040204" pitchFamily="34" charset="0"/>
            </a:endParaRPr>
          </a:p>
          <a:p>
            <a:pPr algn="l" eaLnBrk="0" hangingPunct="0">
              <a:buFontTx/>
              <a:buChar char="•"/>
            </a:pPr>
            <a:r>
              <a:rPr lang="en-US" altLang="en-US" sz="2400" dirty="0">
                <a:latin typeface="Verdana" panose="020B0604030504040204" pitchFamily="34" charset="0"/>
              </a:rPr>
              <a:t> Structural conflicts at the execution stage if some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   FPU or memory unit is not pipelined and takes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   more than one cycle</a:t>
            </a:r>
          </a:p>
          <a:p>
            <a:pPr algn="l" eaLnBrk="0" hangingPunct="0"/>
            <a:endParaRPr lang="en-US" altLang="en-US" sz="2400" dirty="0">
              <a:latin typeface="Verdana" panose="020B0604030504040204" pitchFamily="34" charset="0"/>
            </a:endParaRPr>
          </a:p>
          <a:p>
            <a:pPr algn="l" eaLnBrk="0" hangingPunct="0">
              <a:buFontTx/>
              <a:buChar char="•"/>
            </a:pPr>
            <a:r>
              <a:rPr lang="en-US" altLang="en-US" sz="2400" dirty="0">
                <a:latin typeface="Verdana" panose="020B0604030504040204" pitchFamily="34" charset="0"/>
              </a:rPr>
              <a:t> Out-of-order write hazards due to variable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   latencies of different function units</a:t>
            </a:r>
          </a:p>
          <a:p>
            <a:pPr algn="l" eaLnBrk="0" hangingPunct="0">
              <a:buFontTx/>
              <a:buChar char="•"/>
            </a:pPr>
            <a:endParaRPr lang="en-US" altLang="en-US" sz="2400" i="1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>
              <a:buFontTx/>
              <a:buChar char="•"/>
            </a:pPr>
            <a:r>
              <a:rPr lang="en-US" altLang="en-US" sz="2400" dirty="0">
                <a:latin typeface="Verdana" panose="020B0604030504040204" pitchFamily="34" charset="0"/>
              </a:rPr>
              <a:t> How to handle exceptions?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68AD65-9C4C-4F51-857A-FF4C187C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F96783-65CB-F61F-66B4-99C15855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E75FA1B-03CA-36D3-7361-B6C9649F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6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26" name="Rectangle 6">
            <a:extLst>
              <a:ext uri="{FF2B5EF4-FFF2-40B4-BE49-F238E27FC236}">
                <a16:creationId xmlns:a16="http://schemas.microsoft.com/office/drawing/2014/main" id="{DF235F63-3A62-DA08-76A3-A523BE795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Complex </a:t>
            </a:r>
            <a:r>
              <a:rPr lang="en-US" altLang="en-US" u="sng" dirty="0"/>
              <a:t>In-Order</a:t>
            </a:r>
            <a:r>
              <a:rPr lang="en-US" altLang="en-US" dirty="0"/>
              <a:t> Pipeline</a:t>
            </a:r>
          </a:p>
        </p:txBody>
      </p:sp>
      <p:sp>
        <p:nvSpPr>
          <p:cNvPr id="2078727" name="Rectangle 7">
            <a:extLst>
              <a:ext uri="{FF2B5EF4-FFF2-40B4-BE49-F238E27FC236}">
                <a16:creationId xmlns:a16="http://schemas.microsoft.com/office/drawing/2014/main" id="{F0ED1F2F-C54F-780B-A1DA-B114C40BF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557" y="3023214"/>
            <a:ext cx="3382113" cy="3669686"/>
          </a:xfrm>
          <a:noFill/>
          <a:ln/>
          <a:extLs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800" dirty="0">
                <a:solidFill>
                  <a:srgbClr val="7030A0"/>
                </a:solidFill>
              </a:rPr>
              <a:t>Delay writeback so all operations have the same latency to W stage</a:t>
            </a:r>
          </a:p>
          <a:p>
            <a:r>
              <a:rPr lang="en-US" altLang="en-US" sz="1800" dirty="0">
                <a:solidFill>
                  <a:srgbClr val="7030A0"/>
                </a:solidFill>
              </a:rPr>
              <a:t>Avoid oversubscribing Write ports</a:t>
            </a:r>
          </a:p>
          <a:p>
            <a:r>
              <a:rPr lang="en-US" altLang="en-US" sz="1800" dirty="0">
                <a:solidFill>
                  <a:srgbClr val="7030A0"/>
                </a:solidFill>
                <a:latin typeface="Verdana" panose="020B0604030504040204" pitchFamily="34" charset="0"/>
              </a:rPr>
              <a:t>Use bypassing on single-cycle integer operations to mitigate increased writeback latency</a:t>
            </a:r>
          </a:p>
          <a:p>
            <a:r>
              <a:rPr lang="en-US" altLang="en-US" sz="1800" dirty="0">
                <a:solidFill>
                  <a:srgbClr val="7030A0"/>
                </a:solidFill>
                <a:latin typeface="Verdana" panose="020B0604030504040204" pitchFamily="34" charset="0"/>
              </a:rPr>
              <a:t>Superscalar execution</a:t>
            </a:r>
          </a:p>
          <a:p>
            <a:endParaRPr lang="en-US" altLang="en-US" sz="1800" dirty="0">
              <a:solidFill>
                <a:srgbClr val="7030A0"/>
              </a:solidFill>
            </a:endParaRPr>
          </a:p>
          <a:p>
            <a:pPr lvl="1"/>
            <a:endParaRPr lang="en-US" altLang="en-US" dirty="0">
              <a:solidFill>
                <a:srgbClr val="7030A0"/>
              </a:solidFill>
            </a:endParaRPr>
          </a:p>
          <a:p>
            <a:pPr>
              <a:buFontTx/>
              <a:buNone/>
            </a:pPr>
            <a:endParaRPr lang="en-US" altLang="en-US" sz="1800" dirty="0">
              <a:solidFill>
                <a:srgbClr val="7030A0"/>
              </a:solidFill>
            </a:endParaRPr>
          </a:p>
        </p:txBody>
      </p:sp>
      <p:sp>
        <p:nvSpPr>
          <p:cNvPr id="2078799" name="Text Box 79">
            <a:extLst>
              <a:ext uri="{FF2B5EF4-FFF2-40B4-BE49-F238E27FC236}">
                <a16:creationId xmlns:a16="http://schemas.microsoft.com/office/drawing/2014/main" id="{8ABD1059-A9C8-DD35-9769-D46A68AFF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038600"/>
            <a:ext cx="1284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sz="1800" b="1" i="1">
                <a:solidFill>
                  <a:schemeClr val="hlink"/>
                </a:solidFill>
              </a:rPr>
              <a:t>Commit Point</a:t>
            </a:r>
          </a:p>
        </p:txBody>
      </p:sp>
      <p:grpSp>
        <p:nvGrpSpPr>
          <p:cNvPr id="2078802" name="Group 82">
            <a:extLst>
              <a:ext uri="{FF2B5EF4-FFF2-40B4-BE49-F238E27FC236}">
                <a16:creationId xmlns:a16="http://schemas.microsoft.com/office/drawing/2014/main" id="{467B968A-65FF-1D09-3EEB-E08A177A0195}"/>
              </a:ext>
            </a:extLst>
          </p:cNvPr>
          <p:cNvGrpSpPr>
            <a:grpSpLocks/>
          </p:cNvGrpSpPr>
          <p:nvPr/>
        </p:nvGrpSpPr>
        <p:grpSpPr bwMode="auto">
          <a:xfrm>
            <a:off x="1069975" y="1152525"/>
            <a:ext cx="7572375" cy="5373688"/>
            <a:chOff x="240" y="480"/>
            <a:chExt cx="5232" cy="3744"/>
          </a:xfrm>
        </p:grpSpPr>
        <p:sp>
          <p:nvSpPr>
            <p:cNvPr id="2078725" name="Freeform 5">
              <a:extLst>
                <a:ext uri="{FF2B5EF4-FFF2-40B4-BE49-F238E27FC236}">
                  <a16:creationId xmlns:a16="http://schemas.microsoft.com/office/drawing/2014/main" id="{3BAC4C56-ADF2-4535-4B31-A1060A25D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3696"/>
              <a:ext cx="720" cy="528"/>
            </a:xfrm>
            <a:custGeom>
              <a:avLst/>
              <a:gdLst>
                <a:gd name="T0" fmla="*/ 384 w 720"/>
                <a:gd name="T1" fmla="*/ 0 h 528"/>
                <a:gd name="T2" fmla="*/ 720 w 720"/>
                <a:gd name="T3" fmla="*/ 0 h 528"/>
                <a:gd name="T4" fmla="*/ 720 w 720"/>
                <a:gd name="T5" fmla="*/ 528 h 528"/>
                <a:gd name="T6" fmla="*/ 0 w 720"/>
                <a:gd name="T7" fmla="*/ 528 h 528"/>
                <a:gd name="T8" fmla="*/ 0 w 720"/>
                <a:gd name="T9" fmla="*/ 240 h 528"/>
                <a:gd name="T10" fmla="*/ 96 w 720"/>
                <a:gd name="T11" fmla="*/ 24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0" h="528">
                  <a:moveTo>
                    <a:pt x="384" y="0"/>
                  </a:moveTo>
                  <a:lnTo>
                    <a:pt x="720" y="0"/>
                  </a:lnTo>
                  <a:lnTo>
                    <a:pt x="720" y="528"/>
                  </a:lnTo>
                  <a:lnTo>
                    <a:pt x="0" y="528"/>
                  </a:lnTo>
                  <a:lnTo>
                    <a:pt x="0" y="240"/>
                  </a:lnTo>
                  <a:lnTo>
                    <a:pt x="96" y="24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22" name="Freeform 2">
              <a:extLst>
                <a:ext uri="{FF2B5EF4-FFF2-40B4-BE49-F238E27FC236}">
                  <a16:creationId xmlns:a16="http://schemas.microsoft.com/office/drawing/2014/main" id="{547D34A9-478A-7BBD-D237-6BEFF174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536"/>
              <a:ext cx="3072" cy="480"/>
            </a:xfrm>
            <a:custGeom>
              <a:avLst/>
              <a:gdLst>
                <a:gd name="T0" fmla="*/ 2880 w 3072"/>
                <a:gd name="T1" fmla="*/ 480 h 480"/>
                <a:gd name="T2" fmla="*/ 3072 w 3072"/>
                <a:gd name="T3" fmla="*/ 480 h 480"/>
                <a:gd name="T4" fmla="*/ 3072 w 3072"/>
                <a:gd name="T5" fmla="*/ 0 h 480"/>
                <a:gd name="T6" fmla="*/ 0 w 3072"/>
                <a:gd name="T7" fmla="*/ 0 h 480"/>
                <a:gd name="T8" fmla="*/ 0 w 3072"/>
                <a:gd name="T9" fmla="*/ 144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2" h="480">
                  <a:moveTo>
                    <a:pt x="2880" y="480"/>
                  </a:moveTo>
                  <a:lnTo>
                    <a:pt x="3072" y="480"/>
                  </a:lnTo>
                  <a:lnTo>
                    <a:pt x="3072" y="0"/>
                  </a:ln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23" name="Freeform 3">
              <a:extLst>
                <a:ext uri="{FF2B5EF4-FFF2-40B4-BE49-F238E27FC236}">
                  <a16:creationId xmlns:a16="http://schemas.microsoft.com/office/drawing/2014/main" id="{EA1C1923-4B69-F96F-8B59-9510970FB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576"/>
              <a:ext cx="3072" cy="480"/>
            </a:xfrm>
            <a:custGeom>
              <a:avLst/>
              <a:gdLst>
                <a:gd name="T0" fmla="*/ 2880 w 3072"/>
                <a:gd name="T1" fmla="*/ 480 h 480"/>
                <a:gd name="T2" fmla="*/ 3072 w 3072"/>
                <a:gd name="T3" fmla="*/ 480 h 480"/>
                <a:gd name="T4" fmla="*/ 3072 w 3072"/>
                <a:gd name="T5" fmla="*/ 0 h 480"/>
                <a:gd name="T6" fmla="*/ 0 w 3072"/>
                <a:gd name="T7" fmla="*/ 0 h 480"/>
                <a:gd name="T8" fmla="*/ 0 w 3072"/>
                <a:gd name="T9" fmla="*/ 144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2" h="480">
                  <a:moveTo>
                    <a:pt x="2880" y="480"/>
                  </a:moveTo>
                  <a:lnTo>
                    <a:pt x="3072" y="480"/>
                  </a:lnTo>
                  <a:lnTo>
                    <a:pt x="3072" y="0"/>
                  </a:ln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24" name="Freeform 4">
              <a:extLst>
                <a:ext uri="{FF2B5EF4-FFF2-40B4-BE49-F238E27FC236}">
                  <a16:creationId xmlns:a16="http://schemas.microsoft.com/office/drawing/2014/main" id="{5BA4D0BE-41A9-2087-D0BE-1453FDD31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824"/>
              <a:ext cx="1392" cy="1872"/>
            </a:xfrm>
            <a:custGeom>
              <a:avLst/>
              <a:gdLst>
                <a:gd name="T0" fmla="*/ 0 w 1440"/>
                <a:gd name="T1" fmla="*/ 1680 h 1680"/>
                <a:gd name="T2" fmla="*/ 1440 w 1440"/>
                <a:gd name="T3" fmla="*/ 1680 h 1680"/>
                <a:gd name="T4" fmla="*/ 1440 w 1440"/>
                <a:gd name="T5" fmla="*/ 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0" h="1680">
                  <a:moveTo>
                    <a:pt x="0" y="1680"/>
                  </a:moveTo>
                  <a:lnTo>
                    <a:pt x="1440" y="1680"/>
                  </a:lnTo>
                  <a:lnTo>
                    <a:pt x="1440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28" name="Line 8">
              <a:extLst>
                <a:ext uri="{FF2B5EF4-FFF2-40B4-BE49-F238E27FC236}">
                  <a16:creationId xmlns:a16="http://schemas.microsoft.com/office/drawing/2014/main" id="{9CE48868-3922-4D69-BB84-DC70E76CE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056"/>
              <a:ext cx="19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29" name="Line 9">
              <a:extLst>
                <a:ext uri="{FF2B5EF4-FFF2-40B4-BE49-F238E27FC236}">
                  <a16:creationId xmlns:a16="http://schemas.microsoft.com/office/drawing/2014/main" id="{AA08E14C-1999-1E8F-DEEF-5A4A6BEA1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056"/>
              <a:ext cx="2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30" name="Group 10">
              <a:extLst>
                <a:ext uri="{FF2B5EF4-FFF2-40B4-BE49-F238E27FC236}">
                  <a16:creationId xmlns:a16="http://schemas.microsoft.com/office/drawing/2014/main" id="{95294186-2565-6C7F-18EB-647F58C15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672"/>
              <a:ext cx="192" cy="768"/>
              <a:chOff x="336" y="1200"/>
              <a:chExt cx="144" cy="720"/>
            </a:xfrm>
          </p:grpSpPr>
          <p:sp>
            <p:nvSpPr>
              <p:cNvPr id="2078731" name="Rectangle 11">
                <a:extLst>
                  <a:ext uri="{FF2B5EF4-FFF2-40B4-BE49-F238E27FC236}">
                    <a16:creationId xmlns:a16="http://schemas.microsoft.com/office/drawing/2014/main" id="{DB8F485C-9963-F3B0-84BF-DF3AC90C3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PC</a:t>
                </a:r>
              </a:p>
            </p:txBody>
          </p:sp>
          <p:sp>
            <p:nvSpPr>
              <p:cNvPr id="2078732" name="Freeform 12">
                <a:extLst>
                  <a:ext uri="{FF2B5EF4-FFF2-40B4-BE49-F238E27FC236}">
                    <a16:creationId xmlns:a16="http://schemas.microsoft.com/office/drawing/2014/main" id="{02F4EB6D-803F-C136-C2B3-C3DFBF99B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33" name="Rectangle 13">
              <a:extLst>
                <a:ext uri="{FF2B5EF4-FFF2-40B4-BE49-F238E27FC236}">
                  <a16:creationId xmlns:a16="http://schemas.microsoft.com/office/drawing/2014/main" id="{EBF5E17D-7C70-3211-D6D6-92904AC0C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20"/>
              <a:ext cx="576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/>
              <a:r>
                <a:rPr lang="en-US" altLang="en-US" sz="1800">
                  <a:solidFill>
                    <a:srgbClr val="56127A"/>
                  </a:solidFill>
                </a:rPr>
                <a:t>Inst. Mem</a:t>
              </a:r>
            </a:p>
          </p:txBody>
        </p:sp>
        <p:grpSp>
          <p:nvGrpSpPr>
            <p:cNvPr id="2078734" name="Group 14">
              <a:extLst>
                <a:ext uri="{FF2B5EF4-FFF2-40B4-BE49-F238E27FC236}">
                  <a16:creationId xmlns:a16="http://schemas.microsoft.com/office/drawing/2014/main" id="{165C3667-CEBA-47AF-4258-6958E7CED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672"/>
              <a:ext cx="192" cy="768"/>
              <a:chOff x="336" y="1200"/>
              <a:chExt cx="144" cy="720"/>
            </a:xfrm>
          </p:grpSpPr>
          <p:sp>
            <p:nvSpPr>
              <p:cNvPr id="2078735" name="Rectangle 15">
                <a:extLst>
                  <a:ext uri="{FF2B5EF4-FFF2-40B4-BE49-F238E27FC236}">
                    <a16:creationId xmlns:a16="http://schemas.microsoft.com/office/drawing/2014/main" id="{3A4F8B27-572F-4603-809C-27562B047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D</a:t>
                </a:r>
              </a:p>
            </p:txBody>
          </p:sp>
          <p:sp>
            <p:nvSpPr>
              <p:cNvPr id="2078736" name="Freeform 16">
                <a:extLst>
                  <a:ext uri="{FF2B5EF4-FFF2-40B4-BE49-F238E27FC236}">
                    <a16:creationId xmlns:a16="http://schemas.microsoft.com/office/drawing/2014/main" id="{E8C5F513-E1D3-6AA5-3D68-E536422B5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37" name="Line 17">
              <a:extLst>
                <a:ext uri="{FF2B5EF4-FFF2-40B4-BE49-F238E27FC236}">
                  <a16:creationId xmlns:a16="http://schemas.microsoft.com/office/drawing/2014/main" id="{1BF6538B-E477-568C-BBF9-7E5C049A1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2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38" name="Rectangle 18">
              <a:extLst>
                <a:ext uri="{FF2B5EF4-FFF2-40B4-BE49-F238E27FC236}">
                  <a16:creationId xmlns:a16="http://schemas.microsoft.com/office/drawing/2014/main" id="{D6B0FB50-6C45-FA4B-D28D-D307900F6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720"/>
              <a:ext cx="672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/>
              <a:r>
                <a:rPr lang="en-US" altLang="en-US" sz="1600">
                  <a:solidFill>
                    <a:srgbClr val="56127A"/>
                  </a:solidFill>
                </a:rPr>
                <a:t>Decode</a:t>
              </a:r>
            </a:p>
          </p:txBody>
        </p:sp>
        <p:sp>
          <p:nvSpPr>
            <p:cNvPr id="2078739" name="Line 19">
              <a:extLst>
                <a:ext uri="{FF2B5EF4-FFF2-40B4-BE49-F238E27FC236}">
                  <a16:creationId xmlns:a16="http://schemas.microsoft.com/office/drawing/2014/main" id="{1B935A98-C2F8-0A3C-A166-1F3EA1DB1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86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40" name="Group 20">
              <a:extLst>
                <a:ext uri="{FF2B5EF4-FFF2-40B4-BE49-F238E27FC236}">
                  <a16:creationId xmlns:a16="http://schemas.microsoft.com/office/drawing/2014/main" id="{DDF7FE2A-22B1-2BE8-E47D-C6BCBAFC6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672"/>
              <a:ext cx="192" cy="768"/>
              <a:chOff x="336" y="1200"/>
              <a:chExt cx="144" cy="720"/>
            </a:xfrm>
          </p:grpSpPr>
          <p:sp>
            <p:nvSpPr>
              <p:cNvPr id="2078741" name="Rectangle 21">
                <a:extLst>
                  <a:ext uri="{FF2B5EF4-FFF2-40B4-BE49-F238E27FC236}">
                    <a16:creationId xmlns:a16="http://schemas.microsoft.com/office/drawing/2014/main" id="{3966F10E-614C-EF7A-4B35-A959A6061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X1</a:t>
                </a:r>
              </a:p>
            </p:txBody>
          </p:sp>
          <p:sp>
            <p:nvSpPr>
              <p:cNvPr id="2078742" name="Freeform 22">
                <a:extLst>
                  <a:ext uri="{FF2B5EF4-FFF2-40B4-BE49-F238E27FC236}">
                    <a16:creationId xmlns:a16="http://schemas.microsoft.com/office/drawing/2014/main" id="{1EF43B18-DE5F-DEE8-7251-8034D6B99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43" name="Freeform 23">
              <a:extLst>
                <a:ext uri="{FF2B5EF4-FFF2-40B4-BE49-F238E27FC236}">
                  <a16:creationId xmlns:a16="http://schemas.microsoft.com/office/drawing/2014/main" id="{2721DC9E-2E96-C569-C623-FB7A2FCC6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720"/>
              <a:ext cx="240" cy="672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44" name="Group 24">
              <a:extLst>
                <a:ext uri="{FF2B5EF4-FFF2-40B4-BE49-F238E27FC236}">
                  <a16:creationId xmlns:a16="http://schemas.microsoft.com/office/drawing/2014/main" id="{2D0F954E-1124-2D37-DCBB-720E55313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672"/>
              <a:ext cx="192" cy="768"/>
              <a:chOff x="336" y="1200"/>
              <a:chExt cx="144" cy="720"/>
            </a:xfrm>
          </p:grpSpPr>
          <p:sp>
            <p:nvSpPr>
              <p:cNvPr id="2078745" name="Rectangle 25">
                <a:extLst>
                  <a:ext uri="{FF2B5EF4-FFF2-40B4-BE49-F238E27FC236}">
                    <a16:creationId xmlns:a16="http://schemas.microsoft.com/office/drawing/2014/main" id="{948C8331-8498-3F71-BA1E-7E908B318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X2</a:t>
                </a:r>
              </a:p>
            </p:txBody>
          </p:sp>
          <p:sp>
            <p:nvSpPr>
              <p:cNvPr id="2078746" name="Freeform 26">
                <a:extLst>
                  <a:ext uri="{FF2B5EF4-FFF2-40B4-BE49-F238E27FC236}">
                    <a16:creationId xmlns:a16="http://schemas.microsoft.com/office/drawing/2014/main" id="{6519747C-3B5C-2674-39C5-253A8FF4D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47" name="Rectangle 27">
              <a:extLst>
                <a:ext uri="{FF2B5EF4-FFF2-40B4-BE49-F238E27FC236}">
                  <a16:creationId xmlns:a16="http://schemas.microsoft.com/office/drawing/2014/main" id="{BA1E535D-4F31-56DB-099E-F017BD248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672"/>
              <a:ext cx="528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/>
              <a:r>
                <a:rPr lang="en-US" altLang="en-US" sz="1800">
                  <a:solidFill>
                    <a:srgbClr val="56127A"/>
                  </a:solidFill>
                </a:rPr>
                <a:t>Data Mem</a:t>
              </a:r>
            </a:p>
          </p:txBody>
        </p:sp>
        <p:grpSp>
          <p:nvGrpSpPr>
            <p:cNvPr id="2078748" name="Group 28">
              <a:extLst>
                <a:ext uri="{FF2B5EF4-FFF2-40B4-BE49-F238E27FC236}">
                  <a16:creationId xmlns:a16="http://schemas.microsoft.com/office/drawing/2014/main" id="{6FE0DAAC-E295-777A-99E1-4E4E765BEF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672"/>
              <a:ext cx="192" cy="768"/>
              <a:chOff x="336" y="1200"/>
              <a:chExt cx="144" cy="720"/>
            </a:xfrm>
          </p:grpSpPr>
          <p:sp>
            <p:nvSpPr>
              <p:cNvPr id="2078749" name="Rectangle 29">
                <a:extLst>
                  <a:ext uri="{FF2B5EF4-FFF2-40B4-BE49-F238E27FC236}">
                    <a16:creationId xmlns:a16="http://schemas.microsoft.com/office/drawing/2014/main" id="{069FFE2E-EE38-9277-5C0F-22882BB62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W</a:t>
                </a:r>
              </a:p>
            </p:txBody>
          </p:sp>
          <p:sp>
            <p:nvSpPr>
              <p:cNvPr id="2078750" name="Freeform 30">
                <a:extLst>
                  <a:ext uri="{FF2B5EF4-FFF2-40B4-BE49-F238E27FC236}">
                    <a16:creationId xmlns:a16="http://schemas.microsoft.com/office/drawing/2014/main" id="{F2439C17-6869-AF91-B15D-E4491432D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51" name="Text Box 31">
              <a:extLst>
                <a:ext uri="{FF2B5EF4-FFF2-40B4-BE49-F238E27FC236}">
                  <a16:creationId xmlns:a16="http://schemas.microsoft.com/office/drawing/2014/main" id="{0BC3F6E8-5AFD-D7F4-0112-8E5789C67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949"/>
              <a:ext cx="21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solidFill>
                    <a:srgbClr val="56127A"/>
                  </a:solidFill>
                </a:rPr>
                <a:t>+</a:t>
              </a:r>
            </a:p>
          </p:txBody>
        </p:sp>
        <p:sp>
          <p:nvSpPr>
            <p:cNvPr id="2078752" name="Rectangle 32">
              <a:extLst>
                <a:ext uri="{FF2B5EF4-FFF2-40B4-BE49-F238E27FC236}">
                  <a16:creationId xmlns:a16="http://schemas.microsoft.com/office/drawing/2014/main" id="{7280DF2D-7FF6-60B5-5AF1-53A731508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720"/>
              <a:ext cx="528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/>
              <a:r>
                <a:rPr lang="en-US" altLang="en-US" sz="1600">
                  <a:solidFill>
                    <a:srgbClr val="56127A"/>
                  </a:solidFill>
                </a:rPr>
                <a:t>GPRs</a:t>
              </a:r>
            </a:p>
          </p:txBody>
        </p:sp>
        <p:sp>
          <p:nvSpPr>
            <p:cNvPr id="2078753" name="Line 33">
              <a:extLst>
                <a:ext uri="{FF2B5EF4-FFF2-40B4-BE49-F238E27FC236}">
                  <a16:creationId xmlns:a16="http://schemas.microsoft.com/office/drawing/2014/main" id="{CA03234B-464A-1D12-CDE9-1A6690887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16"/>
              <a:ext cx="19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54" name="Freeform 34">
              <a:extLst>
                <a:ext uri="{FF2B5EF4-FFF2-40B4-BE49-F238E27FC236}">
                  <a16:creationId xmlns:a16="http://schemas.microsoft.com/office/drawing/2014/main" id="{F45D4E67-BFDF-B99A-B6A1-F87F05827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1680"/>
              <a:ext cx="1920" cy="672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55" name="Group 35">
              <a:extLst>
                <a:ext uri="{FF2B5EF4-FFF2-40B4-BE49-F238E27FC236}">
                  <a16:creationId xmlns:a16="http://schemas.microsoft.com/office/drawing/2014/main" id="{CE5F6E97-092F-DE4E-AC2B-63E5A670E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32"/>
              <a:ext cx="192" cy="768"/>
              <a:chOff x="336" y="1200"/>
              <a:chExt cx="144" cy="720"/>
            </a:xfrm>
          </p:grpSpPr>
          <p:sp>
            <p:nvSpPr>
              <p:cNvPr id="2078756" name="Rectangle 36">
                <a:extLst>
                  <a:ext uri="{FF2B5EF4-FFF2-40B4-BE49-F238E27FC236}">
                    <a16:creationId xmlns:a16="http://schemas.microsoft.com/office/drawing/2014/main" id="{D80AD87D-930C-AF37-DC94-03B530182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X2</a:t>
                </a:r>
              </a:p>
            </p:txBody>
          </p:sp>
          <p:sp>
            <p:nvSpPr>
              <p:cNvPr id="2078757" name="Freeform 37">
                <a:extLst>
                  <a:ext uri="{FF2B5EF4-FFF2-40B4-BE49-F238E27FC236}">
                    <a16:creationId xmlns:a16="http://schemas.microsoft.com/office/drawing/2014/main" id="{7D3B51E9-249B-978D-3A34-C21F5F0B4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grpSp>
          <p:nvGrpSpPr>
            <p:cNvPr id="2078758" name="Group 38">
              <a:extLst>
                <a:ext uri="{FF2B5EF4-FFF2-40B4-BE49-F238E27FC236}">
                  <a16:creationId xmlns:a16="http://schemas.microsoft.com/office/drawing/2014/main" id="{D8F27B79-CA43-E397-70F2-5FACFD886C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1632"/>
              <a:ext cx="192" cy="768"/>
              <a:chOff x="336" y="1200"/>
              <a:chExt cx="144" cy="720"/>
            </a:xfrm>
          </p:grpSpPr>
          <p:sp>
            <p:nvSpPr>
              <p:cNvPr id="2078759" name="Rectangle 39">
                <a:extLst>
                  <a:ext uri="{FF2B5EF4-FFF2-40B4-BE49-F238E27FC236}">
                    <a16:creationId xmlns:a16="http://schemas.microsoft.com/office/drawing/2014/main" id="{115666C6-99A6-2272-2391-9224D3FD0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W</a:t>
                </a:r>
              </a:p>
            </p:txBody>
          </p:sp>
          <p:sp>
            <p:nvSpPr>
              <p:cNvPr id="2078760" name="Freeform 40">
                <a:extLst>
                  <a:ext uri="{FF2B5EF4-FFF2-40B4-BE49-F238E27FC236}">
                    <a16:creationId xmlns:a16="http://schemas.microsoft.com/office/drawing/2014/main" id="{130BE3A5-0549-A750-22E0-B9A565056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61" name="Text Box 41">
              <a:extLst>
                <a:ext uri="{FF2B5EF4-FFF2-40B4-BE49-F238E27FC236}">
                  <a16:creationId xmlns:a16="http://schemas.microsoft.com/office/drawing/2014/main" id="{A7262744-D570-0362-5D88-08F1EA434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8" y="1910"/>
              <a:ext cx="446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solidFill>
                    <a:srgbClr val="56127A"/>
                  </a:solidFill>
                </a:rPr>
                <a:t>Fadd</a:t>
              </a:r>
            </a:p>
          </p:txBody>
        </p:sp>
        <p:grpSp>
          <p:nvGrpSpPr>
            <p:cNvPr id="2078762" name="Group 42">
              <a:extLst>
                <a:ext uri="{FF2B5EF4-FFF2-40B4-BE49-F238E27FC236}">
                  <a16:creationId xmlns:a16="http://schemas.microsoft.com/office/drawing/2014/main" id="{494D53F8-2819-59AA-D6E7-DEE0842AE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632"/>
              <a:ext cx="192" cy="768"/>
              <a:chOff x="336" y="1200"/>
              <a:chExt cx="144" cy="720"/>
            </a:xfrm>
          </p:grpSpPr>
          <p:sp>
            <p:nvSpPr>
              <p:cNvPr id="2078763" name="Rectangle 43">
                <a:extLst>
                  <a:ext uri="{FF2B5EF4-FFF2-40B4-BE49-F238E27FC236}">
                    <a16:creationId xmlns:a16="http://schemas.microsoft.com/office/drawing/2014/main" id="{4202B953-F94E-122D-4EB4-870630ED4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X3</a:t>
                </a:r>
              </a:p>
            </p:txBody>
          </p:sp>
          <p:sp>
            <p:nvSpPr>
              <p:cNvPr id="2078764" name="Freeform 44">
                <a:extLst>
                  <a:ext uri="{FF2B5EF4-FFF2-40B4-BE49-F238E27FC236}">
                    <a16:creationId xmlns:a16="http://schemas.microsoft.com/office/drawing/2014/main" id="{ADDE1D08-B576-42EC-B274-A69C362E3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grpSp>
          <p:nvGrpSpPr>
            <p:cNvPr id="2078765" name="Group 45">
              <a:extLst>
                <a:ext uri="{FF2B5EF4-FFF2-40B4-BE49-F238E27FC236}">
                  <a16:creationId xmlns:a16="http://schemas.microsoft.com/office/drawing/2014/main" id="{B907572E-7ED3-B213-9963-B1492B22B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672"/>
              <a:ext cx="192" cy="768"/>
              <a:chOff x="336" y="1200"/>
              <a:chExt cx="144" cy="720"/>
            </a:xfrm>
          </p:grpSpPr>
          <p:sp>
            <p:nvSpPr>
              <p:cNvPr id="2078766" name="Rectangle 46">
                <a:extLst>
                  <a:ext uri="{FF2B5EF4-FFF2-40B4-BE49-F238E27FC236}">
                    <a16:creationId xmlns:a16="http://schemas.microsoft.com/office/drawing/2014/main" id="{58F133C6-E648-2C0F-7659-04C702C79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X3</a:t>
                </a:r>
              </a:p>
            </p:txBody>
          </p:sp>
          <p:sp>
            <p:nvSpPr>
              <p:cNvPr id="2078767" name="Freeform 47">
                <a:extLst>
                  <a:ext uri="{FF2B5EF4-FFF2-40B4-BE49-F238E27FC236}">
                    <a16:creationId xmlns:a16="http://schemas.microsoft.com/office/drawing/2014/main" id="{EC8F044E-8D6B-4652-20BA-153063DF7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68" name="Line 48">
              <a:extLst>
                <a:ext uri="{FF2B5EF4-FFF2-40B4-BE49-F238E27FC236}">
                  <a16:creationId xmlns:a16="http://schemas.microsoft.com/office/drawing/2014/main" id="{3C0D3F96-0288-A09D-62B3-91C349969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0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69" name="Line 49">
              <a:extLst>
                <a:ext uri="{FF2B5EF4-FFF2-40B4-BE49-F238E27FC236}">
                  <a16:creationId xmlns:a16="http://schemas.microsoft.com/office/drawing/2014/main" id="{3A6DDE4D-97E9-43C4-559A-D03245616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82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70" name="Rectangle 50">
              <a:extLst>
                <a:ext uri="{FF2B5EF4-FFF2-40B4-BE49-F238E27FC236}">
                  <a16:creationId xmlns:a16="http://schemas.microsoft.com/office/drawing/2014/main" id="{C51A8BAE-DCB0-EAFD-826E-B0A43C688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80"/>
              <a:ext cx="528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/>
              <a:r>
                <a:rPr lang="en-US" altLang="en-US" sz="1600">
                  <a:solidFill>
                    <a:srgbClr val="56127A"/>
                  </a:solidFill>
                </a:rPr>
                <a:t>FPRs</a:t>
              </a:r>
            </a:p>
          </p:txBody>
        </p:sp>
        <p:grpSp>
          <p:nvGrpSpPr>
            <p:cNvPr id="2078771" name="Group 51">
              <a:extLst>
                <a:ext uri="{FF2B5EF4-FFF2-40B4-BE49-F238E27FC236}">
                  <a16:creationId xmlns:a16="http://schemas.microsoft.com/office/drawing/2014/main" id="{4063FBCD-BC08-E54E-3996-FF842ACB77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632"/>
              <a:ext cx="192" cy="768"/>
              <a:chOff x="336" y="1200"/>
              <a:chExt cx="144" cy="720"/>
            </a:xfrm>
          </p:grpSpPr>
          <p:sp>
            <p:nvSpPr>
              <p:cNvPr id="2078772" name="Rectangle 52">
                <a:extLst>
                  <a:ext uri="{FF2B5EF4-FFF2-40B4-BE49-F238E27FC236}">
                    <a16:creationId xmlns:a16="http://schemas.microsoft.com/office/drawing/2014/main" id="{DD9DF974-BB25-CA44-0F04-9A38AD84B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X1</a:t>
                </a:r>
              </a:p>
            </p:txBody>
          </p:sp>
          <p:sp>
            <p:nvSpPr>
              <p:cNvPr id="2078773" name="Freeform 53">
                <a:extLst>
                  <a:ext uri="{FF2B5EF4-FFF2-40B4-BE49-F238E27FC236}">
                    <a16:creationId xmlns:a16="http://schemas.microsoft.com/office/drawing/2014/main" id="{FF1DA608-B53F-1E40-0A2B-84A462F3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74" name="Freeform 54">
              <a:extLst>
                <a:ext uri="{FF2B5EF4-FFF2-40B4-BE49-F238E27FC236}">
                  <a16:creationId xmlns:a16="http://schemas.microsoft.com/office/drawing/2014/main" id="{5F7648EC-1BEC-D6D3-D310-65C40BDF6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056"/>
              <a:ext cx="48" cy="912"/>
            </a:xfrm>
            <a:custGeom>
              <a:avLst/>
              <a:gdLst>
                <a:gd name="T0" fmla="*/ 0 w 48"/>
                <a:gd name="T1" fmla="*/ 0 h 912"/>
                <a:gd name="T2" fmla="*/ 0 w 48"/>
                <a:gd name="T3" fmla="*/ 912 h 912"/>
                <a:gd name="T4" fmla="*/ 48 w 48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912">
                  <a:moveTo>
                    <a:pt x="0" y="0"/>
                  </a:moveTo>
                  <a:lnTo>
                    <a:pt x="0" y="912"/>
                  </a:lnTo>
                  <a:lnTo>
                    <a:pt x="48" y="912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75" name="Freeform 55">
              <a:extLst>
                <a:ext uri="{FF2B5EF4-FFF2-40B4-BE49-F238E27FC236}">
                  <a16:creationId xmlns:a16="http://schemas.microsoft.com/office/drawing/2014/main" id="{FF8153C2-42F1-E02D-93D2-D0152D34E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544"/>
              <a:ext cx="1920" cy="672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76" name="Group 56">
              <a:extLst>
                <a:ext uri="{FF2B5EF4-FFF2-40B4-BE49-F238E27FC236}">
                  <a16:creationId xmlns:a16="http://schemas.microsoft.com/office/drawing/2014/main" id="{0D6D1EDB-5404-CCB7-4918-B1BFE11D9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496"/>
              <a:ext cx="192" cy="768"/>
              <a:chOff x="336" y="1200"/>
              <a:chExt cx="144" cy="720"/>
            </a:xfrm>
          </p:grpSpPr>
          <p:sp>
            <p:nvSpPr>
              <p:cNvPr id="2078777" name="Rectangle 57">
                <a:extLst>
                  <a:ext uri="{FF2B5EF4-FFF2-40B4-BE49-F238E27FC236}">
                    <a16:creationId xmlns:a16="http://schemas.microsoft.com/office/drawing/2014/main" id="{2510A4F0-DCA9-75CA-1CEB-C80D9D2F1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X2</a:t>
                </a:r>
              </a:p>
            </p:txBody>
          </p:sp>
          <p:sp>
            <p:nvSpPr>
              <p:cNvPr id="2078778" name="Freeform 58">
                <a:extLst>
                  <a:ext uri="{FF2B5EF4-FFF2-40B4-BE49-F238E27FC236}">
                    <a16:creationId xmlns:a16="http://schemas.microsoft.com/office/drawing/2014/main" id="{6916B644-CFBB-1135-79C8-FB9B56744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79" name="Text Box 59">
              <a:extLst>
                <a:ext uri="{FF2B5EF4-FFF2-40B4-BE49-F238E27FC236}">
                  <a16:creationId xmlns:a16="http://schemas.microsoft.com/office/drawing/2014/main" id="{CEDDE6C3-9ED1-2E88-B0DA-CE74DD4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" y="2774"/>
              <a:ext cx="43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solidFill>
                    <a:srgbClr val="56127A"/>
                  </a:solidFill>
                </a:rPr>
                <a:t>Fmul</a:t>
              </a:r>
            </a:p>
          </p:txBody>
        </p:sp>
        <p:grpSp>
          <p:nvGrpSpPr>
            <p:cNvPr id="2078780" name="Group 60">
              <a:extLst>
                <a:ext uri="{FF2B5EF4-FFF2-40B4-BE49-F238E27FC236}">
                  <a16:creationId xmlns:a16="http://schemas.microsoft.com/office/drawing/2014/main" id="{E5845DB8-2B66-670D-075A-9B3AE089A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496"/>
              <a:ext cx="192" cy="768"/>
              <a:chOff x="336" y="1200"/>
              <a:chExt cx="144" cy="720"/>
            </a:xfrm>
          </p:grpSpPr>
          <p:sp>
            <p:nvSpPr>
              <p:cNvPr id="2078781" name="Rectangle 61">
                <a:extLst>
                  <a:ext uri="{FF2B5EF4-FFF2-40B4-BE49-F238E27FC236}">
                    <a16:creationId xmlns:a16="http://schemas.microsoft.com/office/drawing/2014/main" id="{32EDAD50-E830-D42D-16EE-B16EC2F90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X3</a:t>
                </a:r>
              </a:p>
            </p:txBody>
          </p:sp>
          <p:sp>
            <p:nvSpPr>
              <p:cNvPr id="2078782" name="Freeform 62">
                <a:extLst>
                  <a:ext uri="{FF2B5EF4-FFF2-40B4-BE49-F238E27FC236}">
                    <a16:creationId xmlns:a16="http://schemas.microsoft.com/office/drawing/2014/main" id="{30A575C9-CB6C-0E67-91E1-DA81B217A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83" name="Freeform 63">
              <a:extLst>
                <a:ext uri="{FF2B5EF4-FFF2-40B4-BE49-F238E27FC236}">
                  <a16:creationId xmlns:a16="http://schemas.microsoft.com/office/drawing/2014/main" id="{BEEC6552-E440-8DBC-A92B-BC70D7590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208"/>
              <a:ext cx="96" cy="912"/>
            </a:xfrm>
            <a:custGeom>
              <a:avLst/>
              <a:gdLst>
                <a:gd name="T0" fmla="*/ 0 w 96"/>
                <a:gd name="T1" fmla="*/ 0 h 912"/>
                <a:gd name="T2" fmla="*/ 0 w 96"/>
                <a:gd name="T3" fmla="*/ 912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0" y="912"/>
                  </a:lnTo>
                  <a:lnTo>
                    <a:pt x="96" y="912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84" name="Freeform 64">
              <a:extLst>
                <a:ext uri="{FF2B5EF4-FFF2-40B4-BE49-F238E27FC236}">
                  <a16:creationId xmlns:a16="http://schemas.microsoft.com/office/drawing/2014/main" id="{2290127D-29D7-0F8C-781F-60DDFD247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824"/>
              <a:ext cx="48" cy="864"/>
            </a:xfrm>
            <a:custGeom>
              <a:avLst/>
              <a:gdLst>
                <a:gd name="T0" fmla="*/ 0 w 48"/>
                <a:gd name="T1" fmla="*/ 0 h 864"/>
                <a:gd name="T2" fmla="*/ 0 w 48"/>
                <a:gd name="T3" fmla="*/ 864 h 864"/>
                <a:gd name="T4" fmla="*/ 48 w 48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864">
                  <a:moveTo>
                    <a:pt x="0" y="0"/>
                  </a:moveTo>
                  <a:lnTo>
                    <a:pt x="0" y="864"/>
                  </a:lnTo>
                  <a:lnTo>
                    <a:pt x="48" y="864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grpSp>
          <p:nvGrpSpPr>
            <p:cNvPr id="2078785" name="Group 65">
              <a:extLst>
                <a:ext uri="{FF2B5EF4-FFF2-40B4-BE49-F238E27FC236}">
                  <a16:creationId xmlns:a16="http://schemas.microsoft.com/office/drawing/2014/main" id="{0FD53EBA-D11E-5DBF-833D-BF481ACEFE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312"/>
              <a:ext cx="192" cy="768"/>
              <a:chOff x="336" y="1200"/>
              <a:chExt cx="144" cy="720"/>
            </a:xfrm>
          </p:grpSpPr>
          <p:sp>
            <p:nvSpPr>
              <p:cNvPr id="2078786" name="Rectangle 66">
                <a:extLst>
                  <a:ext uri="{FF2B5EF4-FFF2-40B4-BE49-F238E27FC236}">
                    <a16:creationId xmlns:a16="http://schemas.microsoft.com/office/drawing/2014/main" id="{124C5E0E-BE09-3925-7A65-F5D4495FA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X2</a:t>
                </a:r>
              </a:p>
            </p:txBody>
          </p:sp>
          <p:sp>
            <p:nvSpPr>
              <p:cNvPr id="2078787" name="Freeform 67">
                <a:extLst>
                  <a:ext uri="{FF2B5EF4-FFF2-40B4-BE49-F238E27FC236}">
                    <a16:creationId xmlns:a16="http://schemas.microsoft.com/office/drawing/2014/main" id="{C8D15B06-822D-7FF6-DB27-452BC103A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88" name="Freeform 68">
              <a:extLst>
                <a:ext uri="{FF2B5EF4-FFF2-40B4-BE49-F238E27FC236}">
                  <a16:creationId xmlns:a16="http://schemas.microsoft.com/office/drawing/2014/main" id="{F6F41653-4FCB-6DB3-520F-54371712E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3120"/>
              <a:ext cx="96" cy="768"/>
            </a:xfrm>
            <a:custGeom>
              <a:avLst/>
              <a:gdLst>
                <a:gd name="T0" fmla="*/ 0 w 96"/>
                <a:gd name="T1" fmla="*/ 0 h 768"/>
                <a:gd name="T2" fmla="*/ 0 w 96"/>
                <a:gd name="T3" fmla="*/ 768 h 768"/>
                <a:gd name="T4" fmla="*/ 96 w 96"/>
                <a:gd name="T5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768">
                  <a:moveTo>
                    <a:pt x="0" y="0"/>
                  </a:moveTo>
                  <a:lnTo>
                    <a:pt x="0" y="768"/>
                  </a:lnTo>
                  <a:lnTo>
                    <a:pt x="96" y="768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89" name="Freeform 69">
              <a:extLst>
                <a:ext uri="{FF2B5EF4-FFF2-40B4-BE49-F238E27FC236}">
                  <a16:creationId xmlns:a16="http://schemas.microsoft.com/office/drawing/2014/main" id="{2BFA21D7-3AD2-B2BA-4915-A0BC095A4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688"/>
              <a:ext cx="48" cy="816"/>
            </a:xfrm>
            <a:custGeom>
              <a:avLst/>
              <a:gdLst>
                <a:gd name="T0" fmla="*/ 0 w 48"/>
                <a:gd name="T1" fmla="*/ 0 h 816"/>
                <a:gd name="T2" fmla="*/ 0 w 48"/>
                <a:gd name="T3" fmla="*/ 816 h 816"/>
                <a:gd name="T4" fmla="*/ 48 w 48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816">
                  <a:moveTo>
                    <a:pt x="0" y="0"/>
                  </a:moveTo>
                  <a:lnTo>
                    <a:pt x="0" y="816"/>
                  </a:lnTo>
                  <a:lnTo>
                    <a:pt x="48" y="81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90" name="Rectangle 70">
              <a:extLst>
                <a:ext uri="{FF2B5EF4-FFF2-40B4-BE49-F238E27FC236}">
                  <a16:creationId xmlns:a16="http://schemas.microsoft.com/office/drawing/2014/main" id="{447B778B-4413-1773-F3AF-134AE339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312"/>
              <a:ext cx="288" cy="7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n-US" sz="1600">
                  <a:solidFill>
                    <a:srgbClr val="56127A"/>
                  </a:solidFill>
                </a:rPr>
                <a:t>FDiv</a:t>
              </a:r>
            </a:p>
          </p:txBody>
        </p:sp>
        <p:grpSp>
          <p:nvGrpSpPr>
            <p:cNvPr id="2078791" name="Group 71">
              <a:extLst>
                <a:ext uri="{FF2B5EF4-FFF2-40B4-BE49-F238E27FC236}">
                  <a16:creationId xmlns:a16="http://schemas.microsoft.com/office/drawing/2014/main" id="{9DEDCC93-F5E1-06B8-01CF-B9EBF8168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3312"/>
              <a:ext cx="192" cy="768"/>
              <a:chOff x="336" y="1200"/>
              <a:chExt cx="144" cy="720"/>
            </a:xfrm>
          </p:grpSpPr>
          <p:sp>
            <p:nvSpPr>
              <p:cNvPr id="2078792" name="Rectangle 72">
                <a:extLst>
                  <a:ext uri="{FF2B5EF4-FFF2-40B4-BE49-F238E27FC236}">
                    <a16:creationId xmlns:a16="http://schemas.microsoft.com/office/drawing/2014/main" id="{58209126-5AD9-34EE-5BDE-35D50E697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600">
                    <a:solidFill>
                      <a:srgbClr val="56127A"/>
                    </a:solidFill>
                  </a:rPr>
                  <a:t>X3</a:t>
                </a:r>
              </a:p>
            </p:txBody>
          </p:sp>
          <p:sp>
            <p:nvSpPr>
              <p:cNvPr id="2078793" name="Freeform 73">
                <a:extLst>
                  <a:ext uri="{FF2B5EF4-FFF2-40B4-BE49-F238E27FC236}">
                    <a16:creationId xmlns:a16="http://schemas.microsoft.com/office/drawing/2014/main" id="{7B4E5F2E-A775-95E8-B826-D71671EEA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2078794" name="Line 74">
              <a:extLst>
                <a:ext uri="{FF2B5EF4-FFF2-40B4-BE49-F238E27FC236}">
                  <a16:creationId xmlns:a16="http://schemas.microsoft.com/office/drawing/2014/main" id="{39899D5E-638B-62DF-3BF8-2CF550298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8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95" name="Text Box 75">
              <a:extLst>
                <a:ext uri="{FF2B5EF4-FFF2-40B4-BE49-F238E27FC236}">
                  <a16:creationId xmlns:a16="http://schemas.microsoft.com/office/drawing/2014/main" id="{1E95F394-0A30-48C1-3A2C-C4A207CA1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342"/>
              <a:ext cx="7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en-US" sz="1200" i="1">
                  <a:solidFill>
                    <a:srgbClr val="56127A"/>
                  </a:solidFill>
                </a:rPr>
                <a:t>Unpipelined</a:t>
              </a:r>
              <a:r>
                <a:rPr lang="en-US" altLang="en-US" sz="1400" i="1">
                  <a:solidFill>
                    <a:srgbClr val="56127A"/>
                  </a:solidFill>
                </a:rPr>
                <a:t> divider</a:t>
              </a:r>
            </a:p>
          </p:txBody>
        </p:sp>
        <p:sp>
          <p:nvSpPr>
            <p:cNvPr id="2078796" name="Freeform 76">
              <a:extLst>
                <a:ext uri="{FF2B5EF4-FFF2-40B4-BE49-F238E27FC236}">
                  <a16:creationId xmlns:a16="http://schemas.microsoft.com/office/drawing/2014/main" id="{4C807A9F-D22B-CD2D-6671-85160CC9B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056"/>
              <a:ext cx="48" cy="816"/>
            </a:xfrm>
            <a:custGeom>
              <a:avLst/>
              <a:gdLst>
                <a:gd name="T0" fmla="*/ 48 w 48"/>
                <a:gd name="T1" fmla="*/ 816 h 816"/>
                <a:gd name="T2" fmla="*/ 0 w 48"/>
                <a:gd name="T3" fmla="*/ 816 h 816"/>
                <a:gd name="T4" fmla="*/ 0 w 48"/>
                <a:gd name="T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816">
                  <a:moveTo>
                    <a:pt x="48" y="816"/>
                  </a:moveTo>
                  <a:lnTo>
                    <a:pt x="0" y="816"/>
                  </a:ln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97" name="Line 77">
              <a:extLst>
                <a:ext uri="{FF2B5EF4-FFF2-40B4-BE49-F238E27FC236}">
                  <a16:creationId xmlns:a16="http://schemas.microsoft.com/office/drawing/2014/main" id="{F2B19B53-06EE-29EF-B3DD-56C3EF9A6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3696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798" name="Line 78">
              <a:extLst>
                <a:ext uri="{FF2B5EF4-FFF2-40B4-BE49-F238E27FC236}">
                  <a16:creationId xmlns:a16="http://schemas.microsoft.com/office/drawing/2014/main" id="{1690F554-39A6-5D9D-96C2-E793D7AF1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480"/>
              <a:ext cx="0" cy="25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  <p:sp>
          <p:nvSpPr>
            <p:cNvPr id="2078800" name="Freeform 80">
              <a:extLst>
                <a:ext uri="{FF2B5EF4-FFF2-40B4-BE49-F238E27FC236}">
                  <a16:creationId xmlns:a16="http://schemas.microsoft.com/office/drawing/2014/main" id="{324F5E7E-8281-0287-9336-81445A3C6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056"/>
              <a:ext cx="624" cy="336"/>
            </a:xfrm>
            <a:custGeom>
              <a:avLst/>
              <a:gdLst>
                <a:gd name="T0" fmla="*/ 0 w 624"/>
                <a:gd name="T1" fmla="*/ 0 h 336"/>
                <a:gd name="T2" fmla="*/ 0 w 624"/>
                <a:gd name="T3" fmla="*/ 336 h 336"/>
                <a:gd name="T4" fmla="*/ 624 w 624"/>
                <a:gd name="T5" fmla="*/ 336 h 336"/>
                <a:gd name="T6" fmla="*/ 624 w 624"/>
                <a:gd name="T7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336">
                  <a:moveTo>
                    <a:pt x="0" y="0"/>
                  </a:moveTo>
                  <a:lnTo>
                    <a:pt x="0" y="336"/>
                  </a:lnTo>
                  <a:lnTo>
                    <a:pt x="624" y="336"/>
                  </a:lnTo>
                  <a:lnTo>
                    <a:pt x="62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56127A"/>
                </a:solidFill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3CC061-9329-98B8-747E-47998132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EB9421-0AEE-F391-6782-3CFF7B57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8548FF-4437-D5EE-2612-7B3E6AA6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7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775" name="Rectangle 7">
            <a:extLst>
              <a:ext uri="{FF2B5EF4-FFF2-40B4-BE49-F238E27FC236}">
                <a16:creationId xmlns:a16="http://schemas.microsoft.com/office/drawing/2014/main" id="{37CCD38A-CFF5-E02A-8592-D2644B9980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5"/>
            <a:ext cx="7772400" cy="17295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Need to understand Dependence Analysis in order to understand OOO execution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37627-C5C7-B46E-6CCB-5767D8E67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1648ED-8F98-4AE1-A3A5-89594527E5A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62" name="Rectangle 2">
            <a:extLst>
              <a:ext uri="{FF2B5EF4-FFF2-40B4-BE49-F238E27FC236}">
                <a16:creationId xmlns:a16="http://schemas.microsoft.com/office/drawing/2014/main" id="{7379AAD1-8E03-941A-E699-D9C99E1DD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Types of Data Hazards </a:t>
            </a:r>
          </a:p>
        </p:txBody>
      </p:sp>
      <p:sp>
        <p:nvSpPr>
          <p:cNvPr id="2037763" name="Rectangle 3">
            <a:extLst>
              <a:ext uri="{FF2B5EF4-FFF2-40B4-BE49-F238E27FC236}">
                <a16:creationId xmlns:a16="http://schemas.microsoft.com/office/drawing/2014/main" id="{C9140411-BE85-B2D4-F047-3EF3BC59F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1365250"/>
            <a:ext cx="7796213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Consider executing a sequence of 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		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k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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(r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)  op  (r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j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)</a:t>
            </a:r>
            <a:r>
              <a:rPr lang="en-US" altLang="en-US" sz="2400">
                <a:latin typeface="Verdana" panose="020B0604030504040204" pitchFamily="34" charset="0"/>
              </a:rPr>
              <a:t> 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type of instructions</a:t>
            </a:r>
          </a:p>
        </p:txBody>
      </p:sp>
      <p:grpSp>
        <p:nvGrpSpPr>
          <p:cNvPr id="2037764" name="Group 4">
            <a:extLst>
              <a:ext uri="{FF2B5EF4-FFF2-40B4-BE49-F238E27FC236}">
                <a16:creationId xmlns:a16="http://schemas.microsoft.com/office/drawing/2014/main" id="{053FE301-50ED-EB27-87DD-70E814F7C61C}"/>
              </a:ext>
            </a:extLst>
          </p:cNvPr>
          <p:cNvGrpSpPr>
            <a:grpSpLocks/>
          </p:cNvGrpSpPr>
          <p:nvPr/>
        </p:nvGrpSpPr>
        <p:grpSpPr bwMode="auto">
          <a:xfrm>
            <a:off x="1130300" y="2625725"/>
            <a:ext cx="7092950" cy="3641725"/>
            <a:chOff x="712" y="1654"/>
            <a:chExt cx="4468" cy="2294"/>
          </a:xfrm>
        </p:grpSpPr>
        <p:grpSp>
          <p:nvGrpSpPr>
            <p:cNvPr id="2037765" name="Group 5">
              <a:extLst>
                <a:ext uri="{FF2B5EF4-FFF2-40B4-BE49-F238E27FC236}">
                  <a16:creationId xmlns:a16="http://schemas.microsoft.com/office/drawing/2014/main" id="{67439270-BB47-69D8-A47E-4DFC19849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1654"/>
              <a:ext cx="4468" cy="678"/>
              <a:chOff x="509" y="1694"/>
              <a:chExt cx="4468" cy="678"/>
            </a:xfrm>
          </p:grpSpPr>
          <p:sp>
            <p:nvSpPr>
              <p:cNvPr id="2037766" name="Line 6">
                <a:extLst>
                  <a:ext uri="{FF2B5EF4-FFF2-40B4-BE49-F238E27FC236}">
                    <a16:creationId xmlns:a16="http://schemas.microsoft.com/office/drawing/2014/main" id="{06E44ED2-976A-E9EE-8157-CA337F7E6B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2137"/>
                <a:ext cx="320" cy="10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37767" name="Rectangle 7">
                <a:extLst>
                  <a:ext uri="{FF2B5EF4-FFF2-40B4-BE49-F238E27FC236}">
                    <a16:creationId xmlns:a16="http://schemas.microsoft.com/office/drawing/2014/main" id="{CCF630F3-EC2D-2232-92F4-EAB5A52F9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" y="1694"/>
                <a:ext cx="4468" cy="678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2400">
                    <a:latin typeface="Verdana" panose="020B0604030504040204" pitchFamily="34" charset="0"/>
                  </a:rPr>
                  <a:t>Data-dependence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3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1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2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	Read-after-Write  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5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3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4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	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(RAW) hazard</a:t>
                </a:r>
              </a:p>
            </p:txBody>
          </p:sp>
        </p:grpSp>
        <p:grpSp>
          <p:nvGrpSpPr>
            <p:cNvPr id="2037768" name="Group 8">
              <a:extLst>
                <a:ext uri="{FF2B5EF4-FFF2-40B4-BE49-F238E27FC236}">
                  <a16:creationId xmlns:a16="http://schemas.microsoft.com/office/drawing/2014/main" id="{B8C9B0D0-F60B-E08F-0849-40A3C15915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2495"/>
              <a:ext cx="4412" cy="678"/>
              <a:chOff x="563" y="2663"/>
              <a:chExt cx="4412" cy="678"/>
            </a:xfrm>
          </p:grpSpPr>
          <p:sp>
            <p:nvSpPr>
              <p:cNvPr id="2037769" name="Line 9">
                <a:extLst>
                  <a:ext uri="{FF2B5EF4-FFF2-40B4-BE49-F238E27FC236}">
                    <a16:creationId xmlns:a16="http://schemas.microsoft.com/office/drawing/2014/main" id="{6D930601-EFC0-F6B5-EAC9-31EBCCAFB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4" y="3065"/>
                <a:ext cx="36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37770" name="Rectangle 10">
                <a:extLst>
                  <a:ext uri="{FF2B5EF4-FFF2-40B4-BE49-F238E27FC236}">
                    <a16:creationId xmlns:a16="http://schemas.microsoft.com/office/drawing/2014/main" id="{F07CA328-F06E-F1B2-D0F0-76858B844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" y="2663"/>
                <a:ext cx="4412" cy="678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2400">
                    <a:latin typeface="Verdana" panose="020B0604030504040204" pitchFamily="34" charset="0"/>
                  </a:rPr>
                  <a:t>Anti-dependence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3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1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2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	Write-after-Read 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1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4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5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	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(WAR) hazard</a:t>
                </a:r>
              </a:p>
            </p:txBody>
          </p:sp>
        </p:grpSp>
        <p:grpSp>
          <p:nvGrpSpPr>
            <p:cNvPr id="2037771" name="Group 11">
              <a:extLst>
                <a:ext uri="{FF2B5EF4-FFF2-40B4-BE49-F238E27FC236}">
                  <a16:creationId xmlns:a16="http://schemas.microsoft.com/office/drawing/2014/main" id="{7DDFE051-0A6F-069F-B868-B5C2324BB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3270"/>
              <a:ext cx="4438" cy="678"/>
              <a:chOff x="572" y="3574"/>
              <a:chExt cx="4438" cy="678"/>
            </a:xfrm>
          </p:grpSpPr>
          <p:sp>
            <p:nvSpPr>
              <p:cNvPr id="2037772" name="Rectangle 12">
                <a:extLst>
                  <a:ext uri="{FF2B5EF4-FFF2-40B4-BE49-F238E27FC236}">
                    <a16:creationId xmlns:a16="http://schemas.microsoft.com/office/drawing/2014/main" id="{187B062D-4793-85CB-CBAA-B20FCB144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" y="3574"/>
                <a:ext cx="4438" cy="678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2400">
                    <a:latin typeface="Verdana" panose="020B0604030504040204" pitchFamily="34" charset="0"/>
                  </a:rPr>
                  <a:t>Output-dependence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3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1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2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	Write-after-Write </a:t>
                </a:r>
              </a:p>
              <a:p>
                <a:pPr lvl="3" algn="l" eaLnBrk="0" hangingPunct="0"/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3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</a:t>
                </a:r>
                <a:r>
                  <a:rPr lang="en-US" altLang="en-US">
                    <a:solidFill>
                      <a:srgbClr val="56127A"/>
                    </a:solidFill>
                    <a:latin typeface="Symbol" panose="05050102010706020507" pitchFamily="18" charset="2"/>
                  </a:rPr>
                  <a:t>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6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op  (r</a:t>
                </a:r>
                <a:r>
                  <a:rPr lang="en-US" altLang="en-US" baseline="-250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7</a:t>
                </a:r>
                <a:r>
                  <a:rPr lang="en-US" altLang="en-US">
                    <a:solidFill>
                      <a:srgbClr val="56127A"/>
                    </a:solidFill>
                    <a:latin typeface="Verdana" panose="020B0604030504040204" pitchFamily="34" charset="0"/>
                  </a:rPr>
                  <a:t>)   	(WAW) hazard</a:t>
                </a:r>
              </a:p>
            </p:txBody>
          </p:sp>
          <p:sp>
            <p:nvSpPr>
              <p:cNvPr id="2037773" name="Freeform 13">
                <a:extLst>
                  <a:ext uri="{FF2B5EF4-FFF2-40B4-BE49-F238E27FC236}">
                    <a16:creationId xmlns:a16="http://schemas.microsoft.com/office/drawing/2014/main" id="{48F4BB3B-35A6-3E30-93B5-7B19FDCBA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3952"/>
                <a:ext cx="84" cy="216"/>
              </a:xfrm>
              <a:custGeom>
                <a:avLst/>
                <a:gdLst>
                  <a:gd name="T0" fmla="*/ 60 w 84"/>
                  <a:gd name="T1" fmla="*/ 0 h 216"/>
                  <a:gd name="T2" fmla="*/ 12 w 84"/>
                  <a:gd name="T3" fmla="*/ 56 h 216"/>
                  <a:gd name="T4" fmla="*/ 12 w 84"/>
                  <a:gd name="T5" fmla="*/ 184 h 216"/>
                  <a:gd name="T6" fmla="*/ 84 w 84"/>
                  <a:gd name="T7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4" h="216">
                    <a:moveTo>
                      <a:pt x="60" y="0"/>
                    </a:moveTo>
                    <a:cubicBezTo>
                      <a:pt x="40" y="12"/>
                      <a:pt x="20" y="25"/>
                      <a:pt x="12" y="56"/>
                    </a:cubicBezTo>
                    <a:cubicBezTo>
                      <a:pt x="4" y="87"/>
                      <a:pt x="0" y="157"/>
                      <a:pt x="12" y="184"/>
                    </a:cubicBezTo>
                    <a:cubicBezTo>
                      <a:pt x="24" y="211"/>
                      <a:pt x="54" y="213"/>
                      <a:pt x="84" y="21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C67831E-B10C-EB42-DC17-3179C9CC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33B9ED8-ABB7-0410-8B96-0F190BA4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C97C00-BE78-BD00-C6E7-FE6B48FF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9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786" name="Rectangle 2">
            <a:extLst>
              <a:ext uri="{FF2B5EF4-FFF2-40B4-BE49-F238E27FC236}">
                <a16:creationId xmlns:a16="http://schemas.microsoft.com/office/drawing/2014/main" id="{82E890A8-7683-E306-B26B-96FD8FC6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Detecting Data Hazards</a:t>
            </a:r>
          </a:p>
        </p:txBody>
      </p:sp>
      <p:sp>
        <p:nvSpPr>
          <p:cNvPr id="2038787" name="Rectangle 3">
            <a:extLst>
              <a:ext uri="{FF2B5EF4-FFF2-40B4-BE49-F238E27FC236}">
                <a16:creationId xmlns:a16="http://schemas.microsoft.com/office/drawing/2014/main" id="{FC196E6C-EA94-7136-89B4-68FC1C278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1387475"/>
            <a:ext cx="786765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i="1" dirty="0">
                <a:latin typeface="Verdana" panose="020B0604030504040204" pitchFamily="34" charset="0"/>
              </a:rPr>
              <a:t>Range and Domain of instruction </a:t>
            </a:r>
            <a:r>
              <a:rPr lang="en-US" altLang="en-US" sz="2400" i="1" dirty="0" err="1">
                <a:latin typeface="Verdana" panose="020B0604030504040204" pitchFamily="34" charset="0"/>
              </a:rPr>
              <a:t>i</a:t>
            </a:r>
            <a:endParaRPr lang="en-US" altLang="en-US" sz="2400" i="1" dirty="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R(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) = Registers (or other storage) modified by</a:t>
            </a: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        instruction 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endParaRPr lang="en-US" altLang="en-US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D(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) = Registers (or other storage) read by</a:t>
            </a:r>
          </a:p>
          <a:p>
            <a:pPr lvl="4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instruction 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endParaRPr lang="en-US" altLang="en-US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4" algn="l" eaLnBrk="0" hangingPunct="0"/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Suppose instruction j follows instruction </a:t>
            </a:r>
            <a:r>
              <a:rPr lang="en-US" altLang="en-US" sz="2400" dirty="0" err="1">
                <a:latin typeface="Verdana" panose="020B0604030504040204" pitchFamily="34" charset="0"/>
              </a:rPr>
              <a:t>i</a:t>
            </a:r>
            <a:r>
              <a:rPr lang="en-US" altLang="en-US" sz="2400" dirty="0">
                <a:latin typeface="Verdana" panose="020B0604030504040204" pitchFamily="34" charset="0"/>
              </a:rPr>
              <a:t> in the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program order.  Executing instruction j before the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effect of instruction </a:t>
            </a:r>
            <a:r>
              <a:rPr lang="en-US" altLang="en-US" sz="2400" dirty="0" err="1">
                <a:latin typeface="Verdana" panose="020B0604030504040204" pitchFamily="34" charset="0"/>
              </a:rPr>
              <a:t>i</a:t>
            </a:r>
            <a:r>
              <a:rPr lang="en-US" altLang="en-US" sz="2400" dirty="0">
                <a:latin typeface="Verdana" panose="020B0604030504040204" pitchFamily="34" charset="0"/>
              </a:rPr>
              <a:t> has taken place can cause a</a:t>
            </a:r>
            <a:endParaRPr lang="en-US" altLang="en-US" sz="2400" i="1" dirty="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dirty="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RAW hazard  if 	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R(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) 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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D(j)  </a:t>
            </a:r>
            <a:r>
              <a:rPr lang="en-US" altLang="en-US" sz="2800" dirty="0">
                <a:solidFill>
                  <a:srgbClr val="56127A"/>
                </a:solidFill>
                <a:latin typeface="Symbol" panose="05050102010706020507" pitchFamily="18" charset="2"/>
              </a:rPr>
              <a:t>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</a:t>
            </a:r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WAR hazard if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	D(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) 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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R(j)  </a:t>
            </a:r>
            <a:r>
              <a:rPr lang="en-US" altLang="en-US" sz="2800" dirty="0">
                <a:solidFill>
                  <a:srgbClr val="56127A"/>
                </a:solidFill>
                <a:latin typeface="Symbol" panose="05050102010706020507" pitchFamily="18" charset="2"/>
              </a:rPr>
              <a:t>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</a:t>
            </a:r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WAW hazard if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	R(</a:t>
            </a:r>
            <a:r>
              <a:rPr lang="en-US" altLang="en-US" dirty="0" err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) 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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R(j)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 </a:t>
            </a:r>
            <a:r>
              <a:rPr lang="en-US" altLang="en-US" sz="2800" dirty="0">
                <a:solidFill>
                  <a:srgbClr val="56127A"/>
                </a:solidFill>
                <a:latin typeface="Symbol" panose="05050102010706020507" pitchFamily="18" charset="2"/>
              </a:rPr>
              <a:t>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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F60E975-2DCE-F756-F0F8-E32B3D9D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3F34535-DE41-0B33-4E9D-DF465F11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828007-6FA6-CAE6-541E-2F5DE6C7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10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810" name="Rectangle 2">
            <a:extLst>
              <a:ext uri="{FF2B5EF4-FFF2-40B4-BE49-F238E27FC236}">
                <a16:creationId xmlns:a16="http://schemas.microsoft.com/office/drawing/2014/main" id="{7F5A0974-0D00-D326-DFAC-56D6D5082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Register vs. Memory</a:t>
            </a:r>
            <a:br>
              <a:rPr lang="en-US" altLang="en-US"/>
            </a:br>
            <a:r>
              <a:rPr lang="en-US" altLang="en-US"/>
              <a:t>Data Dependence</a:t>
            </a:r>
          </a:p>
        </p:txBody>
      </p:sp>
      <p:sp>
        <p:nvSpPr>
          <p:cNvPr id="2039811" name="Rectangle 3">
            <a:extLst>
              <a:ext uri="{FF2B5EF4-FFF2-40B4-BE49-F238E27FC236}">
                <a16:creationId xmlns:a16="http://schemas.microsoft.com/office/drawing/2014/main" id="{CFE8BBBE-421F-CDCE-39BB-5640F4C9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358063" cy="398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Data hazards due to register operands can be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determined at the decode stage </a:t>
            </a:r>
            <a:r>
              <a:rPr lang="en-US" altLang="en-US" sz="2400" i="1">
                <a:solidFill>
                  <a:srgbClr val="FF0000"/>
                </a:solidFill>
                <a:latin typeface="Verdana" panose="020B0604030504040204" pitchFamily="34" charset="0"/>
              </a:rPr>
              <a:t>but</a:t>
            </a:r>
          </a:p>
          <a:p>
            <a:pPr lvl="1" algn="l" eaLnBrk="0" hangingPunct="0"/>
            <a:endParaRPr lang="en-US" altLang="en-US" sz="240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data hazards due to memory operands can be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determined only after computing the effective 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address</a:t>
            </a:r>
          </a:p>
          <a:p>
            <a:pPr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store	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M[(r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) +  disp1] 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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(r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)  </a:t>
            </a:r>
          </a:p>
          <a:p>
            <a:pPr lvl="2"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load	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3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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M[(r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4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) +  disp2]</a:t>
            </a:r>
          </a:p>
          <a:p>
            <a:pPr lvl="2" algn="l" eaLnBrk="0" hangingPunct="0"/>
            <a:endParaRPr lang="en-US" altLang="en-US" sz="280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Does (r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 + disp1) = (r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4</a:t>
            </a:r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 + disp2) </a:t>
            </a:r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?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5E81899-1F50-91E4-08A5-5B238106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BF4F36F-04A5-DF31-7EA0-0285236D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F4C18-9B11-6190-08BD-3E746489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11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834" name="Rectangle 2">
            <a:extLst>
              <a:ext uri="{FF2B5EF4-FFF2-40B4-BE49-F238E27FC236}">
                <a16:creationId xmlns:a16="http://schemas.microsoft.com/office/drawing/2014/main" id="{2404FB10-4545-9484-87EB-56CFBF9E7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Data Hazards: An Example</a:t>
            </a:r>
            <a:endParaRPr lang="en-US" altLang="en-US" sz="2400" i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D5F6B8-1646-112A-E736-CADC6983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0835" name="Rectangle 3">
            <a:extLst>
              <a:ext uri="{FF2B5EF4-FFF2-40B4-BE49-F238E27FC236}">
                <a16:creationId xmlns:a16="http://schemas.microsoft.com/office/drawing/2014/main" id="{85636FD6-8F46-A0F3-A23C-35133679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1670050"/>
            <a:ext cx="5003800" cy="344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1 	</a:t>
            </a:r>
            <a:r>
              <a:rPr lang="en-US" altLang="en-US">
                <a:latin typeface="Verdana" panose="020B0604030504040204" pitchFamily="34" charset="0"/>
              </a:rPr>
              <a:t>DIVD		f6, 	f6,	f4</a:t>
            </a:r>
          </a:p>
          <a:p>
            <a:pPr algn="l" eaLnBrk="0" hangingPunct="0"/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2 	</a:t>
            </a:r>
            <a:r>
              <a:rPr lang="en-US" altLang="en-US">
                <a:latin typeface="Verdana" panose="020B0604030504040204" pitchFamily="34" charset="0"/>
              </a:rPr>
              <a:t>LD		f2,	45(r3)</a:t>
            </a:r>
          </a:p>
          <a:p>
            <a:pPr algn="l" eaLnBrk="0" hangingPunct="0"/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3 	</a:t>
            </a:r>
            <a:r>
              <a:rPr lang="en-US" altLang="en-US">
                <a:latin typeface="Verdana" panose="020B0604030504040204" pitchFamily="34" charset="0"/>
              </a:rPr>
              <a:t>MULTD		f0,	f2,	f4</a:t>
            </a:r>
          </a:p>
          <a:p>
            <a:pPr algn="l" eaLnBrk="0" hangingPunct="0"/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4 	</a:t>
            </a:r>
            <a:r>
              <a:rPr lang="en-US" altLang="en-US">
                <a:latin typeface="Verdana" panose="020B0604030504040204" pitchFamily="34" charset="0"/>
              </a:rPr>
              <a:t>DIVD		f8,	f6,	f2</a:t>
            </a:r>
          </a:p>
          <a:p>
            <a:pPr algn="l" eaLnBrk="0" hangingPunct="0"/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5	</a:t>
            </a:r>
            <a:r>
              <a:rPr lang="en-US" altLang="en-US">
                <a:latin typeface="Verdana" panose="020B0604030504040204" pitchFamily="34" charset="0"/>
              </a:rPr>
              <a:t>SUBD		f10,	f0,	f6</a:t>
            </a:r>
          </a:p>
          <a:p>
            <a:pPr algn="l" eaLnBrk="0" hangingPunct="0"/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6 	</a:t>
            </a:r>
            <a:r>
              <a:rPr lang="en-US" altLang="en-US">
                <a:latin typeface="Verdana" panose="020B0604030504040204" pitchFamily="34" charset="0"/>
              </a:rPr>
              <a:t>ADDD		f6,	f8,	f2</a:t>
            </a:r>
          </a:p>
        </p:txBody>
      </p:sp>
      <p:sp>
        <p:nvSpPr>
          <p:cNvPr id="2040836" name="Text Box 4">
            <a:extLst>
              <a:ext uri="{FF2B5EF4-FFF2-40B4-BE49-F238E27FC236}">
                <a16:creationId xmlns:a16="http://schemas.microsoft.com/office/drawing/2014/main" id="{50B95704-A820-9332-2D94-114F352F9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410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Verdana" panose="020B0604030504040204" pitchFamily="34" charset="0"/>
              </a:rPr>
              <a:t>RAW Hazards</a:t>
            </a:r>
          </a:p>
        </p:txBody>
      </p:sp>
      <p:sp>
        <p:nvSpPr>
          <p:cNvPr id="2040837" name="Line 5">
            <a:extLst>
              <a:ext uri="{FF2B5EF4-FFF2-40B4-BE49-F238E27FC236}">
                <a16:creationId xmlns:a16="http://schemas.microsoft.com/office/drawing/2014/main" id="{21B16FBC-9888-84F5-71BC-453225D68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981200"/>
            <a:ext cx="685800" cy="160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38" name="Freeform 6">
            <a:extLst>
              <a:ext uri="{FF2B5EF4-FFF2-40B4-BE49-F238E27FC236}">
                <a16:creationId xmlns:a16="http://schemas.microsoft.com/office/drawing/2014/main" id="{FA3AA497-F1EF-A864-B54C-DF10E7176233}"/>
              </a:ext>
            </a:extLst>
          </p:cNvPr>
          <p:cNvSpPr>
            <a:spLocks/>
          </p:cNvSpPr>
          <p:nvPr/>
        </p:nvSpPr>
        <p:spPr bwMode="auto">
          <a:xfrm>
            <a:off x="5638800" y="3352800"/>
            <a:ext cx="914400" cy="838200"/>
          </a:xfrm>
          <a:custGeom>
            <a:avLst/>
            <a:gdLst>
              <a:gd name="T0" fmla="*/ 0 w 576"/>
              <a:gd name="T1" fmla="*/ 0 h 528"/>
              <a:gd name="T2" fmla="*/ 288 w 576"/>
              <a:gd name="T3" fmla="*/ 0 h 528"/>
              <a:gd name="T4" fmla="*/ 576 w 576"/>
              <a:gd name="T5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528">
                <a:moveTo>
                  <a:pt x="0" y="0"/>
                </a:moveTo>
                <a:lnTo>
                  <a:pt x="288" y="0"/>
                </a:lnTo>
                <a:lnTo>
                  <a:pt x="576" y="528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39" name="Line 7">
            <a:extLst>
              <a:ext uri="{FF2B5EF4-FFF2-40B4-BE49-F238E27FC236}">
                <a16:creationId xmlns:a16="http://schemas.microsoft.com/office/drawing/2014/main" id="{43723830-F0EA-E7ED-0C8E-98B1E8B00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590800"/>
            <a:ext cx="5334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0" name="Freeform 8">
            <a:extLst>
              <a:ext uri="{FF2B5EF4-FFF2-40B4-BE49-F238E27FC236}">
                <a16:creationId xmlns:a16="http://schemas.microsoft.com/office/drawing/2014/main" id="{BEAEE771-2DCF-6683-792A-A324B55A054A}"/>
              </a:ext>
            </a:extLst>
          </p:cNvPr>
          <p:cNvSpPr>
            <a:spLocks/>
          </p:cNvSpPr>
          <p:nvPr/>
        </p:nvSpPr>
        <p:spPr bwMode="auto">
          <a:xfrm>
            <a:off x="5486400" y="2895600"/>
            <a:ext cx="1066800" cy="685800"/>
          </a:xfrm>
          <a:custGeom>
            <a:avLst/>
            <a:gdLst>
              <a:gd name="T0" fmla="*/ 0 w 672"/>
              <a:gd name="T1" fmla="*/ 0 h 480"/>
              <a:gd name="T2" fmla="*/ 384 w 672"/>
              <a:gd name="T3" fmla="*/ 0 h 480"/>
              <a:gd name="T4" fmla="*/ 672 w 672"/>
              <a:gd name="T5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2" h="480">
                <a:moveTo>
                  <a:pt x="0" y="0"/>
                </a:moveTo>
                <a:lnTo>
                  <a:pt x="384" y="0"/>
                </a:lnTo>
                <a:lnTo>
                  <a:pt x="672" y="480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1" name="Freeform 9">
            <a:extLst>
              <a:ext uri="{FF2B5EF4-FFF2-40B4-BE49-F238E27FC236}">
                <a16:creationId xmlns:a16="http://schemas.microsoft.com/office/drawing/2014/main" id="{6C15705C-4C93-A737-E704-AED97DA090C3}"/>
              </a:ext>
            </a:extLst>
          </p:cNvPr>
          <p:cNvSpPr>
            <a:spLocks/>
          </p:cNvSpPr>
          <p:nvPr/>
        </p:nvSpPr>
        <p:spPr bwMode="auto">
          <a:xfrm>
            <a:off x="6324600" y="3200400"/>
            <a:ext cx="304800" cy="1600200"/>
          </a:xfrm>
          <a:custGeom>
            <a:avLst/>
            <a:gdLst>
              <a:gd name="T0" fmla="*/ 0 w 192"/>
              <a:gd name="T1" fmla="*/ 0 h 1008"/>
              <a:gd name="T2" fmla="*/ 48 w 192"/>
              <a:gd name="T3" fmla="*/ 864 h 1008"/>
              <a:gd name="T4" fmla="*/ 192 w 192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1008">
                <a:moveTo>
                  <a:pt x="0" y="0"/>
                </a:moveTo>
                <a:lnTo>
                  <a:pt x="48" y="864"/>
                </a:lnTo>
                <a:lnTo>
                  <a:pt x="192" y="1008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2" name="Line 10">
            <a:extLst>
              <a:ext uri="{FF2B5EF4-FFF2-40B4-BE49-F238E27FC236}">
                <a16:creationId xmlns:a16="http://schemas.microsoft.com/office/drawing/2014/main" id="{8D3233AD-91DE-3F8D-520E-D6A412DCA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6096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3" name="Line 11">
            <a:extLst>
              <a:ext uri="{FF2B5EF4-FFF2-40B4-BE49-F238E27FC236}">
                <a16:creationId xmlns:a16="http://schemas.microsoft.com/office/drawing/2014/main" id="{EBB7D994-6A16-5EC2-9169-4CC64F289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810000"/>
            <a:ext cx="762000" cy="990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4" name="Text Box 12">
            <a:extLst>
              <a:ext uri="{FF2B5EF4-FFF2-40B4-BE49-F238E27FC236}">
                <a16:creationId xmlns:a16="http://schemas.microsoft.com/office/drawing/2014/main" id="{111D917A-BEB9-209B-EAB1-B2E98F0B9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791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56127A"/>
                </a:solidFill>
                <a:latin typeface="Verdana" panose="020B0604030504040204" pitchFamily="34" charset="0"/>
              </a:rPr>
              <a:t>WAR Hazards</a:t>
            </a:r>
          </a:p>
        </p:txBody>
      </p:sp>
      <p:sp>
        <p:nvSpPr>
          <p:cNvPr id="2040845" name="Line 13">
            <a:extLst>
              <a:ext uri="{FF2B5EF4-FFF2-40B4-BE49-F238E27FC236}">
                <a16:creationId xmlns:a16="http://schemas.microsoft.com/office/drawing/2014/main" id="{461EA2E4-C8CF-3508-A7B2-9ED0BEAF5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733800"/>
            <a:ext cx="609600" cy="1066800"/>
          </a:xfrm>
          <a:prstGeom prst="line">
            <a:avLst/>
          </a:prstGeom>
          <a:noFill/>
          <a:ln w="25400">
            <a:solidFill>
              <a:srgbClr val="56127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6" name="Line 14">
            <a:extLst>
              <a:ext uri="{FF2B5EF4-FFF2-40B4-BE49-F238E27FC236}">
                <a16:creationId xmlns:a16="http://schemas.microsoft.com/office/drawing/2014/main" id="{81A4C3C8-7A60-5259-58F0-3E8DEF301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343400"/>
            <a:ext cx="1447800" cy="457200"/>
          </a:xfrm>
          <a:prstGeom prst="line">
            <a:avLst/>
          </a:prstGeom>
          <a:noFill/>
          <a:ln w="25400">
            <a:solidFill>
              <a:srgbClr val="56127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0847" name="Text Box 15">
            <a:extLst>
              <a:ext uri="{FF2B5EF4-FFF2-40B4-BE49-F238E27FC236}">
                <a16:creationId xmlns:a16="http://schemas.microsoft.com/office/drawing/2014/main" id="{F972D61E-0457-40A1-58BB-B76A12D11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006600"/>
                </a:solidFill>
                <a:latin typeface="Verdana" panose="020B0604030504040204" pitchFamily="34" charset="0"/>
              </a:rPr>
              <a:t>WAW Hazards</a:t>
            </a:r>
          </a:p>
        </p:txBody>
      </p:sp>
      <p:sp>
        <p:nvSpPr>
          <p:cNvPr id="2040848" name="Freeform 16">
            <a:extLst>
              <a:ext uri="{FF2B5EF4-FFF2-40B4-BE49-F238E27FC236}">
                <a16:creationId xmlns:a16="http://schemas.microsoft.com/office/drawing/2014/main" id="{FAA7C61B-7222-BDB5-215A-34BFBB36C7F3}"/>
              </a:ext>
            </a:extLst>
          </p:cNvPr>
          <p:cNvSpPr>
            <a:spLocks/>
          </p:cNvSpPr>
          <p:nvPr/>
        </p:nvSpPr>
        <p:spPr bwMode="auto">
          <a:xfrm>
            <a:off x="4495800" y="1905000"/>
            <a:ext cx="304800" cy="2971800"/>
          </a:xfrm>
          <a:custGeom>
            <a:avLst/>
            <a:gdLst>
              <a:gd name="T0" fmla="*/ 192 w 192"/>
              <a:gd name="T1" fmla="*/ 0 h 1872"/>
              <a:gd name="T2" fmla="*/ 0 w 192"/>
              <a:gd name="T3" fmla="*/ 96 h 1872"/>
              <a:gd name="T4" fmla="*/ 0 w 192"/>
              <a:gd name="T5" fmla="*/ 1728 h 1872"/>
              <a:gd name="T6" fmla="*/ 192 w 192"/>
              <a:gd name="T7" fmla="*/ 1872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2" h="1872">
                <a:moveTo>
                  <a:pt x="192" y="0"/>
                </a:moveTo>
                <a:lnTo>
                  <a:pt x="0" y="96"/>
                </a:lnTo>
                <a:lnTo>
                  <a:pt x="0" y="1728"/>
                </a:lnTo>
                <a:lnTo>
                  <a:pt x="192" y="1872"/>
                </a:lnTo>
              </a:path>
            </a:pathLst>
          </a:custGeom>
          <a:noFill/>
          <a:ln w="25400" cap="flat" cmpd="sng">
            <a:solidFill>
              <a:srgbClr val="00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07D16-D44F-37F6-622D-91ACDBED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A03F49-C2D9-BC91-AE0E-3BE5BD33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D5816D-D7D6-FF45-A03C-E7764024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12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0836" grpId="0" autoUpdateAnimBg="0"/>
      <p:bldP spid="2040844" grpId="0" autoUpdateAnimBg="0"/>
      <p:bldP spid="204084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858" name="Rectangle 2">
            <a:extLst>
              <a:ext uri="{FF2B5EF4-FFF2-40B4-BE49-F238E27FC236}">
                <a16:creationId xmlns:a16="http://schemas.microsoft.com/office/drawing/2014/main" id="{C74CF0C6-4923-F480-74A7-5B64080BA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Instruction Scheduling</a:t>
            </a:r>
            <a:endParaRPr lang="en-US" altLang="en-US" sz="2400" i="1"/>
          </a:p>
        </p:txBody>
      </p:sp>
      <p:grpSp>
        <p:nvGrpSpPr>
          <p:cNvPr id="2041894" name="Group 38">
            <a:extLst>
              <a:ext uri="{FF2B5EF4-FFF2-40B4-BE49-F238E27FC236}">
                <a16:creationId xmlns:a16="http://schemas.microsoft.com/office/drawing/2014/main" id="{4842E43C-A691-DF03-12E8-E9E203586C74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1524000"/>
            <a:ext cx="1689100" cy="4692650"/>
            <a:chOff x="4544" y="960"/>
            <a:chExt cx="1064" cy="2956"/>
          </a:xfrm>
        </p:grpSpPr>
        <p:sp>
          <p:nvSpPr>
            <p:cNvPr id="2041860" name="Oval 4">
              <a:extLst>
                <a:ext uri="{FF2B5EF4-FFF2-40B4-BE49-F238E27FC236}">
                  <a16:creationId xmlns:a16="http://schemas.microsoft.com/office/drawing/2014/main" id="{49A223C7-369C-B34C-C576-4CFC68E4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607"/>
              <a:ext cx="342" cy="30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6</a:t>
              </a:r>
            </a:p>
          </p:txBody>
        </p:sp>
        <p:sp>
          <p:nvSpPr>
            <p:cNvPr id="2041861" name="Freeform 5">
              <a:extLst>
                <a:ext uri="{FF2B5EF4-FFF2-40B4-BE49-F238E27FC236}">
                  <a16:creationId xmlns:a16="http://schemas.microsoft.com/office/drawing/2014/main" id="{FB345B11-9F3B-1521-EA1A-9B77AA3C7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" y="2390"/>
              <a:ext cx="387" cy="811"/>
            </a:xfrm>
            <a:custGeom>
              <a:avLst/>
              <a:gdLst>
                <a:gd name="T0" fmla="*/ 384 w 384"/>
                <a:gd name="T1" fmla="*/ 0 h 912"/>
                <a:gd name="T2" fmla="*/ 384 w 384"/>
                <a:gd name="T3" fmla="*/ 672 h 912"/>
                <a:gd name="T4" fmla="*/ 0 w 384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912">
                  <a:moveTo>
                    <a:pt x="384" y="0"/>
                  </a:moveTo>
                  <a:lnTo>
                    <a:pt x="384" y="672"/>
                  </a:lnTo>
                  <a:lnTo>
                    <a:pt x="0" y="912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2" name="Freeform 6">
              <a:extLst>
                <a:ext uri="{FF2B5EF4-FFF2-40B4-BE49-F238E27FC236}">
                  <a16:creationId xmlns:a16="http://schemas.microsoft.com/office/drawing/2014/main" id="{AADE4F0D-A2E8-B406-41C1-0EB8EDCEF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8" y="1664"/>
              <a:ext cx="387" cy="470"/>
            </a:xfrm>
            <a:custGeom>
              <a:avLst/>
              <a:gdLst>
                <a:gd name="T0" fmla="*/ 0 w 384"/>
                <a:gd name="T1" fmla="*/ 0 h 528"/>
                <a:gd name="T2" fmla="*/ 384 w 384"/>
                <a:gd name="T3" fmla="*/ 96 h 528"/>
                <a:gd name="T4" fmla="*/ 384 w 384"/>
                <a:gd name="T5" fmla="*/ 384 h 528"/>
                <a:gd name="T6" fmla="*/ 192 w 384"/>
                <a:gd name="T7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528">
                  <a:moveTo>
                    <a:pt x="0" y="0"/>
                  </a:moveTo>
                  <a:lnTo>
                    <a:pt x="384" y="96"/>
                  </a:lnTo>
                  <a:lnTo>
                    <a:pt x="384" y="384"/>
                  </a:lnTo>
                  <a:lnTo>
                    <a:pt x="192" y="528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3" name="Freeform 7">
              <a:extLst>
                <a:ext uri="{FF2B5EF4-FFF2-40B4-BE49-F238E27FC236}">
                  <a16:creationId xmlns:a16="http://schemas.microsoft.com/office/drawing/2014/main" id="{3C4CD95F-DEAF-F9FC-0369-9CAB0704D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2006"/>
              <a:ext cx="242" cy="597"/>
            </a:xfrm>
            <a:custGeom>
              <a:avLst/>
              <a:gdLst>
                <a:gd name="T0" fmla="*/ 240 w 240"/>
                <a:gd name="T1" fmla="*/ 0 h 672"/>
                <a:gd name="T2" fmla="*/ 240 w 240"/>
                <a:gd name="T3" fmla="*/ 480 h 672"/>
                <a:gd name="T4" fmla="*/ 0 w 240"/>
                <a:gd name="T5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672">
                  <a:moveTo>
                    <a:pt x="240" y="0"/>
                  </a:moveTo>
                  <a:lnTo>
                    <a:pt x="240" y="480"/>
                  </a:lnTo>
                  <a:lnTo>
                    <a:pt x="0" y="672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4" name="Freeform 8">
              <a:extLst>
                <a:ext uri="{FF2B5EF4-FFF2-40B4-BE49-F238E27FC236}">
                  <a16:creationId xmlns:a16="http://schemas.microsoft.com/office/drawing/2014/main" id="{736B24DE-DDE0-2FAF-A3AA-909337DFC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" y="2433"/>
              <a:ext cx="194" cy="1238"/>
            </a:xfrm>
            <a:custGeom>
              <a:avLst/>
              <a:gdLst>
                <a:gd name="T0" fmla="*/ 192 w 192"/>
                <a:gd name="T1" fmla="*/ 0 h 1392"/>
                <a:gd name="T2" fmla="*/ 192 w 192"/>
                <a:gd name="T3" fmla="*/ 1248 h 1392"/>
                <a:gd name="T4" fmla="*/ 0 w 192"/>
                <a:gd name="T5" fmla="*/ 1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392">
                  <a:moveTo>
                    <a:pt x="192" y="0"/>
                  </a:moveTo>
                  <a:lnTo>
                    <a:pt x="192" y="1248"/>
                  </a:lnTo>
                  <a:lnTo>
                    <a:pt x="0" y="1392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5" name="Oval 9">
              <a:extLst>
                <a:ext uri="{FF2B5EF4-FFF2-40B4-BE49-F238E27FC236}">
                  <a16:creationId xmlns:a16="http://schemas.microsoft.com/office/drawing/2014/main" id="{3EF0ECDB-ACC9-57FE-1C7B-188FB4C06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1488"/>
              <a:ext cx="343" cy="31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2041866" name="Freeform 10">
              <a:extLst>
                <a:ext uri="{FF2B5EF4-FFF2-40B4-BE49-F238E27FC236}">
                  <a16:creationId xmlns:a16="http://schemas.microsoft.com/office/drawing/2014/main" id="{7557210A-BAC1-02EE-227A-4CD452E3A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4" y="2689"/>
              <a:ext cx="387" cy="939"/>
            </a:xfrm>
            <a:custGeom>
              <a:avLst/>
              <a:gdLst>
                <a:gd name="T0" fmla="*/ 0 w 384"/>
                <a:gd name="T1" fmla="*/ 0 h 1056"/>
                <a:gd name="T2" fmla="*/ 384 w 384"/>
                <a:gd name="T3" fmla="*/ 144 h 1056"/>
                <a:gd name="T4" fmla="*/ 384 w 384"/>
                <a:gd name="T5" fmla="*/ 768 h 1056"/>
                <a:gd name="T6" fmla="*/ 48 w 384"/>
                <a:gd name="T7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1056">
                  <a:moveTo>
                    <a:pt x="0" y="0"/>
                  </a:moveTo>
                  <a:lnTo>
                    <a:pt x="384" y="144"/>
                  </a:lnTo>
                  <a:lnTo>
                    <a:pt x="384" y="768"/>
                  </a:lnTo>
                  <a:lnTo>
                    <a:pt x="48" y="1056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7" name="Freeform 11">
              <a:extLst>
                <a:ext uri="{FF2B5EF4-FFF2-40B4-BE49-F238E27FC236}">
                  <a16:creationId xmlns:a16="http://schemas.microsoft.com/office/drawing/2014/main" id="{83638557-E2AB-7A5F-48C5-461696A23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1109"/>
              <a:ext cx="484" cy="2604"/>
            </a:xfrm>
            <a:custGeom>
              <a:avLst/>
              <a:gdLst>
                <a:gd name="T0" fmla="*/ 480 w 480"/>
                <a:gd name="T1" fmla="*/ 0 h 2928"/>
                <a:gd name="T2" fmla="*/ 0 w 480"/>
                <a:gd name="T3" fmla="*/ 336 h 2928"/>
                <a:gd name="T4" fmla="*/ 0 w 480"/>
                <a:gd name="T5" fmla="*/ 2784 h 2928"/>
                <a:gd name="T6" fmla="*/ 336 w 480"/>
                <a:gd name="T7" fmla="*/ 2928 h 2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2928">
                  <a:moveTo>
                    <a:pt x="480" y="0"/>
                  </a:moveTo>
                  <a:lnTo>
                    <a:pt x="0" y="336"/>
                  </a:lnTo>
                  <a:lnTo>
                    <a:pt x="0" y="2784"/>
                  </a:lnTo>
                  <a:lnTo>
                    <a:pt x="336" y="2928"/>
                  </a:lnTo>
                </a:path>
              </a:pathLst>
            </a:custGeom>
            <a:noFill/>
            <a:ln w="25400" cap="flat" cmpd="sng">
              <a:solidFill>
                <a:srgbClr val="006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8" name="Freeform 12">
              <a:extLst>
                <a:ext uri="{FF2B5EF4-FFF2-40B4-BE49-F238E27FC236}">
                  <a16:creationId xmlns:a16="http://schemas.microsoft.com/office/drawing/2014/main" id="{4BF8E797-19FE-8F1F-3FCF-929DD9BF2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2689"/>
              <a:ext cx="387" cy="939"/>
            </a:xfrm>
            <a:custGeom>
              <a:avLst/>
              <a:gdLst>
                <a:gd name="T0" fmla="*/ 384 w 384"/>
                <a:gd name="T1" fmla="*/ 0 h 1056"/>
                <a:gd name="T2" fmla="*/ 0 w 384"/>
                <a:gd name="T3" fmla="*/ 192 h 1056"/>
                <a:gd name="T4" fmla="*/ 0 w 384"/>
                <a:gd name="T5" fmla="*/ 912 h 1056"/>
                <a:gd name="T6" fmla="*/ 288 w 384"/>
                <a:gd name="T7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1056">
                  <a:moveTo>
                    <a:pt x="384" y="0"/>
                  </a:moveTo>
                  <a:lnTo>
                    <a:pt x="0" y="192"/>
                  </a:lnTo>
                  <a:lnTo>
                    <a:pt x="0" y="912"/>
                  </a:lnTo>
                  <a:lnTo>
                    <a:pt x="288" y="1056"/>
                  </a:lnTo>
                </a:path>
              </a:pathLst>
            </a:custGeom>
            <a:noFill/>
            <a:ln w="25400" cap="flat" cmpd="sng">
              <a:solidFill>
                <a:srgbClr val="56127A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69" name="Oval 13">
              <a:extLst>
                <a:ext uri="{FF2B5EF4-FFF2-40B4-BE49-F238E27FC236}">
                  <a16:creationId xmlns:a16="http://schemas.microsoft.com/office/drawing/2014/main" id="{E71EF8F5-C546-4930-3558-EA54502CE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2545"/>
              <a:ext cx="343" cy="30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4</a:t>
              </a:r>
            </a:p>
          </p:txBody>
        </p:sp>
        <p:sp>
          <p:nvSpPr>
            <p:cNvPr id="2041870" name="Freeform 14">
              <a:extLst>
                <a:ext uri="{FF2B5EF4-FFF2-40B4-BE49-F238E27FC236}">
                  <a16:creationId xmlns:a16="http://schemas.microsoft.com/office/drawing/2014/main" id="{0F167670-DEBC-53B2-E9EB-CAF586D0C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8" y="1109"/>
              <a:ext cx="580" cy="1537"/>
            </a:xfrm>
            <a:custGeom>
              <a:avLst/>
              <a:gdLst>
                <a:gd name="T0" fmla="*/ 0 w 576"/>
                <a:gd name="T1" fmla="*/ 0 h 1728"/>
                <a:gd name="T2" fmla="*/ 576 w 576"/>
                <a:gd name="T3" fmla="*/ 96 h 1728"/>
                <a:gd name="T4" fmla="*/ 576 w 576"/>
                <a:gd name="T5" fmla="*/ 1440 h 1728"/>
                <a:gd name="T6" fmla="*/ 144 w 576"/>
                <a:gd name="T7" fmla="*/ 1728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728">
                  <a:moveTo>
                    <a:pt x="0" y="0"/>
                  </a:moveTo>
                  <a:lnTo>
                    <a:pt x="576" y="96"/>
                  </a:lnTo>
                  <a:lnTo>
                    <a:pt x="576" y="1440"/>
                  </a:lnTo>
                  <a:lnTo>
                    <a:pt x="144" y="1728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71" name="Oval 15">
              <a:extLst>
                <a:ext uri="{FF2B5EF4-FFF2-40B4-BE49-F238E27FC236}">
                  <a16:creationId xmlns:a16="http://schemas.microsoft.com/office/drawing/2014/main" id="{244CC5D8-8481-9739-E275-AD120AAAE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960"/>
              <a:ext cx="343" cy="30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2041872" name="Freeform 16">
              <a:extLst>
                <a:ext uri="{FF2B5EF4-FFF2-40B4-BE49-F238E27FC236}">
                  <a16:creationId xmlns:a16="http://schemas.microsoft.com/office/drawing/2014/main" id="{0CB9D93C-4FC8-C08A-90DC-3457DF8FF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3329"/>
              <a:ext cx="145" cy="299"/>
            </a:xfrm>
            <a:custGeom>
              <a:avLst/>
              <a:gdLst>
                <a:gd name="T0" fmla="*/ 96 w 144"/>
                <a:gd name="T1" fmla="*/ 0 h 336"/>
                <a:gd name="T2" fmla="*/ 0 w 144"/>
                <a:gd name="T3" fmla="*/ 96 h 336"/>
                <a:gd name="T4" fmla="*/ 144 w 144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336">
                  <a:moveTo>
                    <a:pt x="96" y="0"/>
                  </a:moveTo>
                  <a:lnTo>
                    <a:pt x="0" y="96"/>
                  </a:lnTo>
                  <a:lnTo>
                    <a:pt x="144" y="336"/>
                  </a:lnTo>
                </a:path>
              </a:pathLst>
            </a:custGeom>
            <a:noFill/>
            <a:ln w="25400" cap="flat" cmpd="sng">
              <a:solidFill>
                <a:srgbClr val="56127A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73" name="Oval 17">
              <a:extLst>
                <a:ext uri="{FF2B5EF4-FFF2-40B4-BE49-F238E27FC236}">
                  <a16:creationId xmlns:a16="http://schemas.microsoft.com/office/drawing/2014/main" id="{0BE963B0-2F13-C6EA-DB08-B74C7F69C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073"/>
              <a:ext cx="342" cy="30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5</a:t>
              </a:r>
            </a:p>
          </p:txBody>
        </p:sp>
        <p:sp>
          <p:nvSpPr>
            <p:cNvPr id="2041874" name="Freeform 18">
              <a:extLst>
                <a:ext uri="{FF2B5EF4-FFF2-40B4-BE49-F238E27FC236}">
                  <a16:creationId xmlns:a16="http://schemas.microsoft.com/office/drawing/2014/main" id="{C702D34F-30C1-CF0C-4842-21BF2CA39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177"/>
              <a:ext cx="242" cy="981"/>
            </a:xfrm>
            <a:custGeom>
              <a:avLst/>
              <a:gdLst>
                <a:gd name="T0" fmla="*/ 0 w 240"/>
                <a:gd name="T1" fmla="*/ 0 h 1104"/>
                <a:gd name="T2" fmla="*/ 240 w 240"/>
                <a:gd name="T3" fmla="*/ 144 h 1104"/>
                <a:gd name="T4" fmla="*/ 240 w 240"/>
                <a:gd name="T5" fmla="*/ 1008 h 1104"/>
                <a:gd name="T6" fmla="*/ 96 w 240"/>
                <a:gd name="T7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1104">
                  <a:moveTo>
                    <a:pt x="0" y="0"/>
                  </a:moveTo>
                  <a:lnTo>
                    <a:pt x="240" y="144"/>
                  </a:lnTo>
                  <a:lnTo>
                    <a:pt x="240" y="1008"/>
                  </a:lnTo>
                  <a:lnTo>
                    <a:pt x="96" y="1104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875" name="Oval 19">
              <a:extLst>
                <a:ext uri="{FF2B5EF4-FFF2-40B4-BE49-F238E27FC236}">
                  <a16:creationId xmlns:a16="http://schemas.microsoft.com/office/drawing/2014/main" id="{1942B345-F9BA-03F0-8E50-873886B0A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016"/>
              <a:ext cx="343" cy="31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I</a:t>
              </a:r>
              <a:r>
                <a:rPr lang="en-US" altLang="en-US" i="1" baseline="-25000">
                  <a:latin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2041876" name="Rectangle 20">
            <a:extLst>
              <a:ext uri="{FF2B5EF4-FFF2-40B4-BE49-F238E27FC236}">
                <a16:creationId xmlns:a16="http://schemas.microsoft.com/office/drawing/2014/main" id="{86A42DD5-B750-9ADC-C244-63F1F95A9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4711700"/>
            <a:ext cx="6794500" cy="1597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 dirty="0">
                <a:latin typeface="Verdana" panose="020B0604030504040204" pitchFamily="34" charset="0"/>
              </a:rPr>
              <a:t>Valid orderings:</a:t>
            </a:r>
          </a:p>
          <a:p>
            <a:pPr algn="l" eaLnBrk="0" hangingPunct="0"/>
            <a:r>
              <a:rPr lang="en-US" altLang="en-US" sz="1800" i="1" dirty="0">
                <a:latin typeface="Verdana" panose="020B0604030504040204" pitchFamily="34" charset="0"/>
              </a:rPr>
              <a:t>in-order	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1	 </a:t>
            </a:r>
            <a:r>
              <a:rPr lang="en-US" altLang="en-US" sz="1800" i="1" dirty="0">
                <a:latin typeface="Verdana" panose="020B0604030504040204" pitchFamily="34" charset="0"/>
              </a:rPr>
              <a:t>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2	 </a:t>
            </a:r>
            <a:r>
              <a:rPr lang="en-US" altLang="en-US" sz="1800" i="1" dirty="0">
                <a:latin typeface="Verdana" panose="020B0604030504040204" pitchFamily="34" charset="0"/>
              </a:rPr>
              <a:t>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3	 </a:t>
            </a:r>
            <a:r>
              <a:rPr lang="en-US" altLang="en-US" sz="1800" i="1" dirty="0">
                <a:latin typeface="Verdana" panose="020B0604030504040204" pitchFamily="34" charset="0"/>
              </a:rPr>
              <a:t>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4	 </a:t>
            </a:r>
            <a:r>
              <a:rPr lang="en-US" altLang="en-US" sz="1800" i="1" dirty="0">
                <a:latin typeface="Verdana" panose="020B0604030504040204" pitchFamily="34" charset="0"/>
              </a:rPr>
              <a:t>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5	</a:t>
            </a:r>
            <a:r>
              <a:rPr lang="en-US" altLang="en-US" sz="1800" i="1" dirty="0">
                <a:latin typeface="Verdana" panose="020B0604030504040204" pitchFamily="34" charset="0"/>
              </a:rPr>
              <a:t>I</a:t>
            </a:r>
            <a:r>
              <a:rPr lang="en-US" altLang="en-US" sz="1800" i="1" baseline="-25000" dirty="0">
                <a:latin typeface="Verdana" panose="020B0604030504040204" pitchFamily="34" charset="0"/>
              </a:rPr>
              <a:t>6</a:t>
            </a:r>
          </a:p>
          <a:p>
            <a:pPr algn="l" eaLnBrk="0" hangingPunct="0"/>
            <a:endParaRPr lang="en-US" altLang="en-US" sz="1800" i="1" baseline="-25000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 dirty="0">
                <a:latin typeface="Verdana" panose="020B0604030504040204" pitchFamily="34" charset="0"/>
              </a:rPr>
              <a:t>out-of-order	</a:t>
            </a:r>
          </a:p>
          <a:p>
            <a:pPr algn="l" eaLnBrk="0" hangingPunct="0"/>
            <a:endParaRPr lang="en-US" altLang="en-US" sz="1800" i="1" baseline="-25000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 dirty="0">
                <a:latin typeface="Verdana" panose="020B0604030504040204" pitchFamily="34" charset="0"/>
              </a:rPr>
              <a:t>out-of-order</a:t>
            </a:r>
            <a:endParaRPr lang="en-US" altLang="en-US" sz="1800" i="1" baseline="-25000" dirty="0">
              <a:latin typeface="Verdana" panose="020B0604030504040204" pitchFamily="34" charset="0"/>
            </a:endParaRPr>
          </a:p>
        </p:txBody>
      </p:sp>
      <p:grpSp>
        <p:nvGrpSpPr>
          <p:cNvPr id="2041893" name="Group 37">
            <a:extLst>
              <a:ext uri="{FF2B5EF4-FFF2-40B4-BE49-F238E27FC236}">
                <a16:creationId xmlns:a16="http://schemas.microsoft.com/office/drawing/2014/main" id="{F6AA8346-5251-58E6-BE32-B73024AACC6C}"/>
              </a:ext>
            </a:extLst>
          </p:cNvPr>
          <p:cNvGrpSpPr>
            <a:grpSpLocks/>
          </p:cNvGrpSpPr>
          <p:nvPr/>
        </p:nvGrpSpPr>
        <p:grpSpPr bwMode="auto">
          <a:xfrm>
            <a:off x="874713" y="1327150"/>
            <a:ext cx="4989512" cy="3119438"/>
            <a:chOff x="551" y="836"/>
            <a:chExt cx="3143" cy="1965"/>
          </a:xfrm>
        </p:grpSpPr>
        <p:sp>
          <p:nvSpPr>
            <p:cNvPr id="2041878" name="Rectangle 22">
              <a:extLst>
                <a:ext uri="{FF2B5EF4-FFF2-40B4-BE49-F238E27FC236}">
                  <a16:creationId xmlns:a16="http://schemas.microsoft.com/office/drawing/2014/main" id="{AC5163DD-00FD-81AC-751F-AF177B5B3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836"/>
              <a:ext cx="3143" cy="19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1 	</a:t>
              </a:r>
              <a:r>
                <a:rPr lang="en-US" altLang="en-US" sz="1800" dirty="0">
                  <a:latin typeface="Verdana" panose="020B0604030504040204" pitchFamily="34" charset="0"/>
                </a:rPr>
                <a:t>DIVD		f6, 	f6,	f4</a:t>
              </a:r>
            </a:p>
            <a:p>
              <a:pPr algn="l" eaLnBrk="0" hangingPunct="0"/>
              <a:endParaRPr lang="en-US" altLang="en-US" sz="1800" dirty="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2 	</a:t>
              </a:r>
              <a:r>
                <a:rPr lang="en-US" altLang="en-US" sz="1800" dirty="0">
                  <a:latin typeface="Verdana" panose="020B0604030504040204" pitchFamily="34" charset="0"/>
                </a:rPr>
                <a:t>LD		f2,	45(r3)</a:t>
              </a:r>
            </a:p>
            <a:p>
              <a:pPr algn="l" eaLnBrk="0" hangingPunct="0"/>
              <a:endParaRPr lang="en-US" altLang="en-US" sz="1800" dirty="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3 	</a:t>
              </a:r>
              <a:r>
                <a:rPr lang="en-US" altLang="en-US" sz="1800" dirty="0">
                  <a:latin typeface="Verdana" panose="020B0604030504040204" pitchFamily="34" charset="0"/>
                </a:rPr>
                <a:t>MULTD		f0,	f2,	f4</a:t>
              </a:r>
            </a:p>
            <a:p>
              <a:pPr algn="l" eaLnBrk="0" hangingPunct="0"/>
              <a:endParaRPr lang="en-US" altLang="en-US" sz="1800" dirty="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4 	</a:t>
              </a:r>
              <a:r>
                <a:rPr lang="en-US" altLang="en-US" sz="1800" dirty="0">
                  <a:latin typeface="Verdana" panose="020B0604030504040204" pitchFamily="34" charset="0"/>
                </a:rPr>
                <a:t>DIVD		f8,	f6,	f2</a:t>
              </a:r>
            </a:p>
            <a:p>
              <a:pPr algn="l" eaLnBrk="0" hangingPunct="0"/>
              <a:endParaRPr lang="en-US" altLang="en-US" sz="1800" dirty="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5	</a:t>
              </a:r>
              <a:r>
                <a:rPr lang="en-US" altLang="en-US" sz="1800" dirty="0">
                  <a:latin typeface="Verdana" panose="020B0604030504040204" pitchFamily="34" charset="0"/>
                </a:rPr>
                <a:t>SUBD		f10,	f0,	f6</a:t>
              </a:r>
            </a:p>
            <a:p>
              <a:pPr algn="l" eaLnBrk="0" hangingPunct="0"/>
              <a:endParaRPr lang="en-US" altLang="en-US" sz="1800" dirty="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 dirty="0">
                  <a:latin typeface="Verdana" panose="020B0604030504040204" pitchFamily="34" charset="0"/>
                </a:rPr>
                <a:t>I</a:t>
              </a:r>
              <a:r>
                <a:rPr lang="en-US" altLang="en-US" sz="1800" i="1" baseline="-25000" dirty="0">
                  <a:latin typeface="Verdana" panose="020B0604030504040204" pitchFamily="34" charset="0"/>
                </a:rPr>
                <a:t>6 	</a:t>
              </a:r>
              <a:r>
                <a:rPr lang="en-US" altLang="en-US" sz="1800" dirty="0">
                  <a:latin typeface="Verdana" panose="020B0604030504040204" pitchFamily="34" charset="0"/>
                </a:rPr>
                <a:t>ADDD		f6,	f8,	f2</a:t>
              </a:r>
            </a:p>
          </p:txBody>
        </p:sp>
        <p:grpSp>
          <p:nvGrpSpPr>
            <p:cNvPr id="2041892" name="Group 36">
              <a:extLst>
                <a:ext uri="{FF2B5EF4-FFF2-40B4-BE49-F238E27FC236}">
                  <a16:creationId xmlns:a16="http://schemas.microsoft.com/office/drawing/2014/main" id="{C9609322-921E-BD36-0D68-CBAB3C801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8" y="980"/>
              <a:ext cx="1344" cy="1720"/>
              <a:chOff x="2128" y="980"/>
              <a:chExt cx="1344" cy="1720"/>
            </a:xfrm>
          </p:grpSpPr>
          <p:sp>
            <p:nvSpPr>
              <p:cNvPr id="2041880" name="Line 24">
                <a:extLst>
                  <a:ext uri="{FF2B5EF4-FFF2-40B4-BE49-F238E27FC236}">
                    <a16:creationId xmlns:a16="http://schemas.microsoft.com/office/drawing/2014/main" id="{4B772438-C509-E296-8BE9-4C471A105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4" y="1024"/>
                <a:ext cx="432" cy="92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1" name="Freeform 25">
                <a:extLst>
                  <a:ext uri="{FF2B5EF4-FFF2-40B4-BE49-F238E27FC236}">
                    <a16:creationId xmlns:a16="http://schemas.microsoft.com/office/drawing/2014/main" id="{0243709C-E45C-7764-1FD4-200910B8EF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1818"/>
                <a:ext cx="576" cy="485"/>
              </a:xfrm>
              <a:custGeom>
                <a:avLst/>
                <a:gdLst>
                  <a:gd name="T0" fmla="*/ 0 w 576"/>
                  <a:gd name="T1" fmla="*/ 0 h 528"/>
                  <a:gd name="T2" fmla="*/ 288 w 576"/>
                  <a:gd name="T3" fmla="*/ 0 h 528"/>
                  <a:gd name="T4" fmla="*/ 576 w 576"/>
                  <a:gd name="T5" fmla="*/ 528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528">
                    <a:moveTo>
                      <a:pt x="0" y="0"/>
                    </a:moveTo>
                    <a:lnTo>
                      <a:pt x="288" y="0"/>
                    </a:lnTo>
                    <a:lnTo>
                      <a:pt x="576" y="528"/>
                    </a:ln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2" name="Line 26">
                <a:extLst>
                  <a:ext uri="{FF2B5EF4-FFF2-40B4-BE49-F238E27FC236}">
                    <a16:creationId xmlns:a16="http://schemas.microsoft.com/office/drawing/2014/main" id="{C1279888-E9DF-FF84-84AD-AE4FC0A24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0" y="1377"/>
                <a:ext cx="336" cy="26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3" name="Freeform 27">
                <a:extLst>
                  <a:ext uri="{FF2B5EF4-FFF2-40B4-BE49-F238E27FC236}">
                    <a16:creationId xmlns:a16="http://schemas.microsoft.com/office/drawing/2014/main" id="{70170F4E-0ACE-B896-EB45-10D76E304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1553"/>
                <a:ext cx="672" cy="397"/>
              </a:xfrm>
              <a:custGeom>
                <a:avLst/>
                <a:gdLst>
                  <a:gd name="T0" fmla="*/ 0 w 672"/>
                  <a:gd name="T1" fmla="*/ 0 h 480"/>
                  <a:gd name="T2" fmla="*/ 384 w 672"/>
                  <a:gd name="T3" fmla="*/ 0 h 480"/>
                  <a:gd name="T4" fmla="*/ 672 w 672"/>
                  <a:gd name="T5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2" h="480">
                    <a:moveTo>
                      <a:pt x="0" y="0"/>
                    </a:moveTo>
                    <a:lnTo>
                      <a:pt x="384" y="0"/>
                    </a:lnTo>
                    <a:lnTo>
                      <a:pt x="672" y="480"/>
                    </a:ln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4" name="Freeform 28">
                <a:extLst>
                  <a:ext uri="{FF2B5EF4-FFF2-40B4-BE49-F238E27FC236}">
                    <a16:creationId xmlns:a16="http://schemas.microsoft.com/office/drawing/2014/main" id="{4C8C0FC6-F3D9-BCA1-65E6-3C2C5647F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730"/>
                <a:ext cx="192" cy="926"/>
              </a:xfrm>
              <a:custGeom>
                <a:avLst/>
                <a:gdLst>
                  <a:gd name="T0" fmla="*/ 0 w 192"/>
                  <a:gd name="T1" fmla="*/ 0 h 1008"/>
                  <a:gd name="T2" fmla="*/ 48 w 192"/>
                  <a:gd name="T3" fmla="*/ 864 h 1008"/>
                  <a:gd name="T4" fmla="*/ 192 w 192"/>
                  <a:gd name="T5" fmla="*/ 1008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1008">
                    <a:moveTo>
                      <a:pt x="0" y="0"/>
                    </a:moveTo>
                    <a:lnTo>
                      <a:pt x="48" y="864"/>
                    </a:lnTo>
                    <a:lnTo>
                      <a:pt x="192" y="1008"/>
                    </a:ln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5" name="Line 29">
                <a:extLst>
                  <a:ext uri="{FF2B5EF4-FFF2-40B4-BE49-F238E27FC236}">
                    <a16:creationId xmlns:a16="http://schemas.microsoft.com/office/drawing/2014/main" id="{437D59C8-8731-6511-26D0-05AED7462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2" y="1774"/>
                <a:ext cx="384" cy="52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6" name="Line 30">
                <a:extLst>
                  <a:ext uri="{FF2B5EF4-FFF2-40B4-BE49-F238E27FC236}">
                    <a16:creationId xmlns:a16="http://schemas.microsoft.com/office/drawing/2014/main" id="{BC8DC15E-F326-F0C0-2FF6-7472D35B4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4" y="2082"/>
                <a:ext cx="480" cy="57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7" name="Line 31">
                <a:extLst>
                  <a:ext uri="{FF2B5EF4-FFF2-40B4-BE49-F238E27FC236}">
                    <a16:creationId xmlns:a16="http://schemas.microsoft.com/office/drawing/2014/main" id="{8C1C4D84-5CDF-6CEA-315F-80245DE7A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2" y="2039"/>
                <a:ext cx="384" cy="617"/>
              </a:xfrm>
              <a:prstGeom prst="line">
                <a:avLst/>
              </a:prstGeom>
              <a:noFill/>
              <a:ln w="25400">
                <a:solidFill>
                  <a:srgbClr val="56127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8" name="Line 32">
                <a:extLst>
                  <a:ext uri="{FF2B5EF4-FFF2-40B4-BE49-F238E27FC236}">
                    <a16:creationId xmlns:a16="http://schemas.microsoft.com/office/drawing/2014/main" id="{3040CADD-3F33-D976-9946-46D7D1B3E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60" y="2392"/>
                <a:ext cx="912" cy="264"/>
              </a:xfrm>
              <a:prstGeom prst="line">
                <a:avLst/>
              </a:prstGeom>
              <a:noFill/>
              <a:ln w="25400">
                <a:solidFill>
                  <a:srgbClr val="56127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889" name="Freeform 33">
                <a:extLst>
                  <a:ext uri="{FF2B5EF4-FFF2-40B4-BE49-F238E27FC236}">
                    <a16:creationId xmlns:a16="http://schemas.microsoft.com/office/drawing/2014/main" id="{0FF8A52D-EC9D-D36C-7EB4-8500D3632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8" y="980"/>
                <a:ext cx="192" cy="1720"/>
              </a:xfrm>
              <a:custGeom>
                <a:avLst/>
                <a:gdLst>
                  <a:gd name="T0" fmla="*/ 192 w 192"/>
                  <a:gd name="T1" fmla="*/ 0 h 1872"/>
                  <a:gd name="T2" fmla="*/ 0 w 192"/>
                  <a:gd name="T3" fmla="*/ 96 h 1872"/>
                  <a:gd name="T4" fmla="*/ 0 w 192"/>
                  <a:gd name="T5" fmla="*/ 1728 h 1872"/>
                  <a:gd name="T6" fmla="*/ 192 w 192"/>
                  <a:gd name="T7" fmla="*/ 1872 h 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2" h="1872">
                    <a:moveTo>
                      <a:pt x="192" y="0"/>
                    </a:moveTo>
                    <a:lnTo>
                      <a:pt x="0" y="96"/>
                    </a:lnTo>
                    <a:lnTo>
                      <a:pt x="0" y="1728"/>
                    </a:lnTo>
                    <a:lnTo>
                      <a:pt x="192" y="1872"/>
                    </a:lnTo>
                  </a:path>
                </a:pathLst>
              </a:custGeom>
              <a:noFill/>
              <a:ln w="25400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041890" name="Text Box 34">
            <a:extLst>
              <a:ext uri="{FF2B5EF4-FFF2-40B4-BE49-F238E27FC236}">
                <a16:creationId xmlns:a16="http://schemas.microsoft.com/office/drawing/2014/main" id="{5ADB298C-DC1E-1662-ACA7-82738971F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5548313"/>
            <a:ext cx="4967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FF0000"/>
                </a:solidFill>
                <a:latin typeface="Verdana" panose="020B0604030504040204" pitchFamily="34" charset="0"/>
              </a:rPr>
              <a:t>2	 </a:t>
            </a:r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r>
              <a:rPr lang="en-US" altLang="en-US" i="1" baseline="-25000">
                <a:latin typeface="Verdana" panose="020B0604030504040204" pitchFamily="34" charset="0"/>
              </a:rPr>
              <a:t>	 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3	 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4	 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5	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6</a:t>
            </a: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2041891" name="Text Box 35">
            <a:extLst>
              <a:ext uri="{FF2B5EF4-FFF2-40B4-BE49-F238E27FC236}">
                <a16:creationId xmlns:a16="http://schemas.microsoft.com/office/drawing/2014/main" id="{ED188D4F-E1D4-23E2-3B7A-42E805AA9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6056313"/>
            <a:ext cx="4967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1	 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2	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3	 </a:t>
            </a:r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FF0000"/>
                </a:solidFill>
                <a:latin typeface="Verdana" panose="020B0604030504040204" pitchFamily="34" charset="0"/>
              </a:rPr>
              <a:t>5	 </a:t>
            </a:r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FF0000"/>
                </a:solidFill>
                <a:latin typeface="Verdana" panose="020B0604030504040204" pitchFamily="34" charset="0"/>
              </a:rPr>
              <a:t>4</a:t>
            </a:r>
            <a:r>
              <a:rPr lang="en-US" altLang="en-US" i="1" baseline="-25000">
                <a:latin typeface="Verdana" panose="020B0604030504040204" pitchFamily="34" charset="0"/>
              </a:rPr>
              <a:t>	</a:t>
            </a:r>
            <a:r>
              <a:rPr lang="en-US" altLang="en-US" i="1"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latin typeface="Verdana" panose="020B0604030504040204" pitchFamily="34" charset="0"/>
              </a:rPr>
              <a:t>6</a:t>
            </a: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253473-A1B3-4557-2F18-2AC97257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32A08F-CF71-BFFD-C2A5-1657AB6C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7E4299C-FB2F-F201-0F74-ED23F644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13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1876" grpId="0" autoUpdateAnimBg="0"/>
      <p:bldP spid="2041890" grpId="0" autoUpdateAnimBg="0"/>
      <p:bldP spid="204189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882" name="Rectangle 2">
            <a:extLst>
              <a:ext uri="{FF2B5EF4-FFF2-40B4-BE49-F238E27FC236}">
                <a16:creationId xmlns:a16="http://schemas.microsoft.com/office/drawing/2014/main" id="{DBF6A92D-BD27-A4B3-8B9F-4DBA9087F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Out-of-order Completion</a:t>
            </a:r>
            <a:br>
              <a:rPr lang="en-US" altLang="en-US" sz="2400"/>
            </a:br>
            <a:r>
              <a:rPr lang="en-US" altLang="en-US" sz="2400" i="1"/>
              <a:t>In-order Issue</a:t>
            </a:r>
          </a:p>
        </p:txBody>
      </p:sp>
      <p:sp>
        <p:nvSpPr>
          <p:cNvPr id="2042883" name="Rectangle 3">
            <a:extLst>
              <a:ext uri="{FF2B5EF4-FFF2-40B4-BE49-F238E27FC236}">
                <a16:creationId xmlns:a16="http://schemas.microsoft.com/office/drawing/2014/main" id="{A9A9CA8D-B983-02A9-8741-16F37F7C7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1333500"/>
            <a:ext cx="7123113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						       Latency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1 	</a:t>
            </a:r>
            <a:r>
              <a:rPr lang="en-US" altLang="en-US" sz="1800">
                <a:latin typeface="Verdana" panose="020B0604030504040204" pitchFamily="34" charset="0"/>
              </a:rPr>
              <a:t>DIVD		f6, 	f6,	f4 		</a:t>
            </a:r>
            <a:r>
              <a:rPr lang="en-US" altLang="en-US" sz="1800" i="1">
                <a:latin typeface="Verdana" panose="020B0604030504040204" pitchFamily="34" charset="0"/>
              </a:rPr>
              <a:t>4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	LD		f2,	45(r3)	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	MULTD		f0,	f2,	f4		</a:t>
            </a:r>
            <a:r>
              <a:rPr lang="en-US" altLang="en-US" sz="1800" i="1">
                <a:latin typeface="Verdana" panose="020B0604030504040204" pitchFamily="34" charset="0"/>
              </a:rPr>
              <a:t>3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	DIVD		f8,	f6,	f2		</a:t>
            </a:r>
            <a:r>
              <a:rPr lang="en-US" altLang="en-US" sz="1800" i="1">
                <a:latin typeface="Verdana" panose="020B0604030504040204" pitchFamily="34" charset="0"/>
              </a:rPr>
              <a:t>4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	SUBD		f10,	f0,	f6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</a:t>
            </a:r>
            <a:r>
              <a:rPr lang="en-US" altLang="en-US" sz="1800" i="1" baseline="-25000">
                <a:latin typeface="Verdana" panose="020B0604030504040204" pitchFamily="34" charset="0"/>
              </a:rPr>
              <a:t>6</a:t>
            </a:r>
            <a:r>
              <a:rPr lang="en-US" altLang="en-US" sz="1800">
                <a:latin typeface="Verdana" panose="020B0604030504040204" pitchFamily="34" charset="0"/>
              </a:rPr>
              <a:t>	ADDD		f6,	f8,	f2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042884" name="Rectangle 4">
            <a:extLst>
              <a:ext uri="{FF2B5EF4-FFF2-40B4-BE49-F238E27FC236}">
                <a16:creationId xmlns:a16="http://schemas.microsoft.com/office/drawing/2014/main" id="{B0ED23E2-EA27-4E86-D4C6-C20D0A656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5194300"/>
            <a:ext cx="3459163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in-order comp</a:t>
            </a:r>
            <a:r>
              <a:rPr lang="en-US" altLang="en-US" sz="1800">
                <a:latin typeface="Verdana" panose="020B0604030504040204" pitchFamily="34" charset="0"/>
              </a:rPr>
              <a:t>		1   2</a:t>
            </a:r>
          </a:p>
          <a:p>
            <a:pPr algn="l" eaLnBrk="0" hangingPunct="0"/>
            <a:endParaRPr lang="en-US" altLang="en-US" sz="1800" u="sng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out-of-order comp	</a:t>
            </a:r>
            <a:r>
              <a:rPr lang="en-US" altLang="en-US" sz="1800">
                <a:latin typeface="Verdana" panose="020B0604030504040204" pitchFamily="34" charset="0"/>
              </a:rPr>
              <a:t>1   2</a:t>
            </a:r>
            <a:endParaRPr lang="en-US" altLang="en-US" sz="1800" u="sng">
              <a:latin typeface="Verdana" panose="020B0604030504040204" pitchFamily="34" charset="0"/>
            </a:endParaRPr>
          </a:p>
        </p:txBody>
      </p:sp>
      <p:sp>
        <p:nvSpPr>
          <p:cNvPr id="2042885" name="Text Box 5">
            <a:extLst>
              <a:ext uri="{FF2B5EF4-FFF2-40B4-BE49-F238E27FC236}">
                <a16:creationId xmlns:a16="http://schemas.microsoft.com/office/drawing/2014/main" id="{DEEC51BF-4C13-3391-8064-4F50EAEF5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5203825"/>
            <a:ext cx="423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 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  3   4      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  5  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  6   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 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2042886" name="Text Box 6">
            <a:extLst>
              <a:ext uri="{FF2B5EF4-FFF2-40B4-BE49-F238E27FC236}">
                <a16:creationId xmlns:a16="http://schemas.microsoft.com/office/drawing/2014/main" id="{271EDBDF-E4F2-60E9-BF72-BA8A2D6A0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425" y="5737225"/>
            <a:ext cx="3830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800" u="sng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 </a:t>
            </a:r>
            <a:r>
              <a:rPr lang="en-US" altLang="en-US" sz="1800">
                <a:latin typeface="Verdana" panose="020B0604030504040204" pitchFamily="34" charset="0"/>
              </a:rPr>
              <a:t>  3   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   4 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  5   </a:t>
            </a:r>
            <a:r>
              <a:rPr lang="en-US" altLang="en-US" sz="1800" u="sng">
                <a:solidFill>
                  <a:srgbClr val="56127A"/>
                </a:solidFill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 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  6  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0473E4F-D3ED-7ADB-BD68-C00FBC2B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AF5E2C0-751B-4D88-1AB5-9DBCF380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369CE3-369E-0FD7-FC06-D3FCE0CE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14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2885" grpId="0" autoUpdateAnimBg="0"/>
      <p:bldP spid="204288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EDF1195E-76E0-4BDD-50CA-B99CFA284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>
                <a:latin typeface="+mj-lt"/>
              </a:rPr>
              <a:t>Scoreboard:</a:t>
            </a:r>
            <a:br>
              <a:rPr lang="en-US" altLang="en-US" dirty="0">
                <a:latin typeface="+mj-lt"/>
              </a:rPr>
            </a:br>
            <a:r>
              <a:rPr lang="en-US" altLang="en-US" dirty="0">
                <a:latin typeface="+mj-lt"/>
              </a:rPr>
              <a:t>A Hardware Data Structure to Detect Hazards Dynamically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9F39C-7981-C6D2-AED6-F888B96C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1648ED-8F98-4AE1-A3A5-89594527E5A3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62" name="Rectangle 2">
            <a:extLst>
              <a:ext uri="{FF2B5EF4-FFF2-40B4-BE49-F238E27FC236}">
                <a16:creationId xmlns:a16="http://schemas.microsoft.com/office/drawing/2014/main" id="{A9814257-08B3-C8A3-6FC5-45AAB5EFF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CDC 6600 </a:t>
            </a:r>
            <a:r>
              <a:rPr lang="en-US" altLang="en-US" sz="2800" i="1">
                <a:solidFill>
                  <a:schemeClr val="tx1"/>
                </a:solidFill>
              </a:rPr>
              <a:t>Seymour Cray</a:t>
            </a:r>
            <a:r>
              <a:rPr lang="en-US" altLang="en-US" sz="2800" i="1"/>
              <a:t>, 1963</a:t>
            </a:r>
          </a:p>
        </p:txBody>
      </p:sp>
      <p:sp>
        <p:nvSpPr>
          <p:cNvPr id="2088963" name="Rectangle 3">
            <a:extLst>
              <a:ext uri="{FF2B5EF4-FFF2-40B4-BE49-F238E27FC236}">
                <a16:creationId xmlns:a16="http://schemas.microsoft.com/office/drawing/2014/main" id="{6F3F371F-2A1E-45C0-CA5A-258A7065C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19559" y="1555750"/>
            <a:ext cx="5645235" cy="4678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A fast pipelined machine with 60-bit words</a:t>
            </a:r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128 </a:t>
            </a:r>
            <a:r>
              <a:rPr lang="en-US" altLang="en-US" sz="1400" dirty="0" err="1"/>
              <a:t>Kword</a:t>
            </a:r>
            <a:r>
              <a:rPr lang="en-US" altLang="en-US" sz="1400" dirty="0"/>
              <a:t> main memory capacity, 32 banks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Ten functional units (parallel, unpipelined)</a:t>
            </a:r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Floating Point: adder, 2 multipliers, divider</a:t>
            </a:r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Integer: adder, 2 </a:t>
            </a:r>
            <a:r>
              <a:rPr lang="en-US" altLang="en-US" sz="1400" dirty="0" err="1"/>
              <a:t>incrementers</a:t>
            </a:r>
            <a:r>
              <a:rPr lang="en-US" altLang="en-US" sz="1400" dirty="0"/>
              <a:t>, ...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Hardwired control (no </a:t>
            </a:r>
            <a:r>
              <a:rPr lang="en-US" altLang="en-US" sz="1800" dirty="0" err="1"/>
              <a:t>microcoding</a:t>
            </a:r>
            <a:r>
              <a:rPr lang="en-US" altLang="en-US" sz="18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Dynamic scheduling of instructions using a scoreboard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Ten Peripheral Processors for Input/Output</a:t>
            </a:r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a fast multi-threaded 12-bit integer ALU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Very fast clock, 10 MHz (FP add in 4 clocks)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&gt;400,000 transistors,  750 sq. ft., 5 tons, 150 kW, novel freon-based  technology for cooling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Fastest machine in world for 5 years (until 7600)</a:t>
            </a:r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over 100 sold ($7-10M each)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</p:txBody>
      </p:sp>
      <p:pic>
        <p:nvPicPr>
          <p:cNvPr id="2088964" name="Picture 4">
            <a:extLst>
              <a:ext uri="{FF2B5EF4-FFF2-40B4-BE49-F238E27FC236}">
                <a16:creationId xmlns:a16="http://schemas.microsoft.com/office/drawing/2014/main" id="{1C90078B-B591-A6D1-3B1A-52539B26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28750"/>
            <a:ext cx="2590800" cy="194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965" name="Picture 5">
            <a:extLst>
              <a:ext uri="{FF2B5EF4-FFF2-40B4-BE49-F238E27FC236}">
                <a16:creationId xmlns:a16="http://schemas.microsoft.com/office/drawing/2014/main" id="{0DB709F9-5554-4BD3-AC97-BD5AC229F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617913"/>
            <a:ext cx="2547937" cy="261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492B443-663A-2C35-A863-7386BE51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CDEB3E-EDA8-A3DC-0DD1-C8CD3FF5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5D98A6D-0E92-CAC1-7C73-9544FE24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16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938" name="Rectangle 2">
            <a:extLst>
              <a:ext uri="{FF2B5EF4-FFF2-40B4-BE49-F238E27FC236}">
                <a16:creationId xmlns:a16="http://schemas.microsoft.com/office/drawing/2014/main" id="{2EA12620-6B6C-081E-8C9D-7B484F0A4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IBM Memo on CDC6600</a:t>
            </a:r>
          </a:p>
        </p:txBody>
      </p:sp>
      <p:sp>
        <p:nvSpPr>
          <p:cNvPr id="2087939" name="Rectangle 3">
            <a:extLst>
              <a:ext uri="{FF2B5EF4-FFF2-40B4-BE49-F238E27FC236}">
                <a16:creationId xmlns:a16="http://schemas.microsoft.com/office/drawing/2014/main" id="{30BEC928-A258-2F8F-47D2-27D3BE20D0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/>
              <a:t>Thomas Watson Jr., IBM CEO, August 1963: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i="1" dirty="0"/>
              <a:t>	“Last week, Control Data ... announced the 6600 system. I understand that in the laboratory developing the system there are only 34 people including the janitor. Of these, 14 are engineers and 4 are programmers... Contrasting this modest effort with our vast development activities, I fail to understand why we have lost our industry leadership position by letting someone else offer the world's most powerful computer.”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/>
              <a:t>To which Cray replied: </a:t>
            </a:r>
            <a:r>
              <a:rPr lang="en-US" altLang="en-US" sz="2000" i="1" dirty="0"/>
              <a:t>“It seems like Mr. Watson has answered his own question.”</a:t>
            </a:r>
            <a:endParaRPr lang="en-US" alt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6061D-95B2-7182-7A27-260807A5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B0A17-8122-6F0E-6C47-EC840FBC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F3F370-25B2-9E18-F5B4-10544D42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17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7939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986" name="Rectangle 2">
            <a:extLst>
              <a:ext uri="{FF2B5EF4-FFF2-40B4-BE49-F238E27FC236}">
                <a16:creationId xmlns:a16="http://schemas.microsoft.com/office/drawing/2014/main" id="{80746B27-C62D-E3A4-50CD-B176AF0F9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Complex Pipeline</a:t>
            </a:r>
          </a:p>
        </p:txBody>
      </p:sp>
      <p:grpSp>
        <p:nvGrpSpPr>
          <p:cNvPr id="2089987" name="Group 3">
            <a:extLst>
              <a:ext uri="{FF2B5EF4-FFF2-40B4-BE49-F238E27FC236}">
                <a16:creationId xmlns:a16="http://schemas.microsoft.com/office/drawing/2014/main" id="{50839E73-28D1-A7F2-90DB-A9618DCE0E41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2514600"/>
            <a:ext cx="812800" cy="812800"/>
            <a:chOff x="200" y="1584"/>
            <a:chExt cx="512" cy="512"/>
          </a:xfrm>
        </p:grpSpPr>
        <p:sp>
          <p:nvSpPr>
            <p:cNvPr id="2089988" name="Rectangle 4">
              <a:extLst>
                <a:ext uri="{FF2B5EF4-FFF2-40B4-BE49-F238E27FC236}">
                  <a16:creationId xmlns:a16="http://schemas.microsoft.com/office/drawing/2014/main" id="{FF507286-B8BC-8834-2A4E-09ED5A776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989" name="Rectangle 5">
              <a:extLst>
                <a:ext uri="{FF2B5EF4-FFF2-40B4-BE49-F238E27FC236}">
                  <a16:creationId xmlns:a16="http://schemas.microsoft.com/office/drawing/2014/main" id="{1FD5CC8F-9186-352D-D030-16E84D63A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1711"/>
              <a:ext cx="273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IF</a:t>
              </a:r>
            </a:p>
          </p:txBody>
        </p:sp>
      </p:grpSp>
      <p:sp>
        <p:nvSpPr>
          <p:cNvPr id="2089990" name="Rectangle 6">
            <a:extLst>
              <a:ext uri="{FF2B5EF4-FFF2-40B4-BE49-F238E27FC236}">
                <a16:creationId xmlns:a16="http://schemas.microsoft.com/office/drawing/2014/main" id="{50ECE1A1-E398-D580-127F-501DAD68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2716213"/>
            <a:ext cx="6572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ID</a:t>
            </a:r>
          </a:p>
        </p:txBody>
      </p:sp>
      <p:sp>
        <p:nvSpPr>
          <p:cNvPr id="2089991" name="Line 7">
            <a:extLst>
              <a:ext uri="{FF2B5EF4-FFF2-40B4-BE49-F238E27FC236}">
                <a16:creationId xmlns:a16="http://schemas.microsoft.com/office/drawing/2014/main" id="{FA913A66-4FB1-C9DC-A588-FBCA23472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908300"/>
            <a:ext cx="29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9992" name="Rectangle 8">
            <a:extLst>
              <a:ext uri="{FF2B5EF4-FFF2-40B4-BE49-F238E27FC236}">
                <a16:creationId xmlns:a16="http://schemas.microsoft.com/office/drawing/2014/main" id="{C64B6293-3330-4676-AB9C-6653E7E02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25400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9993" name="Rectangle 9">
            <a:extLst>
              <a:ext uri="{FF2B5EF4-FFF2-40B4-BE49-F238E27FC236}">
                <a16:creationId xmlns:a16="http://schemas.microsoft.com/office/drawing/2014/main" id="{A2BD320C-9932-110C-7C63-17656D2F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2514600"/>
            <a:ext cx="850900" cy="8509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89994" name="Group 10">
            <a:extLst>
              <a:ext uri="{FF2B5EF4-FFF2-40B4-BE49-F238E27FC236}">
                <a16:creationId xmlns:a16="http://schemas.microsoft.com/office/drawing/2014/main" id="{DFCF296A-AB16-2292-8804-D7C6EBEA1A3A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2514600"/>
            <a:ext cx="812800" cy="812800"/>
            <a:chOff x="4456" y="1584"/>
            <a:chExt cx="512" cy="512"/>
          </a:xfrm>
        </p:grpSpPr>
        <p:sp>
          <p:nvSpPr>
            <p:cNvPr id="2089995" name="Rectangle 11">
              <a:extLst>
                <a:ext uri="{FF2B5EF4-FFF2-40B4-BE49-F238E27FC236}">
                  <a16:creationId xmlns:a16="http://schemas.microsoft.com/office/drawing/2014/main" id="{8372158D-C2EC-01CD-A4E4-6129A131F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996" name="Rectangle 12">
              <a:extLst>
                <a:ext uri="{FF2B5EF4-FFF2-40B4-BE49-F238E27FC236}">
                  <a16:creationId xmlns:a16="http://schemas.microsoft.com/office/drawing/2014/main" id="{F39F4F31-DDB5-9371-AC40-B5B54E7F5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711"/>
              <a:ext cx="38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WB</a:t>
              </a:r>
            </a:p>
          </p:txBody>
        </p:sp>
      </p:grpSp>
      <p:sp>
        <p:nvSpPr>
          <p:cNvPr id="2089997" name="Rectangle 13">
            <a:extLst>
              <a:ext uri="{FF2B5EF4-FFF2-40B4-BE49-F238E27FC236}">
                <a16:creationId xmlns:a16="http://schemas.microsoft.com/office/drawing/2014/main" id="{E26243A4-0665-E645-FC44-423A2F568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7526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9998" name="Rectangle 14">
            <a:extLst>
              <a:ext uri="{FF2B5EF4-FFF2-40B4-BE49-F238E27FC236}">
                <a16:creationId xmlns:a16="http://schemas.microsoft.com/office/drawing/2014/main" id="{EBBD24C8-2053-88BA-AF83-9D24E5CE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1954213"/>
            <a:ext cx="6810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ALU</a:t>
            </a:r>
          </a:p>
        </p:txBody>
      </p:sp>
      <p:sp>
        <p:nvSpPr>
          <p:cNvPr id="2089999" name="Rectangle 15">
            <a:extLst>
              <a:ext uri="{FF2B5EF4-FFF2-40B4-BE49-F238E27FC236}">
                <a16:creationId xmlns:a16="http://schemas.microsoft.com/office/drawing/2014/main" id="{F0C68B41-5E8C-8E16-1729-B69A416BE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1752600"/>
            <a:ext cx="11684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0" name="Rectangle 16">
            <a:extLst>
              <a:ext uri="{FF2B5EF4-FFF2-40B4-BE49-F238E27FC236}">
                <a16:creationId xmlns:a16="http://schemas.microsoft.com/office/drawing/2014/main" id="{67836668-13DB-5A9F-49A0-C53888CF1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863" y="1954213"/>
            <a:ext cx="7937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Mem</a:t>
            </a:r>
          </a:p>
        </p:txBody>
      </p:sp>
      <p:sp>
        <p:nvSpPr>
          <p:cNvPr id="2090001" name="Rectangle 17">
            <a:extLst>
              <a:ext uri="{FF2B5EF4-FFF2-40B4-BE49-F238E27FC236}">
                <a16:creationId xmlns:a16="http://schemas.microsoft.com/office/drawing/2014/main" id="{C1F2ABA6-C5B6-2B11-BE87-1EE99A066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933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2" name="Rectangle 18">
            <a:extLst>
              <a:ext uri="{FF2B5EF4-FFF2-40B4-BE49-F238E27FC236}">
                <a16:creationId xmlns:a16="http://schemas.microsoft.com/office/drawing/2014/main" id="{D8B1A3ED-3A78-4215-A6FA-324F40EAD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135313"/>
            <a:ext cx="7969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Fadd</a:t>
            </a:r>
          </a:p>
        </p:txBody>
      </p:sp>
      <p:sp>
        <p:nvSpPr>
          <p:cNvPr id="2090003" name="Rectangle 19">
            <a:extLst>
              <a:ext uri="{FF2B5EF4-FFF2-40B4-BE49-F238E27FC236}">
                <a16:creationId xmlns:a16="http://schemas.microsoft.com/office/drawing/2014/main" id="{CA33D9DD-B9F8-8012-84B2-6C6B9F03D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243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4" name="Rectangle 20">
            <a:extLst>
              <a:ext uri="{FF2B5EF4-FFF2-40B4-BE49-F238E27FC236}">
                <a16:creationId xmlns:a16="http://schemas.microsoft.com/office/drawing/2014/main" id="{38957351-404D-8788-E27D-D77FCF9A3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4125913"/>
            <a:ext cx="80486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Fmul</a:t>
            </a:r>
          </a:p>
        </p:txBody>
      </p:sp>
      <p:sp>
        <p:nvSpPr>
          <p:cNvPr id="2090005" name="Rectangle 21">
            <a:extLst>
              <a:ext uri="{FF2B5EF4-FFF2-40B4-BE49-F238E27FC236}">
                <a16:creationId xmlns:a16="http://schemas.microsoft.com/office/drawing/2014/main" id="{6022D71B-3E13-09DF-6617-87FFD37C4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600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6" name="Rectangle 22">
            <a:extLst>
              <a:ext uri="{FF2B5EF4-FFF2-40B4-BE49-F238E27FC236}">
                <a16:creationId xmlns:a16="http://schemas.microsoft.com/office/drawing/2014/main" id="{72444D3D-6A4F-C36F-5568-A27808941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25" y="5802313"/>
            <a:ext cx="706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Fdiv</a:t>
            </a:r>
          </a:p>
        </p:txBody>
      </p:sp>
      <p:sp>
        <p:nvSpPr>
          <p:cNvPr id="2090007" name="Oval 23">
            <a:extLst>
              <a:ext uri="{FF2B5EF4-FFF2-40B4-BE49-F238E27FC236}">
                <a16:creationId xmlns:a16="http://schemas.microsoft.com/office/drawing/2014/main" id="{7B1C9D95-B946-8C1F-36CA-803A3D9F3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48704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8" name="Oval 24">
            <a:extLst>
              <a:ext uri="{FF2B5EF4-FFF2-40B4-BE49-F238E27FC236}">
                <a16:creationId xmlns:a16="http://schemas.microsoft.com/office/drawing/2014/main" id="{CA8DC5CA-7689-F2CE-4605-C5C796AEC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165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09" name="Oval 25">
            <a:extLst>
              <a:ext uri="{FF2B5EF4-FFF2-40B4-BE49-F238E27FC236}">
                <a16:creationId xmlns:a16="http://schemas.microsoft.com/office/drawing/2014/main" id="{DAD43553-FABE-6506-6BFE-3B52914A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51752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10" name="Oval 26">
            <a:extLst>
              <a:ext uri="{FF2B5EF4-FFF2-40B4-BE49-F238E27FC236}">
                <a16:creationId xmlns:a16="http://schemas.microsoft.com/office/drawing/2014/main" id="{7611AE34-567B-6C54-8187-91E864855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3213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0011" name="Group 27">
            <a:extLst>
              <a:ext uri="{FF2B5EF4-FFF2-40B4-BE49-F238E27FC236}">
                <a16:creationId xmlns:a16="http://schemas.microsoft.com/office/drawing/2014/main" id="{91D17486-D9E5-D928-3F78-B1F06D27AF6D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20900"/>
            <a:ext cx="636588" cy="3836988"/>
            <a:chOff x="2208" y="1336"/>
            <a:chExt cx="401" cy="2417"/>
          </a:xfrm>
        </p:grpSpPr>
        <p:sp>
          <p:nvSpPr>
            <p:cNvPr id="2090012" name="Freeform 28">
              <a:extLst>
                <a:ext uri="{FF2B5EF4-FFF2-40B4-BE49-F238E27FC236}">
                  <a16:creationId xmlns:a16="http://schemas.microsoft.com/office/drawing/2014/main" id="{E8ADA857-C54D-2EC2-0831-B8991ABE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336"/>
              <a:ext cx="401" cy="497"/>
            </a:xfrm>
            <a:custGeom>
              <a:avLst/>
              <a:gdLst>
                <a:gd name="T0" fmla="*/ 0 w 401"/>
                <a:gd name="T1" fmla="*/ 496 h 497"/>
                <a:gd name="T2" fmla="*/ 400 w 401"/>
                <a:gd name="T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497">
                  <a:moveTo>
                    <a:pt x="0" y="496"/>
                  </a:moveTo>
                  <a:lnTo>
                    <a:pt x="40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13" name="Freeform 29">
              <a:extLst>
                <a:ext uri="{FF2B5EF4-FFF2-40B4-BE49-F238E27FC236}">
                  <a16:creationId xmlns:a16="http://schemas.microsoft.com/office/drawing/2014/main" id="{817D1E49-52D7-1A0B-BCF8-398BEC646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225"/>
            </a:xfrm>
            <a:custGeom>
              <a:avLst/>
              <a:gdLst>
                <a:gd name="T0" fmla="*/ 0 w 401"/>
                <a:gd name="T1" fmla="*/ 0 h 225"/>
                <a:gd name="T2" fmla="*/ 400 w 401"/>
                <a:gd name="T3" fmla="*/ 2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225">
                  <a:moveTo>
                    <a:pt x="0" y="0"/>
                  </a:moveTo>
                  <a:lnTo>
                    <a:pt x="400" y="22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14" name="Freeform 30">
              <a:extLst>
                <a:ext uri="{FF2B5EF4-FFF2-40B4-BE49-F238E27FC236}">
                  <a16:creationId xmlns:a16="http://schemas.microsoft.com/office/drawing/2014/main" id="{0BFC9988-30B2-11E7-0B58-275D9F95F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841"/>
            </a:xfrm>
            <a:custGeom>
              <a:avLst/>
              <a:gdLst>
                <a:gd name="T0" fmla="*/ 0 w 401"/>
                <a:gd name="T1" fmla="*/ 0 h 841"/>
                <a:gd name="T2" fmla="*/ 400 w 401"/>
                <a:gd name="T3" fmla="*/ 84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841">
                  <a:moveTo>
                    <a:pt x="0" y="0"/>
                  </a:moveTo>
                  <a:lnTo>
                    <a:pt x="400" y="8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15" name="Freeform 31">
              <a:extLst>
                <a:ext uri="{FF2B5EF4-FFF2-40B4-BE49-F238E27FC236}">
                  <a16:creationId xmlns:a16="http://schemas.microsoft.com/office/drawing/2014/main" id="{58B99932-2151-51E4-499B-6FD64BDBD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32"/>
              <a:ext cx="393" cy="1921"/>
            </a:xfrm>
            <a:custGeom>
              <a:avLst/>
              <a:gdLst>
                <a:gd name="T0" fmla="*/ 0 w 393"/>
                <a:gd name="T1" fmla="*/ 0 h 1921"/>
                <a:gd name="T2" fmla="*/ 392 w 393"/>
                <a:gd name="T3" fmla="*/ 192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3" h="1921">
                  <a:moveTo>
                    <a:pt x="0" y="0"/>
                  </a:moveTo>
                  <a:lnTo>
                    <a:pt x="392" y="19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90016" name="Freeform 32">
            <a:extLst>
              <a:ext uri="{FF2B5EF4-FFF2-40B4-BE49-F238E27FC236}">
                <a16:creationId xmlns:a16="http://schemas.microsoft.com/office/drawing/2014/main" id="{258FC403-42C4-49CE-F134-21E967979E68}"/>
              </a:ext>
            </a:extLst>
          </p:cNvPr>
          <p:cNvSpPr>
            <a:spLocks/>
          </p:cNvSpPr>
          <p:nvPr/>
        </p:nvSpPr>
        <p:spPr bwMode="auto">
          <a:xfrm>
            <a:off x="6604000" y="2133600"/>
            <a:ext cx="446088" cy="484188"/>
          </a:xfrm>
          <a:custGeom>
            <a:avLst/>
            <a:gdLst>
              <a:gd name="T0" fmla="*/ 280 w 281"/>
              <a:gd name="T1" fmla="*/ 304 h 305"/>
              <a:gd name="T2" fmla="*/ 0 w 281"/>
              <a:gd name="T3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1" h="305">
                <a:moveTo>
                  <a:pt x="280" y="304"/>
                </a:move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17" name="Freeform 33">
            <a:extLst>
              <a:ext uri="{FF2B5EF4-FFF2-40B4-BE49-F238E27FC236}">
                <a16:creationId xmlns:a16="http://schemas.microsoft.com/office/drawing/2014/main" id="{86F59540-A1C2-0FE9-2240-DB9FE87FF355}"/>
              </a:ext>
            </a:extLst>
          </p:cNvPr>
          <p:cNvSpPr>
            <a:spLocks/>
          </p:cNvSpPr>
          <p:nvPr/>
        </p:nvSpPr>
        <p:spPr bwMode="auto">
          <a:xfrm>
            <a:off x="5803900" y="2946400"/>
            <a:ext cx="1233488" cy="331788"/>
          </a:xfrm>
          <a:custGeom>
            <a:avLst/>
            <a:gdLst>
              <a:gd name="T0" fmla="*/ 776 w 777"/>
              <a:gd name="T1" fmla="*/ 0 h 209"/>
              <a:gd name="T2" fmla="*/ 0 w 777"/>
              <a:gd name="T3" fmla="*/ 208 h 20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209">
                <a:moveTo>
                  <a:pt x="776" y="0"/>
                </a:moveTo>
                <a:lnTo>
                  <a:pt x="0" y="20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18" name="Freeform 34">
            <a:extLst>
              <a:ext uri="{FF2B5EF4-FFF2-40B4-BE49-F238E27FC236}">
                <a16:creationId xmlns:a16="http://schemas.microsoft.com/office/drawing/2014/main" id="{99A1FE05-7130-1613-8623-EEC45FD90AAF}"/>
              </a:ext>
            </a:extLst>
          </p:cNvPr>
          <p:cNvSpPr>
            <a:spLocks/>
          </p:cNvSpPr>
          <p:nvPr/>
        </p:nvSpPr>
        <p:spPr bwMode="auto">
          <a:xfrm>
            <a:off x="5803900" y="3111500"/>
            <a:ext cx="1246188" cy="1144588"/>
          </a:xfrm>
          <a:custGeom>
            <a:avLst/>
            <a:gdLst>
              <a:gd name="T0" fmla="*/ 784 w 785"/>
              <a:gd name="T1" fmla="*/ 0 h 721"/>
              <a:gd name="T2" fmla="*/ 0 w 785"/>
              <a:gd name="T3" fmla="*/ 720 h 7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85" h="721">
                <a:moveTo>
                  <a:pt x="784" y="0"/>
                </a:moveTo>
                <a:lnTo>
                  <a:pt x="0" y="72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19" name="Freeform 35">
            <a:extLst>
              <a:ext uri="{FF2B5EF4-FFF2-40B4-BE49-F238E27FC236}">
                <a16:creationId xmlns:a16="http://schemas.microsoft.com/office/drawing/2014/main" id="{2F314E41-5CDE-6360-DF19-B5111061E72E}"/>
              </a:ext>
            </a:extLst>
          </p:cNvPr>
          <p:cNvSpPr>
            <a:spLocks/>
          </p:cNvSpPr>
          <p:nvPr/>
        </p:nvSpPr>
        <p:spPr bwMode="auto">
          <a:xfrm>
            <a:off x="5816600" y="3263900"/>
            <a:ext cx="1233488" cy="2719388"/>
          </a:xfrm>
          <a:custGeom>
            <a:avLst/>
            <a:gdLst>
              <a:gd name="T0" fmla="*/ 776 w 777"/>
              <a:gd name="T1" fmla="*/ 0 h 1713"/>
              <a:gd name="T2" fmla="*/ 0 w 777"/>
              <a:gd name="T3" fmla="*/ 1712 h 17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1713">
                <a:moveTo>
                  <a:pt x="776" y="0"/>
                </a:moveTo>
                <a:lnTo>
                  <a:pt x="0" y="17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20" name="Freeform 36">
            <a:extLst>
              <a:ext uri="{FF2B5EF4-FFF2-40B4-BE49-F238E27FC236}">
                <a16:creationId xmlns:a16="http://schemas.microsoft.com/office/drawing/2014/main" id="{7407AB55-DFAE-DCE9-B8BD-7D08864B1B60}"/>
              </a:ext>
            </a:extLst>
          </p:cNvPr>
          <p:cNvSpPr>
            <a:spLocks/>
          </p:cNvSpPr>
          <p:nvPr/>
        </p:nvSpPr>
        <p:spPr bwMode="auto">
          <a:xfrm>
            <a:off x="4965700" y="2133600"/>
            <a:ext cx="2084388" cy="623888"/>
          </a:xfrm>
          <a:custGeom>
            <a:avLst/>
            <a:gdLst>
              <a:gd name="T0" fmla="*/ 0 w 1313"/>
              <a:gd name="T1" fmla="*/ 0 h 393"/>
              <a:gd name="T2" fmla="*/ 120 w 1313"/>
              <a:gd name="T3" fmla="*/ 0 h 393"/>
              <a:gd name="T4" fmla="*/ 120 w 1313"/>
              <a:gd name="T5" fmla="*/ 392 h 393"/>
              <a:gd name="T6" fmla="*/ 1312 w 1313"/>
              <a:gd name="T7" fmla="*/ 392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13" h="393">
                <a:moveTo>
                  <a:pt x="0" y="0"/>
                </a:moveTo>
                <a:lnTo>
                  <a:pt x="120" y="0"/>
                </a:lnTo>
                <a:lnTo>
                  <a:pt x="120" y="392"/>
                </a:lnTo>
                <a:lnTo>
                  <a:pt x="1312" y="39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21" name="Line 37">
            <a:extLst>
              <a:ext uri="{FF2B5EF4-FFF2-40B4-BE49-F238E27FC236}">
                <a16:creationId xmlns:a16="http://schemas.microsoft.com/office/drawing/2014/main" id="{8FBD4532-7EAD-2294-521B-CF976C81C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2133600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22" name="Freeform 38">
            <a:extLst>
              <a:ext uri="{FF2B5EF4-FFF2-40B4-BE49-F238E27FC236}">
                <a16:creationId xmlns:a16="http://schemas.microsoft.com/office/drawing/2014/main" id="{165C4EE0-6DFE-C19C-7F37-C29D7EA809A2}"/>
              </a:ext>
            </a:extLst>
          </p:cNvPr>
          <p:cNvSpPr>
            <a:spLocks/>
          </p:cNvSpPr>
          <p:nvPr/>
        </p:nvSpPr>
        <p:spPr bwMode="auto">
          <a:xfrm>
            <a:off x="3086100" y="1435100"/>
            <a:ext cx="5183188" cy="1487488"/>
          </a:xfrm>
          <a:custGeom>
            <a:avLst/>
            <a:gdLst>
              <a:gd name="T0" fmla="*/ 3032 w 3265"/>
              <a:gd name="T1" fmla="*/ 936 h 937"/>
              <a:gd name="T2" fmla="*/ 3264 w 3265"/>
              <a:gd name="T3" fmla="*/ 936 h 937"/>
              <a:gd name="T4" fmla="*/ 3264 w 3265"/>
              <a:gd name="T5" fmla="*/ 0 h 937"/>
              <a:gd name="T6" fmla="*/ 0 w 3265"/>
              <a:gd name="T7" fmla="*/ 0 h 937"/>
              <a:gd name="T8" fmla="*/ 0 w 3265"/>
              <a:gd name="T9" fmla="*/ 680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5" h="937">
                <a:moveTo>
                  <a:pt x="3032" y="936"/>
                </a:moveTo>
                <a:lnTo>
                  <a:pt x="3264" y="936"/>
                </a:lnTo>
                <a:lnTo>
                  <a:pt x="3264" y="0"/>
                </a:lnTo>
                <a:lnTo>
                  <a:pt x="0" y="0"/>
                </a:lnTo>
                <a:lnTo>
                  <a:pt x="0" y="6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023" name="Rectangle 39">
            <a:extLst>
              <a:ext uri="{FF2B5EF4-FFF2-40B4-BE49-F238E27FC236}">
                <a16:creationId xmlns:a16="http://schemas.microsoft.com/office/drawing/2014/main" id="{BE7F77C6-FE74-4DBE-C0D8-CCA08C981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16213"/>
            <a:ext cx="1000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Issue</a:t>
            </a:r>
          </a:p>
        </p:txBody>
      </p:sp>
      <p:sp>
        <p:nvSpPr>
          <p:cNvPr id="2090024" name="Line 40">
            <a:extLst>
              <a:ext uri="{FF2B5EF4-FFF2-40B4-BE49-F238E27FC236}">
                <a16:creationId xmlns:a16="http://schemas.microsoft.com/office/drawing/2014/main" id="{7A826559-5423-D8A8-43A5-682D32D7A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2946400"/>
            <a:ext cx="36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0025" name="Rectangle 41">
            <a:extLst>
              <a:ext uri="{FF2B5EF4-FFF2-40B4-BE49-F238E27FC236}">
                <a16:creationId xmlns:a16="http://schemas.microsoft.com/office/drawing/2014/main" id="{723293C8-CD47-BFC7-3EAF-759624E4B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3419475"/>
            <a:ext cx="90646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GPR’s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FPR’s</a:t>
            </a:r>
          </a:p>
        </p:txBody>
      </p:sp>
      <p:sp>
        <p:nvSpPr>
          <p:cNvPr id="2090027" name="Text Box 43">
            <a:extLst>
              <a:ext uri="{FF2B5EF4-FFF2-40B4-BE49-F238E27FC236}">
                <a16:creationId xmlns:a16="http://schemas.microsoft.com/office/drawing/2014/main" id="{BA851151-6D05-E01D-22B1-559AACCB4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8" y="4713288"/>
            <a:ext cx="329406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i="1">
                <a:latin typeface="Verdana" panose="020B0604030504040204" pitchFamily="34" charset="0"/>
              </a:rPr>
              <a:t>Can we solve write hazards without equalizing all pipeline depths and without bypassing?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4AC32B5-6FF7-7CF4-E7FA-5B09F91A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85231DF-BF4D-A23F-4CF9-14CC42F5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89D872-F867-4C69-A05F-9D81FB5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18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010" name="Rectangle 2">
            <a:extLst>
              <a:ext uri="{FF2B5EF4-FFF2-40B4-BE49-F238E27FC236}">
                <a16:creationId xmlns:a16="http://schemas.microsoft.com/office/drawing/2014/main" id="{10A87833-3E5A-C31B-4852-8DD64DAA4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When is it Safe to Issue an Instruction?</a:t>
            </a:r>
          </a:p>
        </p:txBody>
      </p:sp>
      <p:sp>
        <p:nvSpPr>
          <p:cNvPr id="2091011" name="Rectangle 3">
            <a:extLst>
              <a:ext uri="{FF2B5EF4-FFF2-40B4-BE49-F238E27FC236}">
                <a16:creationId xmlns:a16="http://schemas.microsoft.com/office/drawing/2014/main" id="{C637FEF3-968C-2680-D5A1-B2AAE3818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71" y="1280519"/>
            <a:ext cx="8121650" cy="3229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The following checks need to be made before the Issue stage can dispatch an instruction</a:t>
            </a:r>
          </a:p>
          <a:p>
            <a:pPr algn="l" eaLnBrk="0" hangingPunct="0"/>
            <a:endParaRPr lang="en-US" altLang="en-US" dirty="0"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Is the required function unit available?</a:t>
            </a:r>
          </a:p>
          <a:p>
            <a:pPr lvl="1" algn="l" eaLnBrk="0" hangingPunct="0"/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Is the input data available?   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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RAW?</a:t>
            </a:r>
          </a:p>
          <a:p>
            <a:pPr lvl="1" algn="l" eaLnBrk="0" hangingPunct="0"/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Is it safe to write the destination?  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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WAR?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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WAW?</a:t>
            </a:r>
          </a:p>
          <a:p>
            <a:pPr lvl="1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</a:t>
            </a:r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Is there a structural conflict at the WB stage?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9DFC4-73CF-BECF-562B-F2F0E492AFE9}"/>
              </a:ext>
            </a:extLst>
          </p:cNvPr>
          <p:cNvSpPr txBox="1"/>
          <p:nvPr/>
        </p:nvSpPr>
        <p:spPr>
          <a:xfrm>
            <a:off x="2341323" y="5056811"/>
            <a:ext cx="5839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2000" i="1" dirty="0">
                <a:latin typeface="Verdana" panose="020B0604030504040204" pitchFamily="34" charset="0"/>
              </a:rPr>
              <a:t>Design a data structure to keep track of all the instructions in all the functional units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3D7A236-247C-EECF-0120-517521DA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7281461-23EC-61DE-47FE-617C2140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8D399A-4E0B-2B7F-958D-8D88FD64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19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106" name="Rectangle 2">
            <a:extLst>
              <a:ext uri="{FF2B5EF4-FFF2-40B4-BE49-F238E27FC236}">
                <a16:creationId xmlns:a16="http://schemas.microsoft.com/office/drawing/2014/main" id="{825E6A19-319D-BC73-8C01-F1F1E0164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 altLang="en-US" sz="3200" dirty="0"/>
              <a:t>A Data Structure for Correct Issues</a:t>
            </a:r>
            <a:br>
              <a:rPr lang="en-US" altLang="en-US" sz="2400" dirty="0"/>
            </a:br>
            <a:r>
              <a:rPr lang="en-US" altLang="en-US" sz="2400" i="1" dirty="0"/>
              <a:t>Keeps track of the status of Functional Units</a:t>
            </a:r>
          </a:p>
        </p:txBody>
      </p:sp>
      <p:sp>
        <p:nvSpPr>
          <p:cNvPr id="2095109" name="Rectangle 5">
            <a:extLst>
              <a:ext uri="{FF2B5EF4-FFF2-40B4-BE49-F238E27FC236}">
                <a16:creationId xmlns:a16="http://schemas.microsoft.com/office/drawing/2014/main" id="{EF3741B9-6D8F-1D62-AE33-4BFA90B4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087" y="4205062"/>
            <a:ext cx="7565598" cy="22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 dirty="0">
                <a:latin typeface="Verdana" panose="020B0604030504040204" pitchFamily="34" charset="0"/>
              </a:rPr>
              <a:t>The instruction </a:t>
            </a:r>
            <a:r>
              <a:rPr lang="en-US" altLang="en-US" i="1" dirty="0" err="1">
                <a:latin typeface="Verdana" panose="020B0604030504040204" pitchFamily="34" charset="0"/>
              </a:rPr>
              <a:t>i</a:t>
            </a:r>
            <a:r>
              <a:rPr lang="en-US" altLang="en-US" i="1" dirty="0">
                <a:latin typeface="Verdana" panose="020B0604030504040204" pitchFamily="34" charset="0"/>
              </a:rPr>
              <a:t> at the Issue stage consults this table</a:t>
            </a:r>
          </a:p>
          <a:p>
            <a:pPr algn="l" eaLnBrk="0" hangingPunct="0"/>
            <a:endParaRPr lang="en-US" altLang="en-US" sz="700" i="1" dirty="0">
              <a:latin typeface="Verdana" panose="020B0604030504040204" pitchFamily="34" charset="0"/>
            </a:endParaRPr>
          </a:p>
          <a:p>
            <a:pPr lvl="1" algn="l" eaLnBrk="0" hangingPunct="0"/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FU available? 	check the busy column</a:t>
            </a:r>
          </a:p>
          <a:p>
            <a:pPr lvl="1" algn="l" eaLnBrk="0" hangingPunct="0"/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RAW?		search the </a:t>
            </a:r>
            <a:r>
              <a:rPr lang="en-US" altLang="en-US" sz="1600" dirty="0" err="1">
                <a:solidFill>
                  <a:srgbClr val="56127A"/>
                </a:solidFill>
                <a:latin typeface="Verdana" panose="020B0604030504040204" pitchFamily="34" charset="0"/>
              </a:rPr>
              <a:t>dest</a:t>
            </a:r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 column for i’s sources</a:t>
            </a:r>
          </a:p>
          <a:p>
            <a:pPr lvl="1" algn="l" eaLnBrk="0" hangingPunct="0"/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WAR?		search the source columns for i’s destination</a:t>
            </a:r>
          </a:p>
          <a:p>
            <a:pPr lvl="1" algn="l" eaLnBrk="0" hangingPunct="0"/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WAW?		search the </a:t>
            </a:r>
            <a:r>
              <a:rPr lang="en-US" altLang="en-US" sz="1600" dirty="0" err="1">
                <a:solidFill>
                  <a:srgbClr val="56127A"/>
                </a:solidFill>
                <a:latin typeface="Verdana" panose="020B0604030504040204" pitchFamily="34" charset="0"/>
              </a:rPr>
              <a:t>dest</a:t>
            </a:r>
            <a:r>
              <a:rPr lang="en-US" altLang="en-US" sz="1600" dirty="0">
                <a:solidFill>
                  <a:srgbClr val="56127A"/>
                </a:solidFill>
                <a:latin typeface="Verdana" panose="020B0604030504040204" pitchFamily="34" charset="0"/>
              </a:rPr>
              <a:t> column for i’s destination</a:t>
            </a:r>
          </a:p>
          <a:p>
            <a:pPr lvl="1" algn="l" eaLnBrk="0" hangingPunct="0"/>
            <a:endParaRPr lang="en-US" altLang="en-US" sz="700" i="1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 dirty="0">
                <a:latin typeface="Verdana" panose="020B0604030504040204" pitchFamily="34" charset="0"/>
              </a:rPr>
              <a:t>An entry is added to the table if no hazard is detected;</a:t>
            </a:r>
          </a:p>
          <a:p>
            <a:pPr algn="l" eaLnBrk="0" hangingPunct="0"/>
            <a:r>
              <a:rPr lang="en-US" altLang="en-US" i="1" dirty="0">
                <a:latin typeface="Verdana" panose="020B0604030504040204" pitchFamily="34" charset="0"/>
              </a:rPr>
              <a:t>An entry is removed from the table after Write-Back</a:t>
            </a:r>
          </a:p>
        </p:txBody>
      </p:sp>
      <p:sp>
        <p:nvSpPr>
          <p:cNvPr id="2095107" name="Rectangle 3">
            <a:extLst>
              <a:ext uri="{FF2B5EF4-FFF2-40B4-BE49-F238E27FC236}">
                <a16:creationId xmlns:a16="http://schemas.microsoft.com/office/drawing/2014/main" id="{2F15E7B2-7046-A96C-849C-C62DC1207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5" y="982663"/>
            <a:ext cx="4138613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5121" name="Group 17">
            <a:extLst>
              <a:ext uri="{FF2B5EF4-FFF2-40B4-BE49-F238E27FC236}">
                <a16:creationId xmlns:a16="http://schemas.microsoft.com/office/drawing/2014/main" id="{9DAB6195-14AD-C8AA-DDD8-5799CE0324ED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1273175"/>
            <a:ext cx="8493125" cy="2859088"/>
            <a:chOff x="225" y="802"/>
            <a:chExt cx="5350" cy="1801"/>
          </a:xfrm>
        </p:grpSpPr>
        <p:grpSp>
          <p:nvGrpSpPr>
            <p:cNvPr id="2095119" name="Group 15">
              <a:extLst>
                <a:ext uri="{FF2B5EF4-FFF2-40B4-BE49-F238E27FC236}">
                  <a16:creationId xmlns:a16="http://schemas.microsoft.com/office/drawing/2014/main" id="{8DDD9333-4769-27A3-3DDB-50AE92C97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" y="812"/>
              <a:ext cx="5028" cy="1786"/>
              <a:chOff x="235" y="812"/>
              <a:chExt cx="5028" cy="1786"/>
            </a:xfrm>
          </p:grpSpPr>
          <p:sp>
            <p:nvSpPr>
              <p:cNvPr id="2095112" name="Line 8">
                <a:extLst>
                  <a:ext uri="{FF2B5EF4-FFF2-40B4-BE49-F238E27FC236}">
                    <a16:creationId xmlns:a16="http://schemas.microsoft.com/office/drawing/2014/main" id="{4CD73E56-CD82-6D9C-6970-35B641020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" y="1035"/>
                <a:ext cx="50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95113" name="Line 9">
                <a:extLst>
                  <a:ext uri="{FF2B5EF4-FFF2-40B4-BE49-F238E27FC236}">
                    <a16:creationId xmlns:a16="http://schemas.microsoft.com/office/drawing/2014/main" id="{272DDAE5-3709-5A43-6232-D54AA6CA9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" y="1406"/>
                <a:ext cx="50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95114" name="Line 10">
                <a:extLst>
                  <a:ext uri="{FF2B5EF4-FFF2-40B4-BE49-F238E27FC236}">
                    <a16:creationId xmlns:a16="http://schemas.microsoft.com/office/drawing/2014/main" id="{47B8307E-D61A-32F5-868B-72CC15B07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" y="1999"/>
                <a:ext cx="50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95115" name="Line 11">
                <a:extLst>
                  <a:ext uri="{FF2B5EF4-FFF2-40B4-BE49-F238E27FC236}">
                    <a16:creationId xmlns:a16="http://schemas.microsoft.com/office/drawing/2014/main" id="{AA96D383-3753-56CA-1EEF-DF80B72F3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" y="2376"/>
                <a:ext cx="50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95116" name="Line 12">
                <a:extLst>
                  <a:ext uri="{FF2B5EF4-FFF2-40B4-BE49-F238E27FC236}">
                    <a16:creationId xmlns:a16="http://schemas.microsoft.com/office/drawing/2014/main" id="{216BA49D-D43E-2344-50F1-6891BA9C9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3" y="812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95117" name="Line 13">
                <a:extLst>
                  <a:ext uri="{FF2B5EF4-FFF2-40B4-BE49-F238E27FC236}">
                    <a16:creationId xmlns:a16="http://schemas.microsoft.com/office/drawing/2014/main" id="{90420409-BF4B-CFFD-ABEE-EF1C7D12A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8" y="828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095118" name="Rectangle 14">
              <a:extLst>
                <a:ext uri="{FF2B5EF4-FFF2-40B4-BE49-F238E27FC236}">
                  <a16:creationId xmlns:a16="http://schemas.microsoft.com/office/drawing/2014/main" id="{6C3A8CE6-B25A-1228-4869-6D5042ED6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" y="802"/>
              <a:ext cx="5350" cy="1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i="1" dirty="0">
                  <a:solidFill>
                    <a:srgbClr val="56127A"/>
                  </a:solidFill>
                  <a:latin typeface="+mn-lt"/>
                </a:rPr>
                <a:t>  Name	Busy		Op	</a:t>
              </a:r>
              <a:r>
                <a:rPr lang="en-US" altLang="en-US" i="1" dirty="0" err="1">
                  <a:solidFill>
                    <a:srgbClr val="56127A"/>
                  </a:solidFill>
                  <a:latin typeface="+mn-lt"/>
                </a:rPr>
                <a:t>Dest</a:t>
              </a:r>
              <a:r>
                <a:rPr lang="en-US" altLang="en-US" i="1" dirty="0">
                  <a:solidFill>
                    <a:srgbClr val="56127A"/>
                  </a:solidFill>
                  <a:latin typeface="+mn-lt"/>
                </a:rPr>
                <a:t>	Src1	Src2	</a:t>
              </a:r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	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Int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Mem	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Add1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Add2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Add3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Mult1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Mult2</a:t>
              </a:r>
            </a:p>
            <a:p>
              <a:pPr lvl="1" algn="l" eaLnBrk="0" hangingPunct="0"/>
              <a:r>
                <a:rPr lang="en-US" altLang="en-US" dirty="0">
                  <a:solidFill>
                    <a:srgbClr val="56127A"/>
                  </a:solidFill>
                  <a:latin typeface="+mn-lt"/>
                </a:rPr>
                <a:t>Div</a:t>
              </a:r>
              <a:endParaRPr lang="en-US" altLang="en-US" i="1" dirty="0">
                <a:solidFill>
                  <a:srgbClr val="56127A"/>
                </a:solidFill>
                <a:latin typeface="+mn-lt"/>
              </a:endParaRPr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8AAABA3-F4CF-1369-1C05-16FF87BE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CA80D2A-95F5-586C-ECEB-85D3BADB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DE2E50-2A26-8D30-D6F3-E7C2AAD9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20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034" name="Rectangle 2">
            <a:extLst>
              <a:ext uri="{FF2B5EF4-FFF2-40B4-BE49-F238E27FC236}">
                <a16:creationId xmlns:a16="http://schemas.microsoft.com/office/drawing/2014/main" id="{EFA0B4E1-11E0-BA1B-CF91-E707B52FA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altLang="en-US"/>
              <a:t>Simplifying the Data Structure </a:t>
            </a:r>
            <a:br>
              <a:rPr lang="en-US" altLang="en-US"/>
            </a:br>
            <a:r>
              <a:rPr lang="en-US" altLang="en-US"/>
              <a:t>Assuming In-order Issue</a:t>
            </a:r>
          </a:p>
        </p:txBody>
      </p:sp>
      <p:sp>
        <p:nvSpPr>
          <p:cNvPr id="2092035" name="Rectangle 3">
            <a:extLst>
              <a:ext uri="{FF2B5EF4-FFF2-40B4-BE49-F238E27FC236}">
                <a16:creationId xmlns:a16="http://schemas.microsoft.com/office/drawing/2014/main" id="{E10A1497-328D-7AE0-670B-E7139FF73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1397000"/>
            <a:ext cx="8324850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Suppose the instruction is not dispatched by the Issue stage if a RAW hazard exists or the required FU is busy, and that operands are latched by functional unit on issue:</a:t>
            </a:r>
          </a:p>
          <a:p>
            <a:pPr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1" algn="l" eaLnBrk="0" hangingPunct="0"/>
            <a:r>
              <a:rPr lang="en-US" altLang="en-US" sz="2400">
                <a:latin typeface="Verdana" panose="020B0604030504040204" pitchFamily="34" charset="0"/>
              </a:rPr>
              <a:t>Can the dispatched instruction cause a</a:t>
            </a:r>
          </a:p>
          <a:p>
            <a:pPr lvl="2" algn="l" eaLnBrk="0" hangingPunct="0"/>
            <a:r>
              <a:rPr lang="en-US" altLang="en-US" sz="2400">
                <a:latin typeface="Verdana" panose="020B0604030504040204" pitchFamily="34" charset="0"/>
              </a:rPr>
              <a:t>WAR hazard ?</a:t>
            </a:r>
            <a:endParaRPr lang="en-US" altLang="en-US" sz="2400">
              <a:solidFill>
                <a:schemeClr val="hlink"/>
              </a:solidFill>
              <a:latin typeface="Verdana" panose="020B0604030504040204" pitchFamily="34" charset="0"/>
            </a:endParaRPr>
          </a:p>
          <a:p>
            <a:pPr lvl="2"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sz="2400">
                <a:latin typeface="Verdana" panose="020B0604030504040204" pitchFamily="34" charset="0"/>
              </a:rPr>
              <a:t>WAW hazard ?</a:t>
            </a:r>
          </a:p>
        </p:txBody>
      </p:sp>
      <p:sp>
        <p:nvSpPr>
          <p:cNvPr id="2092036" name="Text Box 4">
            <a:extLst>
              <a:ext uri="{FF2B5EF4-FFF2-40B4-BE49-F238E27FC236}">
                <a16:creationId xmlns:a16="http://schemas.microsoft.com/office/drawing/2014/main" id="{C757123C-8C6E-AD8C-528C-6E1196CE7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3949700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NO: Operands read at issue</a:t>
            </a:r>
          </a:p>
        </p:txBody>
      </p:sp>
      <p:sp>
        <p:nvSpPr>
          <p:cNvPr id="2092037" name="Text Box 5">
            <a:extLst>
              <a:ext uri="{FF2B5EF4-FFF2-40B4-BE49-F238E27FC236}">
                <a16:creationId xmlns:a16="http://schemas.microsoft.com/office/drawing/2014/main" id="{FD3E0575-7615-18B4-51E0-4E4D97E4F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5" y="4800600"/>
            <a:ext cx="3978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YES: Out-of-order completion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2F8B50A-55F9-8F6F-51CD-6118264E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C67A763-C533-C3A5-584B-7E4F017F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ECD30B-AFB7-1E07-0426-3C9141C0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21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2036" grpId="0" autoUpdateAnimBg="0"/>
      <p:bldP spid="209203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02" name="Rectangle 2">
            <a:extLst>
              <a:ext uri="{FF2B5EF4-FFF2-40B4-BE49-F238E27FC236}">
                <a16:creationId xmlns:a16="http://schemas.microsoft.com/office/drawing/2014/main" id="{54200FF2-510A-1DA2-7096-CA9168851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Simplifying the Data Structure ...</a:t>
            </a:r>
            <a:endParaRPr lang="en-US" altLang="en-US" sz="2400" i="1"/>
          </a:p>
        </p:txBody>
      </p:sp>
      <p:sp>
        <p:nvSpPr>
          <p:cNvPr id="2099203" name="Rectangle 3">
            <a:extLst>
              <a:ext uri="{FF2B5EF4-FFF2-40B4-BE49-F238E27FC236}">
                <a16:creationId xmlns:a16="http://schemas.microsoft.com/office/drawing/2014/main" id="{44AC5FF8-D5F0-029A-C5B0-E8B944A8F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98575"/>
            <a:ext cx="8274050" cy="505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No WAR hazard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	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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no need to keep </a:t>
            </a:r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src1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and </a:t>
            </a:r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src2</a:t>
            </a:r>
            <a:endParaRPr lang="en-US" altLang="en-US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The Issue stage does not dispatch an instruction in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case of a WAW hazard</a:t>
            </a:r>
            <a:endParaRPr lang="en-US" altLang="en-US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dirty="0">
                <a:latin typeface="Verdana" panose="020B0604030504040204" pitchFamily="34" charset="0"/>
              </a:rPr>
              <a:t>	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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a register name can occur at most once in the</a:t>
            </a:r>
          </a:p>
          <a:p>
            <a:pPr lvl="1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       </a:t>
            </a:r>
            <a:r>
              <a:rPr lang="en-US" altLang="en-US" i="1" dirty="0" err="1">
                <a:solidFill>
                  <a:srgbClr val="56127A"/>
                </a:solidFill>
                <a:latin typeface="Verdana" panose="020B0604030504040204" pitchFamily="34" charset="0"/>
              </a:rPr>
              <a:t>dest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column</a:t>
            </a:r>
          </a:p>
          <a:p>
            <a:pPr lvl="1" algn="l" eaLnBrk="0" hangingPunct="0"/>
            <a:endParaRPr lang="en-US" altLang="en-US" sz="18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WP[reg#] : a bit-vector to record the registers for which writes are pending</a:t>
            </a:r>
          </a:p>
          <a:p>
            <a:pPr algn="l" eaLnBrk="0" hangingPunct="0"/>
            <a:r>
              <a:rPr lang="en-US" altLang="en-US" sz="2400" i="1" dirty="0">
                <a:latin typeface="Verdana" panose="020B0604030504040204" pitchFamily="34" charset="0"/>
              </a:rPr>
              <a:t>	</a:t>
            </a:r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These bits are set to true by the Issue stage and </a:t>
            </a:r>
          </a:p>
          <a:p>
            <a:pPr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          set to false by the WB stage</a:t>
            </a:r>
            <a:endParaRPr lang="en-US" altLang="en-US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	</a:t>
            </a:r>
            <a:r>
              <a:rPr lang="en-US" altLang="en-US" dirty="0">
                <a:solidFill>
                  <a:srgbClr val="56127A"/>
                </a:solidFill>
                <a:latin typeface="Symbol" panose="05050102010706020507" pitchFamily="18" charset="2"/>
              </a:rPr>
              <a:t> 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Each pipeline stage in the FU's must carry the </a:t>
            </a:r>
          </a:p>
          <a:p>
            <a:pPr lvl="1"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         </a:t>
            </a:r>
            <a:r>
              <a:rPr lang="en-US" altLang="en-US" i="1" dirty="0" err="1">
                <a:solidFill>
                  <a:srgbClr val="56127A"/>
                </a:solidFill>
                <a:latin typeface="Verdana" panose="020B0604030504040204" pitchFamily="34" charset="0"/>
              </a:rPr>
              <a:t>dest</a:t>
            </a:r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field and a flag to indicate if it is valid</a:t>
            </a:r>
          </a:p>
          <a:p>
            <a:pPr lvl="1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     			“</a:t>
            </a:r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the (we, </a:t>
            </a:r>
            <a:r>
              <a:rPr lang="en-US" altLang="en-US" i="1" dirty="0" err="1">
                <a:solidFill>
                  <a:srgbClr val="56127A"/>
                </a:solidFill>
                <a:latin typeface="Verdana" panose="020B0604030504040204" pitchFamily="34" charset="0"/>
              </a:rPr>
              <a:t>ws</a:t>
            </a:r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) pair”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483F169-5AAE-B610-3289-7484C0E8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890F499-0AE1-558E-70C7-BBC987B6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520B99-5053-F814-17EE-12D5C8D9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22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058" name="Rectangle 2">
            <a:extLst>
              <a:ext uri="{FF2B5EF4-FFF2-40B4-BE49-F238E27FC236}">
                <a16:creationId xmlns:a16="http://schemas.microsoft.com/office/drawing/2014/main" id="{54E3DD45-461D-A9C5-E026-F249AB6B7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Scoreboard for In-order Issues</a:t>
            </a:r>
          </a:p>
        </p:txBody>
      </p:sp>
      <p:sp>
        <p:nvSpPr>
          <p:cNvPr id="2093059" name="Rectangle 3">
            <a:extLst>
              <a:ext uri="{FF2B5EF4-FFF2-40B4-BE49-F238E27FC236}">
                <a16:creationId xmlns:a16="http://schemas.microsoft.com/office/drawing/2014/main" id="{722DDD1A-4CD6-9565-B713-FE278DCAD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4" y="1322388"/>
            <a:ext cx="8245475" cy="499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Busy[FU#] : </a:t>
            </a:r>
            <a:r>
              <a:rPr lang="en-US" altLang="en-US" dirty="0">
                <a:latin typeface="Verdana" panose="020B0604030504040204" pitchFamily="34" charset="0"/>
              </a:rPr>
              <a:t>a bit-vector to indicate FU’s availability.</a:t>
            </a:r>
          </a:p>
          <a:p>
            <a:pPr lvl="4" algn="l" eaLnBrk="0" hangingPunct="0"/>
            <a:r>
              <a:rPr lang="en-US" altLang="en-US" dirty="0">
                <a:latin typeface="Verdana" panose="020B0604030504040204" pitchFamily="34" charset="0"/>
              </a:rPr>
              <a:t>  (FU = Int, Add, Mult, Div)</a:t>
            </a:r>
          </a:p>
          <a:p>
            <a:pPr lvl="1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These bits are hardwired to FU's.</a:t>
            </a:r>
          </a:p>
          <a:p>
            <a:pPr lvl="4" algn="l" eaLnBrk="0" hangingPunct="0"/>
            <a:endParaRPr lang="en-US" altLang="en-US" sz="14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WP[reg#] : </a:t>
            </a:r>
            <a:r>
              <a:rPr lang="en-US" altLang="en-US" dirty="0">
                <a:latin typeface="Verdana" panose="020B0604030504040204" pitchFamily="34" charset="0"/>
              </a:rPr>
              <a:t>a bit-vector to record the registers for which		writes are pending. </a:t>
            </a:r>
          </a:p>
          <a:p>
            <a:pPr lvl="1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These bits are set to true by the Issue stage and set to false by the WB stage</a:t>
            </a:r>
          </a:p>
          <a:p>
            <a:pPr algn="l" eaLnBrk="0" hangingPunct="0"/>
            <a:endParaRPr lang="en-US" altLang="en-US" sz="1600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Issue checks the instruction (opcode </a:t>
            </a:r>
            <a:r>
              <a:rPr lang="en-US" altLang="en-US" sz="2400" dirty="0" err="1">
                <a:latin typeface="Verdana" panose="020B0604030504040204" pitchFamily="34" charset="0"/>
              </a:rPr>
              <a:t>dest</a:t>
            </a:r>
            <a:r>
              <a:rPr lang="en-US" altLang="en-US" sz="2400" dirty="0">
                <a:latin typeface="Verdana" panose="020B0604030504040204" pitchFamily="34" charset="0"/>
              </a:rPr>
              <a:t> src1 src2) 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against the scoreboard (Busy &amp; WP) to dispatch</a:t>
            </a:r>
          </a:p>
          <a:p>
            <a:pPr algn="l" eaLnBrk="0" hangingPunct="0"/>
            <a:endParaRPr lang="en-US" altLang="en-US" sz="1200" i="1" dirty="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FU available? 	</a:t>
            </a: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RAW?		</a:t>
            </a: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WAR?</a:t>
            </a:r>
            <a:endParaRPr lang="en-US" altLang="en-US" i="1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WAW?</a:t>
            </a:r>
            <a:r>
              <a:rPr lang="en-US" altLang="en-US" sz="2400" dirty="0">
                <a:latin typeface="Verdana" panose="020B0604030504040204" pitchFamily="34" charset="0"/>
              </a:rPr>
              <a:t>		</a:t>
            </a:r>
          </a:p>
        </p:txBody>
      </p:sp>
      <p:sp>
        <p:nvSpPr>
          <p:cNvPr id="2093060" name="Text Box 4">
            <a:extLst>
              <a:ext uri="{FF2B5EF4-FFF2-40B4-BE49-F238E27FC236}">
                <a16:creationId xmlns:a16="http://schemas.microsoft.com/office/drawing/2014/main" id="{E6838FBE-4EF8-6C72-FB24-651D25AE1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975225"/>
            <a:ext cx="29606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Busy[FU#]</a:t>
            </a:r>
          </a:p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WP[src1] or WP[src2]</a:t>
            </a:r>
          </a:p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cannot arise</a:t>
            </a:r>
          </a:p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WP[dest]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20EFAD6-1121-3C22-3557-50C295A5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A2ACA04-11CB-EE07-90F3-046ED3D6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385CE2-1766-FB28-2FE2-70C013BF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23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306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082" name="Rectangle 2">
            <a:extLst>
              <a:ext uri="{FF2B5EF4-FFF2-40B4-BE49-F238E27FC236}">
                <a16:creationId xmlns:a16="http://schemas.microsoft.com/office/drawing/2014/main" id="{8944150E-AFDC-0663-D918-85F6A6C0E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425" y="55133"/>
            <a:ext cx="7648575" cy="8318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lnSpc>
                <a:spcPct val="85000"/>
              </a:lnSpc>
            </a:pPr>
            <a:r>
              <a:rPr lang="en-US" altLang="en-US" dirty="0"/>
              <a:t>Scoreboard Dynamics</a:t>
            </a:r>
          </a:p>
        </p:txBody>
      </p:sp>
      <p:sp>
        <p:nvSpPr>
          <p:cNvPr id="2094083" name="Rectangle 3">
            <a:extLst>
              <a:ext uri="{FF2B5EF4-FFF2-40B4-BE49-F238E27FC236}">
                <a16:creationId xmlns:a16="http://schemas.microsoft.com/office/drawing/2014/main" id="{496E4145-E322-800C-9267-C086DCCD5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0488"/>
            <a:ext cx="49530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FF0000"/>
                </a:solidFill>
                <a:latin typeface="Verdana" panose="020B0604030504040204" pitchFamily="34" charset="0"/>
              </a:rPr>
              <a:t>1 	 </a:t>
            </a:r>
            <a:r>
              <a:rPr lang="en-US" altLang="en-US" sz="1600">
                <a:solidFill>
                  <a:srgbClr val="FF0000"/>
                </a:solidFill>
                <a:latin typeface="Verdana" panose="020B0604030504040204" pitchFamily="34" charset="0"/>
              </a:rPr>
              <a:t>DIVD		f6, 	f6,	f4</a:t>
            </a:r>
          </a:p>
          <a:p>
            <a:pPr algn="l" eaLnBrk="0" hangingPunct="0"/>
            <a:r>
              <a:rPr lang="en-US" altLang="en-US" sz="1600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 sz="1600">
                <a:solidFill>
                  <a:srgbClr val="56127A"/>
                </a:solidFill>
                <a:latin typeface="Verdana" panose="020B0604030504040204" pitchFamily="34" charset="0"/>
              </a:rPr>
              <a:t>	 LD		f2,	45(r3) </a:t>
            </a:r>
          </a:p>
          <a:p>
            <a:pPr algn="l" eaLnBrk="0" hangingPunct="0"/>
            <a:r>
              <a:rPr lang="en-US" altLang="en-US" sz="1600" i="1">
                <a:solidFill>
                  <a:srgbClr val="006600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006600"/>
                </a:solidFill>
                <a:latin typeface="Verdana" panose="020B0604030504040204" pitchFamily="34" charset="0"/>
              </a:rPr>
              <a:t>3</a:t>
            </a:r>
            <a:r>
              <a:rPr lang="en-US" altLang="en-US" sz="1600">
                <a:solidFill>
                  <a:srgbClr val="006600"/>
                </a:solidFill>
                <a:latin typeface="Verdana" panose="020B0604030504040204" pitchFamily="34" charset="0"/>
              </a:rPr>
              <a:t>	 MULTD		f0,	f2,	f4</a:t>
            </a:r>
          </a:p>
          <a:p>
            <a:pPr algn="l" eaLnBrk="0" hangingPunct="0"/>
            <a:r>
              <a:rPr lang="en-US" altLang="en-US" sz="1600" i="1">
                <a:solidFill>
                  <a:srgbClr val="16E8E3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16E8E3"/>
                </a:solidFill>
                <a:latin typeface="Verdana" panose="020B0604030504040204" pitchFamily="34" charset="0"/>
              </a:rPr>
              <a:t>4</a:t>
            </a:r>
            <a:r>
              <a:rPr lang="en-US" altLang="en-US" sz="1600">
                <a:solidFill>
                  <a:srgbClr val="16E8E3"/>
                </a:solidFill>
                <a:latin typeface="Verdana" panose="020B0604030504040204" pitchFamily="34" charset="0"/>
              </a:rPr>
              <a:t>	 DIVD		f8,	f6,	f2</a:t>
            </a:r>
          </a:p>
          <a:p>
            <a:pPr algn="l" eaLnBrk="0" hangingPunct="0"/>
            <a:r>
              <a:rPr lang="en-US" altLang="en-US" sz="1600" i="1">
                <a:solidFill>
                  <a:srgbClr val="660033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660033"/>
                </a:solidFill>
                <a:latin typeface="Verdana" panose="020B0604030504040204" pitchFamily="34" charset="0"/>
              </a:rPr>
              <a:t>5</a:t>
            </a:r>
            <a:r>
              <a:rPr lang="en-US" altLang="en-US" sz="1600">
                <a:solidFill>
                  <a:srgbClr val="660033"/>
                </a:solidFill>
                <a:latin typeface="Verdana" panose="020B0604030504040204" pitchFamily="34" charset="0"/>
              </a:rPr>
              <a:t>	 SUBD		f10,	f0,	f6</a:t>
            </a:r>
          </a:p>
          <a:p>
            <a:pPr algn="l" eaLnBrk="0" hangingPunct="0"/>
            <a:r>
              <a:rPr lang="en-US" altLang="en-US" sz="1600" i="1">
                <a:solidFill>
                  <a:srgbClr val="3118E6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3118E6"/>
                </a:solidFill>
                <a:latin typeface="Verdana" panose="020B0604030504040204" pitchFamily="34" charset="0"/>
              </a:rPr>
              <a:t>6</a:t>
            </a:r>
            <a:r>
              <a:rPr lang="en-US" altLang="en-US" sz="1600">
                <a:solidFill>
                  <a:srgbClr val="3118E6"/>
                </a:solidFill>
                <a:latin typeface="Verdana" panose="020B0604030504040204" pitchFamily="34" charset="0"/>
              </a:rPr>
              <a:t>	 ADDD		f6,	f8,	f2</a:t>
            </a:r>
          </a:p>
        </p:txBody>
      </p:sp>
      <p:sp>
        <p:nvSpPr>
          <p:cNvPr id="2094084" name="Rectangle 4">
            <a:extLst>
              <a:ext uri="{FF2B5EF4-FFF2-40B4-BE49-F238E27FC236}">
                <a16:creationId xmlns:a16="http://schemas.microsoft.com/office/drawing/2014/main" id="{3E4CDA3B-656D-5C9A-8497-C3797F295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706740"/>
            <a:ext cx="7848600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16E8E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1" algn="l" eaLnBrk="0" hangingPunct="0"/>
            <a:r>
              <a:rPr lang="en-US" altLang="en-US">
                <a:latin typeface="Verdana" panose="020B0604030504040204" pitchFamily="34" charset="0"/>
              </a:rPr>
              <a:t>Functional Unit Status	  	   Registers Reserved </a:t>
            </a:r>
          </a:p>
          <a:p>
            <a:pPr lvl="1" algn="l" eaLnBrk="0" hangingPunct="0"/>
            <a:r>
              <a:rPr lang="en-US" altLang="en-US" sz="1800">
                <a:latin typeface="Verdana" panose="020B0604030504040204" pitchFamily="34" charset="0"/>
              </a:rPr>
              <a:t>Int(1) Add(1)  Mult(3)   Div(4)    WB	</a:t>
            </a:r>
            <a:r>
              <a:rPr lang="en-US" altLang="en-US">
                <a:latin typeface="Verdana" panose="020B0604030504040204" pitchFamily="34" charset="0"/>
              </a:rPr>
              <a:t>for Writes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grpSp>
        <p:nvGrpSpPr>
          <p:cNvPr id="2094112" name="Group 32">
            <a:extLst>
              <a:ext uri="{FF2B5EF4-FFF2-40B4-BE49-F238E27FC236}">
                <a16:creationId xmlns:a16="http://schemas.microsoft.com/office/drawing/2014/main" id="{65ED5284-277B-3A9D-D2F3-A9DE067DDFEB}"/>
              </a:ext>
            </a:extLst>
          </p:cNvPr>
          <p:cNvGrpSpPr>
            <a:grpSpLocks/>
          </p:cNvGrpSpPr>
          <p:nvPr/>
        </p:nvGrpSpPr>
        <p:grpSpPr bwMode="auto">
          <a:xfrm>
            <a:off x="615950" y="782940"/>
            <a:ext cx="7778750" cy="4343400"/>
            <a:chOff x="388" y="480"/>
            <a:chExt cx="4900" cy="2736"/>
          </a:xfrm>
        </p:grpSpPr>
        <p:sp>
          <p:nvSpPr>
            <p:cNvPr id="2094086" name="Line 6">
              <a:extLst>
                <a:ext uri="{FF2B5EF4-FFF2-40B4-BE49-F238E27FC236}">
                  <a16:creationId xmlns:a16="http://schemas.microsoft.com/office/drawing/2014/main" id="{64572CA5-3809-6153-4FC3-61D56E613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" y="917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87" name="Line 7">
              <a:extLst>
                <a:ext uri="{FF2B5EF4-FFF2-40B4-BE49-F238E27FC236}">
                  <a16:creationId xmlns:a16="http://schemas.microsoft.com/office/drawing/2014/main" id="{736C0290-9FDA-610F-8ACB-C1DCDA913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" y="1114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88" name="Line 8">
              <a:extLst>
                <a:ext uri="{FF2B5EF4-FFF2-40B4-BE49-F238E27FC236}">
                  <a16:creationId xmlns:a16="http://schemas.microsoft.com/office/drawing/2014/main" id="{573E74BA-A8A0-9B5E-918C-9D43D5637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" y="1308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89" name="Line 9">
              <a:extLst>
                <a:ext uri="{FF2B5EF4-FFF2-40B4-BE49-F238E27FC236}">
                  <a16:creationId xmlns:a16="http://schemas.microsoft.com/office/drawing/2014/main" id="{576749EB-126E-462E-4B61-889EA1E03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" y="1511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90" name="Line 10">
              <a:extLst>
                <a:ext uri="{FF2B5EF4-FFF2-40B4-BE49-F238E27FC236}">
                  <a16:creationId xmlns:a16="http://schemas.microsoft.com/office/drawing/2014/main" id="{4566C688-943B-BA68-9EB2-288A717CE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" y="1695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91" name="Line 11">
              <a:extLst>
                <a:ext uri="{FF2B5EF4-FFF2-40B4-BE49-F238E27FC236}">
                  <a16:creationId xmlns:a16="http://schemas.microsoft.com/office/drawing/2014/main" id="{6D76D690-3B07-BE5C-7AB7-52E878489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" y="1890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92" name="Line 12">
              <a:extLst>
                <a:ext uri="{FF2B5EF4-FFF2-40B4-BE49-F238E27FC236}">
                  <a16:creationId xmlns:a16="http://schemas.microsoft.com/office/drawing/2014/main" id="{294A9A9C-AEAF-A804-76A2-61C9DEC92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2083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93" name="Line 13">
              <a:extLst>
                <a:ext uri="{FF2B5EF4-FFF2-40B4-BE49-F238E27FC236}">
                  <a16:creationId xmlns:a16="http://schemas.microsoft.com/office/drawing/2014/main" id="{90237F79-B6B1-A4CC-803A-5663F33FB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" y="2277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094" name="Line 14">
              <a:extLst>
                <a:ext uri="{FF2B5EF4-FFF2-40B4-BE49-F238E27FC236}">
                  <a16:creationId xmlns:a16="http://schemas.microsoft.com/office/drawing/2014/main" id="{AFDFAC5E-B047-AC06-F839-EE2525973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" y="2462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94095" name="Group 15">
              <a:extLst>
                <a:ext uri="{FF2B5EF4-FFF2-40B4-BE49-F238E27FC236}">
                  <a16:creationId xmlns:a16="http://schemas.microsoft.com/office/drawing/2014/main" id="{96B947C6-30D0-256E-E7C0-4AF3B3B78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912"/>
              <a:ext cx="960" cy="2304"/>
              <a:chOff x="2016" y="912"/>
              <a:chExt cx="960" cy="2304"/>
            </a:xfrm>
          </p:grpSpPr>
          <p:sp>
            <p:nvSpPr>
              <p:cNvPr id="2094096" name="Line 16">
                <a:extLst>
                  <a:ext uri="{FF2B5EF4-FFF2-40B4-BE49-F238E27FC236}">
                    <a16:creationId xmlns:a16="http://schemas.microsoft.com/office/drawing/2014/main" id="{9CC37E62-472E-61F1-92AC-7FEB313E3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912"/>
                <a:ext cx="0" cy="23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4097" name="Line 17">
                <a:extLst>
                  <a:ext uri="{FF2B5EF4-FFF2-40B4-BE49-F238E27FC236}">
                    <a16:creationId xmlns:a16="http://schemas.microsoft.com/office/drawing/2014/main" id="{254520E3-84F4-E92B-DFBD-720AF0DC0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912"/>
                <a:ext cx="0" cy="23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4098" name="Line 18">
                <a:extLst>
                  <a:ext uri="{FF2B5EF4-FFF2-40B4-BE49-F238E27FC236}">
                    <a16:creationId xmlns:a16="http://schemas.microsoft.com/office/drawing/2014/main" id="{77B0BE65-C58D-F6EE-58EE-E4490C1CD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912"/>
                <a:ext cx="0" cy="23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4099" name="Line 19">
                <a:extLst>
                  <a:ext uri="{FF2B5EF4-FFF2-40B4-BE49-F238E27FC236}">
                    <a16:creationId xmlns:a16="http://schemas.microsoft.com/office/drawing/2014/main" id="{324984B4-B22A-006E-E49C-2E03E11BA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912"/>
                <a:ext cx="0" cy="23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4100" name="Line 20">
                <a:extLst>
                  <a:ext uri="{FF2B5EF4-FFF2-40B4-BE49-F238E27FC236}">
                    <a16:creationId xmlns:a16="http://schemas.microsoft.com/office/drawing/2014/main" id="{CB70E2C3-579D-3E85-F296-47B990424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912"/>
                <a:ext cx="0" cy="23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94101" name="Line 21">
              <a:extLst>
                <a:ext uri="{FF2B5EF4-FFF2-40B4-BE49-F238E27FC236}">
                  <a16:creationId xmlns:a16="http://schemas.microsoft.com/office/drawing/2014/main" id="{8ED3F5A6-1BDD-5A7A-8951-BE7ED576D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" y="2662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2" name="Line 22">
              <a:extLst>
                <a:ext uri="{FF2B5EF4-FFF2-40B4-BE49-F238E27FC236}">
                  <a16:creationId xmlns:a16="http://schemas.microsoft.com/office/drawing/2014/main" id="{C09A2D22-25E2-C247-91B8-B546AF63A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" y="2838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3" name="Line 23">
              <a:extLst>
                <a:ext uri="{FF2B5EF4-FFF2-40B4-BE49-F238E27FC236}">
                  <a16:creationId xmlns:a16="http://schemas.microsoft.com/office/drawing/2014/main" id="{83EA79F5-E135-275E-E0C7-34DF48FCF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480"/>
              <a:ext cx="0" cy="27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4" name="Line 24">
              <a:extLst>
                <a:ext uri="{FF2B5EF4-FFF2-40B4-BE49-F238E27FC236}">
                  <a16:creationId xmlns:a16="http://schemas.microsoft.com/office/drawing/2014/main" id="{7D4E348E-42DC-CEC1-1BCE-3FF079603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" y="480"/>
              <a:ext cx="0" cy="2736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5" name="Line 25">
              <a:extLst>
                <a:ext uri="{FF2B5EF4-FFF2-40B4-BE49-F238E27FC236}">
                  <a16:creationId xmlns:a16="http://schemas.microsoft.com/office/drawing/2014/main" id="{ECDA3272-A1B8-49BD-FBD7-F98092BAC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768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6" name="Line 26">
              <a:extLst>
                <a:ext uri="{FF2B5EF4-FFF2-40B4-BE49-F238E27FC236}">
                  <a16:creationId xmlns:a16="http://schemas.microsoft.com/office/drawing/2014/main" id="{6D6001B6-56ED-ADB5-D0E1-5BD79A565A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68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7" name="Line 27">
              <a:extLst>
                <a:ext uri="{FF2B5EF4-FFF2-40B4-BE49-F238E27FC236}">
                  <a16:creationId xmlns:a16="http://schemas.microsoft.com/office/drawing/2014/main" id="{A4E01A6F-CA7A-8F97-CD54-306CD8D5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768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8" name="Line 28">
              <a:extLst>
                <a:ext uri="{FF2B5EF4-FFF2-40B4-BE49-F238E27FC236}">
                  <a16:creationId xmlns:a16="http://schemas.microsoft.com/office/drawing/2014/main" id="{1328C313-5A6C-CE83-0549-84BF3079F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768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09" name="Line 29">
              <a:extLst>
                <a:ext uri="{FF2B5EF4-FFF2-40B4-BE49-F238E27FC236}">
                  <a16:creationId xmlns:a16="http://schemas.microsoft.com/office/drawing/2014/main" id="{2A461CF4-6DD4-73D5-7011-62478FF38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" y="3022"/>
              <a:ext cx="48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4110" name="Line 30">
              <a:extLst>
                <a:ext uri="{FF2B5EF4-FFF2-40B4-BE49-F238E27FC236}">
                  <a16:creationId xmlns:a16="http://schemas.microsoft.com/office/drawing/2014/main" id="{B1744637-1E97-2E46-CA9B-CC4984DEE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3216"/>
              <a:ext cx="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94111" name="Rectangle 31">
            <a:extLst>
              <a:ext uri="{FF2B5EF4-FFF2-40B4-BE49-F238E27FC236}">
                <a16:creationId xmlns:a16="http://schemas.microsoft.com/office/drawing/2014/main" id="{225387E1-5EE0-1C1F-8F30-1B56C3390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1433815"/>
            <a:ext cx="7848600" cy="370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16E8E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t0  </a:t>
            </a:r>
            <a:r>
              <a:rPr lang="en-US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 			    f6		  	f6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t1  </a:t>
            </a:r>
            <a:r>
              <a:rPr lang="en-US" altLang="en-US" sz="1600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   f2</a:t>
            </a:r>
            <a:r>
              <a:rPr lang="en-US" altLang="en-US" sz="1800">
                <a:latin typeface="Verdana" panose="020B0604030504040204" pitchFamily="34" charset="0"/>
              </a:rPr>
              <a:t>		       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		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f2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t2		    	           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      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f2</a:t>
            </a:r>
            <a:r>
              <a:rPr lang="en-US" altLang="en-US" sz="1800">
                <a:latin typeface="Verdana" panose="020B0604030504040204" pitchFamily="34" charset="0"/>
              </a:rPr>
              <a:t>   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f2		</a:t>
            </a:r>
            <a:r>
              <a:rPr lang="en-US" altLang="en-US" sz="1600" i="1" u="sng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endParaRPr lang="en-US" altLang="en-US" sz="180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t3  </a:t>
            </a:r>
            <a:r>
              <a:rPr lang="en-US" altLang="en-US" sz="1600" i="1">
                <a:solidFill>
                  <a:srgbClr val="006600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006600"/>
                </a:solidFill>
                <a:latin typeface="Verdana" panose="020B0604030504040204" pitchFamily="34" charset="0"/>
              </a:rPr>
              <a:t>3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		    f0</a:t>
            </a:r>
            <a:r>
              <a:rPr lang="en-US" altLang="en-US" sz="1800">
                <a:latin typeface="Verdana" panose="020B0604030504040204" pitchFamily="34" charset="0"/>
              </a:rPr>
              <a:t>		   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 f6</a:t>
            </a:r>
            <a:r>
              <a:rPr lang="en-US" altLang="en-US" sz="1800">
                <a:latin typeface="Verdana" panose="020B0604030504040204" pitchFamily="34" charset="0"/>
              </a:rPr>
              <a:t>	   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chemeClr val="accent2"/>
                </a:solidFill>
                <a:latin typeface="Verdana" panose="020B0604030504040204" pitchFamily="34" charset="0"/>
              </a:rPr>
              <a:t>f0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t4		        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f0</a:t>
            </a:r>
            <a:r>
              <a:rPr lang="en-US" altLang="en-US" sz="1800">
                <a:latin typeface="Verdana" panose="020B0604030504040204" pitchFamily="34" charset="0"/>
              </a:rPr>
              <a:t>   	         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   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chemeClr val="accent2"/>
                </a:solidFill>
                <a:latin typeface="Verdana" panose="020B0604030504040204" pitchFamily="34" charset="0"/>
              </a:rPr>
              <a:t>f0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600" i="1" u="sng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t5  </a:t>
            </a:r>
            <a:r>
              <a:rPr lang="en-US" altLang="en-US" sz="1600" i="1">
                <a:solidFill>
                  <a:srgbClr val="16E8E3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16E8E3"/>
                </a:solidFill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		           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f0</a:t>
            </a:r>
            <a:r>
              <a:rPr lang="en-US" altLang="en-US" sz="1800">
                <a:latin typeface="Verdana" panose="020B0604030504040204" pitchFamily="34" charset="0"/>
              </a:rPr>
              <a:t>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		   	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f0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t6			      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	         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f0 </a:t>
            </a:r>
            <a:r>
              <a:rPr lang="en-US" altLang="en-US" sz="1800">
                <a:latin typeface="Verdana" panose="020B0604030504040204" pitchFamily="34" charset="0"/>
              </a:rPr>
              <a:t>  	</a:t>
            </a:r>
            <a:r>
              <a:rPr lang="en-US" altLang="en-US" sz="1800">
                <a:solidFill>
                  <a:srgbClr val="006600"/>
                </a:solidFill>
                <a:latin typeface="Verdana" panose="020B0604030504040204" pitchFamily="34" charset="0"/>
              </a:rPr>
              <a:t>f0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600" i="1" u="sng">
                <a:solidFill>
                  <a:schemeClr val="accent2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chemeClr val="accent2"/>
                </a:solidFill>
                <a:latin typeface="Verdana" panose="020B0604030504040204" pitchFamily="34" charset="0"/>
              </a:rPr>
              <a:t>3</a:t>
            </a: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t7  </a:t>
            </a:r>
            <a:r>
              <a:rPr lang="en-US" altLang="en-US" sz="1600" i="1">
                <a:solidFill>
                  <a:srgbClr val="660033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660033"/>
                </a:solidFill>
                <a:latin typeface="Verdana" panose="020B0604030504040204" pitchFamily="34" charset="0"/>
              </a:rPr>
              <a:t>5</a:t>
            </a:r>
            <a:r>
              <a:rPr lang="en-US" altLang="en-US" sz="1800">
                <a:solidFill>
                  <a:srgbClr val="660033"/>
                </a:solidFill>
                <a:latin typeface="Verdana" panose="020B0604030504040204" pitchFamily="34" charset="0"/>
              </a:rPr>
              <a:t>	       f10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	   	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660033"/>
                </a:solidFill>
                <a:latin typeface="Verdana" panose="020B0604030504040204" pitchFamily="34" charset="0"/>
              </a:rPr>
              <a:t>f10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t8				   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 </a:t>
            </a:r>
            <a:r>
              <a:rPr lang="en-US" altLang="en-US" sz="1800">
                <a:solidFill>
                  <a:srgbClr val="660033"/>
                </a:solidFill>
                <a:latin typeface="Verdana" panose="020B0604030504040204" pitchFamily="34" charset="0"/>
              </a:rPr>
              <a:t>f10</a:t>
            </a:r>
            <a:r>
              <a:rPr lang="en-US" altLang="en-US" sz="1800">
                <a:latin typeface="Verdana" panose="020B0604030504040204" pitchFamily="34" charset="0"/>
              </a:rPr>
              <a:t>   	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, </a:t>
            </a:r>
            <a:r>
              <a:rPr lang="en-US" altLang="en-US" sz="1800">
                <a:solidFill>
                  <a:srgbClr val="9EAD51"/>
                </a:solidFill>
                <a:latin typeface="Verdana" panose="020B0604030504040204" pitchFamily="34" charset="0"/>
              </a:rPr>
              <a:t>f10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600" i="1" u="sng">
                <a:solidFill>
                  <a:srgbClr val="9EAD51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9EAD51"/>
                </a:solidFill>
                <a:latin typeface="Verdana" panose="020B0604030504040204" pitchFamily="34" charset="0"/>
              </a:rPr>
              <a:t>5</a:t>
            </a:r>
            <a:endParaRPr lang="en-US" altLang="en-US" sz="1800">
              <a:solidFill>
                <a:srgbClr val="9EAD51"/>
              </a:solidFill>
              <a:latin typeface="Verdana" panose="020B0604030504040204" pitchFamily="34" charset="0"/>
            </a:endParaRP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 t9				         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   	</a:t>
            </a:r>
            <a:r>
              <a:rPr lang="en-US" altLang="en-US" sz="1800">
                <a:solidFill>
                  <a:srgbClr val="16E8E3"/>
                </a:solidFill>
                <a:latin typeface="Verdana" panose="020B0604030504040204" pitchFamily="34" charset="0"/>
              </a:rPr>
              <a:t>f8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600" i="1" u="sng">
                <a:solidFill>
                  <a:srgbClr val="16E8E3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16E8E3"/>
                </a:solidFill>
                <a:latin typeface="Verdana" panose="020B0604030504040204" pitchFamily="34" charset="0"/>
              </a:rPr>
              <a:t>4</a:t>
            </a:r>
            <a:endParaRPr lang="en-US" altLang="en-US" sz="1800">
              <a:solidFill>
                <a:srgbClr val="16E8E3"/>
              </a:solidFill>
              <a:latin typeface="Verdana" panose="020B0604030504040204" pitchFamily="34" charset="0"/>
            </a:endParaRP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t10 </a:t>
            </a:r>
            <a:r>
              <a:rPr lang="en-US" altLang="en-US" sz="1600" i="1">
                <a:solidFill>
                  <a:srgbClr val="3118E6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3118E6"/>
                </a:solidFill>
                <a:latin typeface="Verdana" panose="020B0604030504040204" pitchFamily="34" charset="0"/>
              </a:rPr>
              <a:t>6</a:t>
            </a:r>
            <a:r>
              <a:rPr lang="en-US" altLang="en-US" sz="1800">
                <a:latin typeface="Verdana" panose="020B0604030504040204" pitchFamily="34" charset="0"/>
              </a:rPr>
              <a:t>	       </a:t>
            </a:r>
            <a:r>
              <a:rPr lang="en-US" altLang="en-US" sz="1800">
                <a:solidFill>
                  <a:srgbClr val="3118E6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				    	</a:t>
            </a:r>
            <a:r>
              <a:rPr lang="en-US" altLang="en-US" sz="1800">
                <a:solidFill>
                  <a:srgbClr val="3118E6"/>
                </a:solidFill>
                <a:latin typeface="Verdana" panose="020B0604030504040204" pitchFamily="34" charset="0"/>
              </a:rPr>
              <a:t>f6</a:t>
            </a:r>
          </a:p>
          <a:p>
            <a:pPr algn="l" eaLnBrk="0" hangingPunct="0">
              <a:lnSpc>
                <a:spcPct val="110000"/>
              </a:lnSpc>
            </a:pPr>
            <a:r>
              <a:rPr lang="en-US" altLang="en-US" sz="1800">
                <a:latin typeface="Verdana" panose="020B0604030504040204" pitchFamily="34" charset="0"/>
              </a:rPr>
              <a:t>t11	       			         </a:t>
            </a:r>
            <a:r>
              <a:rPr lang="en-US" altLang="en-US" sz="1800">
                <a:solidFill>
                  <a:srgbClr val="3118E6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    	</a:t>
            </a:r>
            <a:r>
              <a:rPr lang="en-US" altLang="en-US" sz="1800">
                <a:solidFill>
                  <a:srgbClr val="3118E6"/>
                </a:solidFill>
                <a:latin typeface="Verdana" panose="020B0604030504040204" pitchFamily="34" charset="0"/>
              </a:rPr>
              <a:t>f6</a:t>
            </a:r>
            <a:r>
              <a:rPr lang="en-US" altLang="en-US" sz="1800">
                <a:latin typeface="Verdana" panose="020B0604030504040204" pitchFamily="34" charset="0"/>
              </a:rPr>
              <a:t>		</a:t>
            </a:r>
            <a:r>
              <a:rPr lang="en-US" altLang="en-US" sz="1600" i="1" u="sng">
                <a:solidFill>
                  <a:srgbClr val="3118E6"/>
                </a:solidFill>
                <a:latin typeface="Verdana" panose="020B0604030504040204" pitchFamily="34" charset="0"/>
              </a:rPr>
              <a:t>I</a:t>
            </a:r>
            <a:r>
              <a:rPr lang="en-US" altLang="en-US" sz="1600" i="1" baseline="-25000">
                <a:solidFill>
                  <a:srgbClr val="3118E6"/>
                </a:solidFill>
                <a:latin typeface="Verdana" panose="020B0604030504040204" pitchFamily="34" charset="0"/>
              </a:rPr>
              <a:t>6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3A551A-BEF2-FE1F-1A4C-0E81DB63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A2EB25-18F0-1CBE-5025-685B8C3D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EC3426-B217-7DCE-5F20-B7DE61DD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24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1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4111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250" name="Rectangle 2">
            <a:extLst>
              <a:ext uri="{FF2B5EF4-FFF2-40B4-BE49-F238E27FC236}">
                <a16:creationId xmlns:a16="http://schemas.microsoft.com/office/drawing/2014/main" id="{ADCE5B43-D7CF-720B-5DBB-BE1B8F337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100" y="393700"/>
            <a:ext cx="7162800" cy="838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In-Order Issue Pipeline</a:t>
            </a:r>
          </a:p>
        </p:txBody>
      </p:sp>
      <p:grpSp>
        <p:nvGrpSpPr>
          <p:cNvPr id="2101251" name="Group 3">
            <a:extLst>
              <a:ext uri="{FF2B5EF4-FFF2-40B4-BE49-F238E27FC236}">
                <a16:creationId xmlns:a16="http://schemas.microsoft.com/office/drawing/2014/main" id="{9C95B0CB-034A-9B80-6ACF-BC3F4CDC3C47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2514600"/>
            <a:ext cx="812800" cy="812800"/>
            <a:chOff x="200" y="1584"/>
            <a:chExt cx="512" cy="512"/>
          </a:xfrm>
        </p:grpSpPr>
        <p:sp>
          <p:nvSpPr>
            <p:cNvPr id="2101252" name="Rectangle 4">
              <a:extLst>
                <a:ext uri="{FF2B5EF4-FFF2-40B4-BE49-F238E27FC236}">
                  <a16:creationId xmlns:a16="http://schemas.microsoft.com/office/drawing/2014/main" id="{251C2DFA-45BD-1D15-C340-CC354BBE4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253" name="Rectangle 5">
              <a:extLst>
                <a:ext uri="{FF2B5EF4-FFF2-40B4-BE49-F238E27FC236}">
                  <a16:creationId xmlns:a16="http://schemas.microsoft.com/office/drawing/2014/main" id="{410E3EB4-B19F-C3A4-8930-E995F816A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1711"/>
              <a:ext cx="273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IF</a:t>
              </a:r>
            </a:p>
          </p:txBody>
        </p:sp>
      </p:grpSp>
      <p:sp>
        <p:nvSpPr>
          <p:cNvPr id="2101254" name="Rectangle 6">
            <a:extLst>
              <a:ext uri="{FF2B5EF4-FFF2-40B4-BE49-F238E27FC236}">
                <a16:creationId xmlns:a16="http://schemas.microsoft.com/office/drawing/2014/main" id="{0EB1C13F-70A9-2B77-4F77-24C02FD7B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2716213"/>
            <a:ext cx="6572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ID</a:t>
            </a:r>
          </a:p>
        </p:txBody>
      </p:sp>
      <p:sp>
        <p:nvSpPr>
          <p:cNvPr id="2101255" name="Line 7">
            <a:extLst>
              <a:ext uri="{FF2B5EF4-FFF2-40B4-BE49-F238E27FC236}">
                <a16:creationId xmlns:a16="http://schemas.microsoft.com/office/drawing/2014/main" id="{B23C2F22-7E45-15F3-FE36-76316F9F5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908300"/>
            <a:ext cx="29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56" name="Rectangle 8">
            <a:extLst>
              <a:ext uri="{FF2B5EF4-FFF2-40B4-BE49-F238E27FC236}">
                <a16:creationId xmlns:a16="http://schemas.microsoft.com/office/drawing/2014/main" id="{1E668401-4886-4F3C-0743-FA2B47118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25400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57" name="Rectangle 9">
            <a:extLst>
              <a:ext uri="{FF2B5EF4-FFF2-40B4-BE49-F238E27FC236}">
                <a16:creationId xmlns:a16="http://schemas.microsoft.com/office/drawing/2014/main" id="{13A33E45-8272-6D04-9B0C-1595091C1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2514600"/>
            <a:ext cx="850900" cy="8509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01258" name="Group 10">
            <a:extLst>
              <a:ext uri="{FF2B5EF4-FFF2-40B4-BE49-F238E27FC236}">
                <a16:creationId xmlns:a16="http://schemas.microsoft.com/office/drawing/2014/main" id="{DBF7EE6C-D17E-74B4-0BC7-32C055BC88A7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2514600"/>
            <a:ext cx="812800" cy="812800"/>
            <a:chOff x="4456" y="1584"/>
            <a:chExt cx="512" cy="512"/>
          </a:xfrm>
        </p:grpSpPr>
        <p:sp>
          <p:nvSpPr>
            <p:cNvPr id="2101259" name="Rectangle 11">
              <a:extLst>
                <a:ext uri="{FF2B5EF4-FFF2-40B4-BE49-F238E27FC236}">
                  <a16:creationId xmlns:a16="http://schemas.microsoft.com/office/drawing/2014/main" id="{6C159DC8-746A-3214-57A3-E7A4C70B3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584"/>
              <a:ext cx="512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260" name="Rectangle 12">
              <a:extLst>
                <a:ext uri="{FF2B5EF4-FFF2-40B4-BE49-F238E27FC236}">
                  <a16:creationId xmlns:a16="http://schemas.microsoft.com/office/drawing/2014/main" id="{58B7D38A-9829-793E-9E50-9746DCF79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711"/>
              <a:ext cx="38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WB</a:t>
              </a:r>
            </a:p>
          </p:txBody>
        </p:sp>
      </p:grpSp>
      <p:sp>
        <p:nvSpPr>
          <p:cNvPr id="2101261" name="Rectangle 13">
            <a:extLst>
              <a:ext uri="{FF2B5EF4-FFF2-40B4-BE49-F238E27FC236}">
                <a16:creationId xmlns:a16="http://schemas.microsoft.com/office/drawing/2014/main" id="{36A94DDF-3F7F-0BB8-C21D-2E0910BF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752600"/>
            <a:ext cx="8128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62" name="Rectangle 14">
            <a:extLst>
              <a:ext uri="{FF2B5EF4-FFF2-40B4-BE49-F238E27FC236}">
                <a16:creationId xmlns:a16="http://schemas.microsoft.com/office/drawing/2014/main" id="{63677B1A-EEFF-8BFA-7A22-76E351B97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1954213"/>
            <a:ext cx="6810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ALU</a:t>
            </a:r>
          </a:p>
        </p:txBody>
      </p:sp>
      <p:sp>
        <p:nvSpPr>
          <p:cNvPr id="2101263" name="Rectangle 15">
            <a:extLst>
              <a:ext uri="{FF2B5EF4-FFF2-40B4-BE49-F238E27FC236}">
                <a16:creationId xmlns:a16="http://schemas.microsoft.com/office/drawing/2014/main" id="{279CD388-05C0-4876-2BA5-9029E8615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1752600"/>
            <a:ext cx="11684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64" name="Rectangle 16">
            <a:extLst>
              <a:ext uri="{FF2B5EF4-FFF2-40B4-BE49-F238E27FC236}">
                <a16:creationId xmlns:a16="http://schemas.microsoft.com/office/drawing/2014/main" id="{04B1063D-BE98-FA45-2F6D-A47F7958E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863" y="1954213"/>
            <a:ext cx="7937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Mem</a:t>
            </a:r>
          </a:p>
        </p:txBody>
      </p:sp>
      <p:sp>
        <p:nvSpPr>
          <p:cNvPr id="2101265" name="Rectangle 17">
            <a:extLst>
              <a:ext uri="{FF2B5EF4-FFF2-40B4-BE49-F238E27FC236}">
                <a16:creationId xmlns:a16="http://schemas.microsoft.com/office/drawing/2014/main" id="{D56FED66-2BDA-CA88-B329-A85DD374A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933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66" name="Rectangle 18">
            <a:extLst>
              <a:ext uri="{FF2B5EF4-FFF2-40B4-BE49-F238E27FC236}">
                <a16:creationId xmlns:a16="http://schemas.microsoft.com/office/drawing/2014/main" id="{982C9BD0-9408-357D-A802-5B6C8619D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135313"/>
            <a:ext cx="7969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Fadd</a:t>
            </a:r>
          </a:p>
        </p:txBody>
      </p:sp>
      <p:sp>
        <p:nvSpPr>
          <p:cNvPr id="2101267" name="Rectangle 19">
            <a:extLst>
              <a:ext uri="{FF2B5EF4-FFF2-40B4-BE49-F238E27FC236}">
                <a16:creationId xmlns:a16="http://schemas.microsoft.com/office/drawing/2014/main" id="{4C6FBA01-E7C1-9A20-D257-CAE43208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243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68" name="Rectangle 20">
            <a:extLst>
              <a:ext uri="{FF2B5EF4-FFF2-40B4-BE49-F238E27FC236}">
                <a16:creationId xmlns:a16="http://schemas.microsoft.com/office/drawing/2014/main" id="{2867D61A-8CEE-EC89-9239-73E94D71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4125913"/>
            <a:ext cx="80486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Fmul</a:t>
            </a:r>
          </a:p>
        </p:txBody>
      </p:sp>
      <p:sp>
        <p:nvSpPr>
          <p:cNvPr id="2101269" name="Rectangle 21">
            <a:extLst>
              <a:ext uri="{FF2B5EF4-FFF2-40B4-BE49-F238E27FC236}">
                <a16:creationId xmlns:a16="http://schemas.microsoft.com/office/drawing/2014/main" id="{BDFFBBC8-AE03-2469-33A4-6CB2257B4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600700"/>
            <a:ext cx="16510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70" name="Rectangle 22">
            <a:extLst>
              <a:ext uri="{FF2B5EF4-FFF2-40B4-BE49-F238E27FC236}">
                <a16:creationId xmlns:a16="http://schemas.microsoft.com/office/drawing/2014/main" id="{7DFD0036-C677-5443-0F53-E36A92798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25" y="5802313"/>
            <a:ext cx="706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Fdiv</a:t>
            </a:r>
          </a:p>
        </p:txBody>
      </p:sp>
      <p:sp>
        <p:nvSpPr>
          <p:cNvPr id="2101271" name="Oval 23">
            <a:extLst>
              <a:ext uri="{FF2B5EF4-FFF2-40B4-BE49-F238E27FC236}">
                <a16:creationId xmlns:a16="http://schemas.microsoft.com/office/drawing/2014/main" id="{A8C83AA5-8BEA-BC24-3C2B-341A47A0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48704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72" name="Oval 24">
            <a:extLst>
              <a:ext uri="{FF2B5EF4-FFF2-40B4-BE49-F238E27FC236}">
                <a16:creationId xmlns:a16="http://schemas.microsoft.com/office/drawing/2014/main" id="{485C1160-0179-2028-F719-C2E5C4C72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165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73" name="Oval 25">
            <a:extLst>
              <a:ext uri="{FF2B5EF4-FFF2-40B4-BE49-F238E27FC236}">
                <a16:creationId xmlns:a16="http://schemas.microsoft.com/office/drawing/2014/main" id="{E8615351-19A8-439C-2543-1BFE9ECB6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51752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74" name="Oval 26">
            <a:extLst>
              <a:ext uri="{FF2B5EF4-FFF2-40B4-BE49-F238E27FC236}">
                <a16:creationId xmlns:a16="http://schemas.microsoft.com/office/drawing/2014/main" id="{2FF68810-5949-CCD5-2165-A1A66FBDB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3213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01275" name="Group 27">
            <a:extLst>
              <a:ext uri="{FF2B5EF4-FFF2-40B4-BE49-F238E27FC236}">
                <a16:creationId xmlns:a16="http://schemas.microsoft.com/office/drawing/2014/main" id="{9E284A8A-C7A4-CAA3-C1D7-6B58177C2A63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20900"/>
            <a:ext cx="636588" cy="3836988"/>
            <a:chOff x="2208" y="1336"/>
            <a:chExt cx="401" cy="2417"/>
          </a:xfrm>
        </p:grpSpPr>
        <p:sp>
          <p:nvSpPr>
            <p:cNvPr id="2101276" name="Freeform 28">
              <a:extLst>
                <a:ext uri="{FF2B5EF4-FFF2-40B4-BE49-F238E27FC236}">
                  <a16:creationId xmlns:a16="http://schemas.microsoft.com/office/drawing/2014/main" id="{C6B7DB69-957D-ABFA-3BBB-FBA30349A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336"/>
              <a:ext cx="401" cy="497"/>
            </a:xfrm>
            <a:custGeom>
              <a:avLst/>
              <a:gdLst>
                <a:gd name="T0" fmla="*/ 0 w 401"/>
                <a:gd name="T1" fmla="*/ 496 h 497"/>
                <a:gd name="T2" fmla="*/ 400 w 401"/>
                <a:gd name="T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497">
                  <a:moveTo>
                    <a:pt x="0" y="496"/>
                  </a:moveTo>
                  <a:lnTo>
                    <a:pt x="40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77" name="Freeform 29">
              <a:extLst>
                <a:ext uri="{FF2B5EF4-FFF2-40B4-BE49-F238E27FC236}">
                  <a16:creationId xmlns:a16="http://schemas.microsoft.com/office/drawing/2014/main" id="{58C9255F-5159-283D-1BB9-9E29919A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225"/>
            </a:xfrm>
            <a:custGeom>
              <a:avLst/>
              <a:gdLst>
                <a:gd name="T0" fmla="*/ 0 w 401"/>
                <a:gd name="T1" fmla="*/ 0 h 225"/>
                <a:gd name="T2" fmla="*/ 400 w 401"/>
                <a:gd name="T3" fmla="*/ 2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225">
                  <a:moveTo>
                    <a:pt x="0" y="0"/>
                  </a:moveTo>
                  <a:lnTo>
                    <a:pt x="400" y="22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78" name="Freeform 30">
              <a:extLst>
                <a:ext uri="{FF2B5EF4-FFF2-40B4-BE49-F238E27FC236}">
                  <a16:creationId xmlns:a16="http://schemas.microsoft.com/office/drawing/2014/main" id="{354893E1-9135-A40D-A445-184614FD1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24"/>
              <a:ext cx="401" cy="841"/>
            </a:xfrm>
            <a:custGeom>
              <a:avLst/>
              <a:gdLst>
                <a:gd name="T0" fmla="*/ 0 w 401"/>
                <a:gd name="T1" fmla="*/ 0 h 841"/>
                <a:gd name="T2" fmla="*/ 400 w 401"/>
                <a:gd name="T3" fmla="*/ 84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1" h="841">
                  <a:moveTo>
                    <a:pt x="0" y="0"/>
                  </a:moveTo>
                  <a:lnTo>
                    <a:pt x="400" y="8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79" name="Freeform 31">
              <a:extLst>
                <a:ext uri="{FF2B5EF4-FFF2-40B4-BE49-F238E27FC236}">
                  <a16:creationId xmlns:a16="http://schemas.microsoft.com/office/drawing/2014/main" id="{3CF2C308-C6DB-B23F-3442-494FFA8B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832"/>
              <a:ext cx="393" cy="1921"/>
            </a:xfrm>
            <a:custGeom>
              <a:avLst/>
              <a:gdLst>
                <a:gd name="T0" fmla="*/ 0 w 393"/>
                <a:gd name="T1" fmla="*/ 0 h 1921"/>
                <a:gd name="T2" fmla="*/ 392 w 393"/>
                <a:gd name="T3" fmla="*/ 192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3" h="1921">
                  <a:moveTo>
                    <a:pt x="0" y="0"/>
                  </a:moveTo>
                  <a:lnTo>
                    <a:pt x="392" y="19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01280" name="Freeform 32">
            <a:extLst>
              <a:ext uri="{FF2B5EF4-FFF2-40B4-BE49-F238E27FC236}">
                <a16:creationId xmlns:a16="http://schemas.microsoft.com/office/drawing/2014/main" id="{AB82984F-C4DD-9129-518F-32EF045A54A8}"/>
              </a:ext>
            </a:extLst>
          </p:cNvPr>
          <p:cNvSpPr>
            <a:spLocks/>
          </p:cNvSpPr>
          <p:nvPr/>
        </p:nvSpPr>
        <p:spPr bwMode="auto">
          <a:xfrm>
            <a:off x="6604000" y="2133600"/>
            <a:ext cx="446088" cy="484188"/>
          </a:xfrm>
          <a:custGeom>
            <a:avLst/>
            <a:gdLst>
              <a:gd name="T0" fmla="*/ 280 w 281"/>
              <a:gd name="T1" fmla="*/ 304 h 305"/>
              <a:gd name="T2" fmla="*/ 0 w 281"/>
              <a:gd name="T3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1" h="305">
                <a:moveTo>
                  <a:pt x="280" y="304"/>
                </a:move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1" name="Freeform 33">
            <a:extLst>
              <a:ext uri="{FF2B5EF4-FFF2-40B4-BE49-F238E27FC236}">
                <a16:creationId xmlns:a16="http://schemas.microsoft.com/office/drawing/2014/main" id="{8FDF214C-FFA5-65EB-F2BC-8AD1940865B6}"/>
              </a:ext>
            </a:extLst>
          </p:cNvPr>
          <p:cNvSpPr>
            <a:spLocks/>
          </p:cNvSpPr>
          <p:nvPr/>
        </p:nvSpPr>
        <p:spPr bwMode="auto">
          <a:xfrm>
            <a:off x="5803900" y="2946400"/>
            <a:ext cx="1233488" cy="331788"/>
          </a:xfrm>
          <a:custGeom>
            <a:avLst/>
            <a:gdLst>
              <a:gd name="T0" fmla="*/ 776 w 777"/>
              <a:gd name="T1" fmla="*/ 0 h 209"/>
              <a:gd name="T2" fmla="*/ 0 w 777"/>
              <a:gd name="T3" fmla="*/ 208 h 20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209">
                <a:moveTo>
                  <a:pt x="776" y="0"/>
                </a:moveTo>
                <a:lnTo>
                  <a:pt x="0" y="20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2" name="Freeform 34">
            <a:extLst>
              <a:ext uri="{FF2B5EF4-FFF2-40B4-BE49-F238E27FC236}">
                <a16:creationId xmlns:a16="http://schemas.microsoft.com/office/drawing/2014/main" id="{3AFEE054-7670-A5DB-DBF4-98036F9811E7}"/>
              </a:ext>
            </a:extLst>
          </p:cNvPr>
          <p:cNvSpPr>
            <a:spLocks/>
          </p:cNvSpPr>
          <p:nvPr/>
        </p:nvSpPr>
        <p:spPr bwMode="auto">
          <a:xfrm>
            <a:off x="5803900" y="3111500"/>
            <a:ext cx="1246188" cy="1144588"/>
          </a:xfrm>
          <a:custGeom>
            <a:avLst/>
            <a:gdLst>
              <a:gd name="T0" fmla="*/ 784 w 785"/>
              <a:gd name="T1" fmla="*/ 0 h 721"/>
              <a:gd name="T2" fmla="*/ 0 w 785"/>
              <a:gd name="T3" fmla="*/ 720 h 7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85" h="721">
                <a:moveTo>
                  <a:pt x="784" y="0"/>
                </a:moveTo>
                <a:lnTo>
                  <a:pt x="0" y="72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3" name="Freeform 35">
            <a:extLst>
              <a:ext uri="{FF2B5EF4-FFF2-40B4-BE49-F238E27FC236}">
                <a16:creationId xmlns:a16="http://schemas.microsoft.com/office/drawing/2014/main" id="{E7318FF7-B96E-A5E9-0DD3-547AD843D1F3}"/>
              </a:ext>
            </a:extLst>
          </p:cNvPr>
          <p:cNvSpPr>
            <a:spLocks/>
          </p:cNvSpPr>
          <p:nvPr/>
        </p:nvSpPr>
        <p:spPr bwMode="auto">
          <a:xfrm>
            <a:off x="5816600" y="3263900"/>
            <a:ext cx="1233488" cy="2719388"/>
          </a:xfrm>
          <a:custGeom>
            <a:avLst/>
            <a:gdLst>
              <a:gd name="T0" fmla="*/ 776 w 777"/>
              <a:gd name="T1" fmla="*/ 0 h 1713"/>
              <a:gd name="T2" fmla="*/ 0 w 777"/>
              <a:gd name="T3" fmla="*/ 1712 h 17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7" h="1713">
                <a:moveTo>
                  <a:pt x="776" y="0"/>
                </a:moveTo>
                <a:lnTo>
                  <a:pt x="0" y="17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4" name="Freeform 36">
            <a:extLst>
              <a:ext uri="{FF2B5EF4-FFF2-40B4-BE49-F238E27FC236}">
                <a16:creationId xmlns:a16="http://schemas.microsoft.com/office/drawing/2014/main" id="{F88D833A-7880-2BCC-73A9-ABE00D635893}"/>
              </a:ext>
            </a:extLst>
          </p:cNvPr>
          <p:cNvSpPr>
            <a:spLocks/>
          </p:cNvSpPr>
          <p:nvPr/>
        </p:nvSpPr>
        <p:spPr bwMode="auto">
          <a:xfrm>
            <a:off x="4965700" y="2133600"/>
            <a:ext cx="2084388" cy="623888"/>
          </a:xfrm>
          <a:custGeom>
            <a:avLst/>
            <a:gdLst>
              <a:gd name="T0" fmla="*/ 0 w 1313"/>
              <a:gd name="T1" fmla="*/ 0 h 393"/>
              <a:gd name="T2" fmla="*/ 120 w 1313"/>
              <a:gd name="T3" fmla="*/ 0 h 393"/>
              <a:gd name="T4" fmla="*/ 120 w 1313"/>
              <a:gd name="T5" fmla="*/ 392 h 393"/>
              <a:gd name="T6" fmla="*/ 1312 w 1313"/>
              <a:gd name="T7" fmla="*/ 392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13" h="393">
                <a:moveTo>
                  <a:pt x="0" y="0"/>
                </a:moveTo>
                <a:lnTo>
                  <a:pt x="120" y="0"/>
                </a:lnTo>
                <a:lnTo>
                  <a:pt x="120" y="392"/>
                </a:lnTo>
                <a:lnTo>
                  <a:pt x="1312" y="39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5" name="Line 37">
            <a:extLst>
              <a:ext uri="{FF2B5EF4-FFF2-40B4-BE49-F238E27FC236}">
                <a16:creationId xmlns:a16="http://schemas.microsoft.com/office/drawing/2014/main" id="{8FDD6216-5F31-D3DC-7A45-177619AB1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2133600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86" name="Freeform 38">
            <a:extLst>
              <a:ext uri="{FF2B5EF4-FFF2-40B4-BE49-F238E27FC236}">
                <a16:creationId xmlns:a16="http://schemas.microsoft.com/office/drawing/2014/main" id="{59542CD1-C4DE-AD38-F693-372EEE4E834F}"/>
              </a:ext>
            </a:extLst>
          </p:cNvPr>
          <p:cNvSpPr>
            <a:spLocks/>
          </p:cNvSpPr>
          <p:nvPr/>
        </p:nvSpPr>
        <p:spPr bwMode="auto">
          <a:xfrm>
            <a:off x="3086100" y="1435100"/>
            <a:ext cx="5183188" cy="1487488"/>
          </a:xfrm>
          <a:custGeom>
            <a:avLst/>
            <a:gdLst>
              <a:gd name="T0" fmla="*/ 3032 w 3265"/>
              <a:gd name="T1" fmla="*/ 936 h 937"/>
              <a:gd name="T2" fmla="*/ 3264 w 3265"/>
              <a:gd name="T3" fmla="*/ 936 h 937"/>
              <a:gd name="T4" fmla="*/ 3264 w 3265"/>
              <a:gd name="T5" fmla="*/ 0 h 937"/>
              <a:gd name="T6" fmla="*/ 0 w 3265"/>
              <a:gd name="T7" fmla="*/ 0 h 937"/>
              <a:gd name="T8" fmla="*/ 0 w 3265"/>
              <a:gd name="T9" fmla="*/ 680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5" h="937">
                <a:moveTo>
                  <a:pt x="3032" y="936"/>
                </a:moveTo>
                <a:lnTo>
                  <a:pt x="3264" y="936"/>
                </a:lnTo>
                <a:lnTo>
                  <a:pt x="3264" y="0"/>
                </a:lnTo>
                <a:lnTo>
                  <a:pt x="0" y="0"/>
                </a:lnTo>
                <a:lnTo>
                  <a:pt x="0" y="6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287" name="Rectangle 39">
            <a:extLst>
              <a:ext uri="{FF2B5EF4-FFF2-40B4-BE49-F238E27FC236}">
                <a16:creationId xmlns:a16="http://schemas.microsoft.com/office/drawing/2014/main" id="{11E05ED5-3210-6FEF-0EAA-BDE2377D1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16213"/>
            <a:ext cx="1000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Issue</a:t>
            </a:r>
          </a:p>
        </p:txBody>
      </p:sp>
      <p:sp>
        <p:nvSpPr>
          <p:cNvPr id="2101288" name="Line 40">
            <a:extLst>
              <a:ext uri="{FF2B5EF4-FFF2-40B4-BE49-F238E27FC236}">
                <a16:creationId xmlns:a16="http://schemas.microsoft.com/office/drawing/2014/main" id="{5093B1D1-E6DF-CF07-B8D3-534C02559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2946400"/>
            <a:ext cx="36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1289" name="Rectangle 41">
            <a:extLst>
              <a:ext uri="{FF2B5EF4-FFF2-40B4-BE49-F238E27FC236}">
                <a16:creationId xmlns:a16="http://schemas.microsoft.com/office/drawing/2014/main" id="{B908B6E2-7042-E5AB-8939-19F9FC9D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3419475"/>
            <a:ext cx="90646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GPR’s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FPR’s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BF71E2-F78F-D17E-7E09-DE8CA9EC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FB0C54-2F86-E71C-6B9F-8BAB7E88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4F0419-E73D-B17C-EA47-F852C19F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25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226" name="Rectangle 2">
            <a:extLst>
              <a:ext uri="{FF2B5EF4-FFF2-40B4-BE49-F238E27FC236}">
                <a16:creationId xmlns:a16="http://schemas.microsoft.com/office/drawing/2014/main" id="{9DC4C1AA-9A74-EF23-0322-D7F9B54E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213" y="227013"/>
            <a:ext cx="8247062" cy="8032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Scoreboard for In-order Issues</a:t>
            </a:r>
          </a:p>
        </p:txBody>
      </p:sp>
      <p:sp>
        <p:nvSpPr>
          <p:cNvPr id="2100227" name="Rectangle 3">
            <a:extLst>
              <a:ext uri="{FF2B5EF4-FFF2-40B4-BE49-F238E27FC236}">
                <a16:creationId xmlns:a16="http://schemas.microsoft.com/office/drawing/2014/main" id="{FB53E429-E771-4BD4-5146-234BAE3A2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1300163"/>
            <a:ext cx="8245475" cy="499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Busy[FU#] : </a:t>
            </a:r>
            <a:r>
              <a:rPr lang="en-US" altLang="en-US">
                <a:latin typeface="Verdana" panose="020B0604030504040204" pitchFamily="34" charset="0"/>
              </a:rPr>
              <a:t>a bit-vector to indicate FU’s availability.</a:t>
            </a:r>
          </a:p>
          <a:p>
            <a:pPr lvl="4" algn="l" eaLnBrk="0" hangingPunct="0"/>
            <a:r>
              <a:rPr lang="en-US" altLang="en-US">
                <a:latin typeface="Verdana" panose="020B0604030504040204" pitchFamily="34" charset="0"/>
              </a:rPr>
              <a:t>  (FU = Int, Add, Mult, Div)</a:t>
            </a:r>
          </a:p>
          <a:p>
            <a:pPr lvl="1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These bits are hardwired to FU's.</a:t>
            </a:r>
          </a:p>
          <a:p>
            <a:pPr lvl="4" algn="l" eaLnBrk="0" hangingPunct="0"/>
            <a:endParaRPr lang="en-US" altLang="en-US" sz="140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WP[reg#] : </a:t>
            </a:r>
            <a:r>
              <a:rPr lang="en-US" altLang="en-US">
                <a:latin typeface="Verdana" panose="020B0604030504040204" pitchFamily="34" charset="0"/>
              </a:rPr>
              <a:t>a bit-vector to record the registers for which		writes are pending. </a:t>
            </a:r>
          </a:p>
          <a:p>
            <a:pPr lvl="1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These bits are set to true by the Issue stage and set to false by the WB stage</a:t>
            </a:r>
          </a:p>
          <a:p>
            <a:pPr algn="l" eaLnBrk="0" hangingPunct="0"/>
            <a:endParaRPr lang="en-US" altLang="en-US" sz="160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Issue checks the instruction (opcode dest src1 src2) 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against the scoreboard (Busy &amp; WP) to dispatch</a:t>
            </a:r>
          </a:p>
          <a:p>
            <a:pPr algn="l" eaLnBrk="0" hangingPunct="0"/>
            <a:endParaRPr lang="en-US" altLang="en-US" sz="1200" i="1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FU available? 	</a:t>
            </a: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RAW?		</a:t>
            </a: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WAR?</a:t>
            </a:r>
            <a:endParaRPr lang="en-US" altLang="en-US" i="1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WAW?</a:t>
            </a:r>
            <a:r>
              <a:rPr lang="en-US" altLang="en-US" sz="2400">
                <a:latin typeface="Verdana" panose="020B0604030504040204" pitchFamily="34" charset="0"/>
              </a:rPr>
              <a:t>		</a:t>
            </a:r>
          </a:p>
        </p:txBody>
      </p:sp>
      <p:sp>
        <p:nvSpPr>
          <p:cNvPr id="2100228" name="Text Box 4">
            <a:extLst>
              <a:ext uri="{FF2B5EF4-FFF2-40B4-BE49-F238E27FC236}">
                <a16:creationId xmlns:a16="http://schemas.microsoft.com/office/drawing/2014/main" id="{299E6689-C64C-A562-7F71-156F71B7A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975225"/>
            <a:ext cx="29606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Busy[FU#]</a:t>
            </a:r>
          </a:p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WP[src1] or WP[src2]</a:t>
            </a:r>
          </a:p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cannot arise</a:t>
            </a:r>
          </a:p>
          <a:p>
            <a:pPr algn="l" eaLnBrk="0" hangingPunct="0"/>
            <a:r>
              <a:rPr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WP[dest]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ACA671-A04B-EFA5-C237-32B35A69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50EB252-A3B7-FCA6-753D-B3413B61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BE8A03A-4862-76C9-FD82-EAA518C5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26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022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098" name="Rectangle 2">
            <a:extLst>
              <a:ext uri="{FF2B5EF4-FFF2-40B4-BE49-F238E27FC236}">
                <a16:creationId xmlns:a16="http://schemas.microsoft.com/office/drawing/2014/main" id="{F97F11FA-149A-6A20-CDE8-838C11403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482600"/>
            <a:ext cx="8407400" cy="736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In-Order Issue Limitations:</a:t>
            </a:r>
            <a:r>
              <a:rPr lang="en-US" altLang="en-US" sz="2400" i="1"/>
              <a:t> an example</a:t>
            </a:r>
            <a:endParaRPr lang="en-US" altLang="en-US"/>
          </a:p>
        </p:txBody>
      </p:sp>
      <p:sp>
        <p:nvSpPr>
          <p:cNvPr id="2052099" name="Rectangle 3">
            <a:extLst>
              <a:ext uri="{FF2B5EF4-FFF2-40B4-BE49-F238E27FC236}">
                <a16:creationId xmlns:a16="http://schemas.microsoft.com/office/drawing/2014/main" id="{16D47359-23FE-9AF5-85D9-4089D680B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20800"/>
            <a:ext cx="62261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					        latency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	LD		F2, 	34(R2)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	LD		F4,	45(R3)		</a:t>
            </a:r>
            <a:r>
              <a:rPr lang="en-US" altLang="en-US" sz="1800" i="1">
                <a:latin typeface="Verdana" panose="020B0604030504040204" pitchFamily="34" charset="0"/>
              </a:rPr>
              <a:t>long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	MULTD		F6,	F4,	F2	</a:t>
            </a:r>
            <a:r>
              <a:rPr lang="en-US" altLang="en-US" sz="1800" i="1">
                <a:latin typeface="Verdana" panose="020B0604030504040204" pitchFamily="34" charset="0"/>
              </a:rPr>
              <a:t>3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	SUBD		F8,	F2,	F2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	DIVD		F4,	F2,	F8	</a:t>
            </a:r>
            <a:r>
              <a:rPr lang="en-US" altLang="en-US" sz="1800" i="1">
                <a:latin typeface="Verdana" panose="020B0604030504040204" pitchFamily="34" charset="0"/>
              </a:rPr>
              <a:t>4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6</a:t>
            </a:r>
            <a:r>
              <a:rPr lang="en-US" altLang="en-US" sz="1800">
                <a:latin typeface="Verdana" panose="020B0604030504040204" pitchFamily="34" charset="0"/>
              </a:rPr>
              <a:t>	ADDD		F10,	F6,	F4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052100" name="Rectangle 4">
            <a:extLst>
              <a:ext uri="{FF2B5EF4-FFF2-40B4-BE49-F238E27FC236}">
                <a16:creationId xmlns:a16="http://schemas.microsoft.com/office/drawing/2014/main" id="{63512CEA-0405-46D0-2F43-B75BD565D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5154613"/>
            <a:ext cx="7223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In-order:	  1 (2,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) .  .  .  .  .  .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3 4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5 .  .  . 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6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grpSp>
        <p:nvGrpSpPr>
          <p:cNvPr id="2052101" name="Group 5">
            <a:extLst>
              <a:ext uri="{FF2B5EF4-FFF2-40B4-BE49-F238E27FC236}">
                <a16:creationId xmlns:a16="http://schemas.microsoft.com/office/drawing/2014/main" id="{FC1B8AFB-C7D8-08D5-F9B4-F37AC949D49E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295400"/>
            <a:ext cx="1790700" cy="3556000"/>
            <a:chOff x="4416" y="816"/>
            <a:chExt cx="1128" cy="2240"/>
          </a:xfrm>
        </p:grpSpPr>
        <p:grpSp>
          <p:nvGrpSpPr>
            <p:cNvPr id="2052102" name="Group 6">
              <a:extLst>
                <a:ext uri="{FF2B5EF4-FFF2-40B4-BE49-F238E27FC236}">
                  <a16:creationId xmlns:a16="http://schemas.microsoft.com/office/drawing/2014/main" id="{70673EEC-67A5-346D-2900-8507800C4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816"/>
              <a:ext cx="320" cy="344"/>
              <a:chOff x="4416" y="816"/>
              <a:chExt cx="320" cy="344"/>
            </a:xfrm>
          </p:grpSpPr>
          <p:sp>
            <p:nvSpPr>
              <p:cNvPr id="2052103" name="Oval 7">
                <a:extLst>
                  <a:ext uri="{FF2B5EF4-FFF2-40B4-BE49-F238E27FC236}">
                    <a16:creationId xmlns:a16="http://schemas.microsoft.com/office/drawing/2014/main" id="{AD81A52D-7C84-657A-D2DB-95F64819D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04" name="Rectangle 8">
                <a:extLst>
                  <a:ext uri="{FF2B5EF4-FFF2-40B4-BE49-F238E27FC236}">
                    <a16:creationId xmlns:a16="http://schemas.microsoft.com/office/drawing/2014/main" id="{12BEC3EF-AF2D-33CC-72F9-F1CEF822D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7" y="868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052105" name="Group 9">
              <a:extLst>
                <a:ext uri="{FF2B5EF4-FFF2-40B4-BE49-F238E27FC236}">
                  <a16:creationId xmlns:a16="http://schemas.microsoft.com/office/drawing/2014/main" id="{DCBB5D0E-515F-F181-07A6-350B3002E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816"/>
              <a:ext cx="320" cy="344"/>
              <a:chOff x="5224" y="816"/>
              <a:chExt cx="320" cy="344"/>
            </a:xfrm>
          </p:grpSpPr>
          <p:sp>
            <p:nvSpPr>
              <p:cNvPr id="2052106" name="Oval 10">
                <a:extLst>
                  <a:ext uri="{FF2B5EF4-FFF2-40B4-BE49-F238E27FC236}">
                    <a16:creationId xmlns:a16="http://schemas.microsoft.com/office/drawing/2014/main" id="{176B3D96-E747-FE08-0305-D2A3976D8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07" name="Rectangle 11">
                <a:extLst>
                  <a:ext uri="{FF2B5EF4-FFF2-40B4-BE49-F238E27FC236}">
                    <a16:creationId xmlns:a16="http://schemas.microsoft.com/office/drawing/2014/main" id="{326DE3B6-0A9E-E168-BC3F-51F63536C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" y="860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2052108" name="Group 12">
              <a:extLst>
                <a:ext uri="{FF2B5EF4-FFF2-40B4-BE49-F238E27FC236}">
                  <a16:creationId xmlns:a16="http://schemas.microsoft.com/office/drawing/2014/main" id="{879CCA13-1DF7-CA93-F870-849B2C727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1504"/>
              <a:ext cx="320" cy="344"/>
              <a:chOff x="5224" y="1504"/>
              <a:chExt cx="320" cy="344"/>
            </a:xfrm>
          </p:grpSpPr>
          <p:sp>
            <p:nvSpPr>
              <p:cNvPr id="2052109" name="Oval 13">
                <a:extLst>
                  <a:ext uri="{FF2B5EF4-FFF2-40B4-BE49-F238E27FC236}">
                    <a16:creationId xmlns:a16="http://schemas.microsoft.com/office/drawing/2014/main" id="{85AF7493-19CE-0731-B4D8-4659DC9C7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1504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10" name="Rectangle 14">
                <a:extLst>
                  <a:ext uri="{FF2B5EF4-FFF2-40B4-BE49-F238E27FC236}">
                    <a16:creationId xmlns:a16="http://schemas.microsoft.com/office/drawing/2014/main" id="{AD22C433-DA78-EF6F-C297-AFCD983EB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3" y="1556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2052111" name="Group 15">
              <a:extLst>
                <a:ext uri="{FF2B5EF4-FFF2-40B4-BE49-F238E27FC236}">
                  <a16:creationId xmlns:a16="http://schemas.microsoft.com/office/drawing/2014/main" id="{483616ED-E8D7-5D5F-6C76-48533398FB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1520"/>
              <a:ext cx="320" cy="344"/>
              <a:chOff x="4424" y="1520"/>
              <a:chExt cx="320" cy="344"/>
            </a:xfrm>
          </p:grpSpPr>
          <p:sp>
            <p:nvSpPr>
              <p:cNvPr id="2052112" name="Oval 16">
                <a:extLst>
                  <a:ext uri="{FF2B5EF4-FFF2-40B4-BE49-F238E27FC236}">
                    <a16:creationId xmlns:a16="http://schemas.microsoft.com/office/drawing/2014/main" id="{5AB30526-B9E3-8B86-23AB-BE8160DBF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4" y="1520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13" name="Rectangle 17">
                <a:extLst>
                  <a:ext uri="{FF2B5EF4-FFF2-40B4-BE49-F238E27FC236}">
                    <a16:creationId xmlns:a16="http://schemas.microsoft.com/office/drawing/2014/main" id="{B2198151-8AE4-DDD5-D303-0126D2AA3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15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4</a:t>
                </a:r>
              </a:p>
            </p:txBody>
          </p:sp>
        </p:grpSp>
        <p:grpSp>
          <p:nvGrpSpPr>
            <p:cNvPr id="2052114" name="Group 18">
              <a:extLst>
                <a:ext uri="{FF2B5EF4-FFF2-40B4-BE49-F238E27FC236}">
                  <a16:creationId xmlns:a16="http://schemas.microsoft.com/office/drawing/2014/main" id="{6D4B5D91-A755-A357-2160-512D6E37B5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16"/>
              <a:ext cx="320" cy="344"/>
              <a:chOff x="4416" y="2216"/>
              <a:chExt cx="320" cy="344"/>
            </a:xfrm>
          </p:grpSpPr>
          <p:sp>
            <p:nvSpPr>
              <p:cNvPr id="2052115" name="Oval 19">
                <a:extLst>
                  <a:ext uri="{FF2B5EF4-FFF2-40B4-BE49-F238E27FC236}">
                    <a16:creationId xmlns:a16="http://schemas.microsoft.com/office/drawing/2014/main" id="{8DD9FE5F-E73D-639F-F32A-A19BA294D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2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16" name="Rectangle 20">
                <a:extLst>
                  <a:ext uri="{FF2B5EF4-FFF2-40B4-BE49-F238E27FC236}">
                    <a16:creationId xmlns:a16="http://schemas.microsoft.com/office/drawing/2014/main" id="{87D38555-D2C8-84BC-E3DF-ADF5ECFF6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2284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5</a:t>
                </a:r>
              </a:p>
            </p:txBody>
          </p:sp>
        </p:grpSp>
        <p:grpSp>
          <p:nvGrpSpPr>
            <p:cNvPr id="2052117" name="Group 21">
              <a:extLst>
                <a:ext uri="{FF2B5EF4-FFF2-40B4-BE49-F238E27FC236}">
                  <a16:creationId xmlns:a16="http://schemas.microsoft.com/office/drawing/2014/main" id="{CCCE6191-7EBA-D886-C1EC-50E368E71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8" y="2712"/>
              <a:ext cx="320" cy="344"/>
              <a:chOff x="4888" y="2712"/>
              <a:chExt cx="320" cy="344"/>
            </a:xfrm>
          </p:grpSpPr>
          <p:sp>
            <p:nvSpPr>
              <p:cNvPr id="2052118" name="Oval 22">
                <a:extLst>
                  <a:ext uri="{FF2B5EF4-FFF2-40B4-BE49-F238E27FC236}">
                    <a16:creationId xmlns:a16="http://schemas.microsoft.com/office/drawing/2014/main" id="{C30D6A73-B948-B66D-AE64-E4BF2DED0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2712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19" name="Rectangle 23">
                <a:extLst>
                  <a:ext uri="{FF2B5EF4-FFF2-40B4-BE49-F238E27FC236}">
                    <a16:creationId xmlns:a16="http://schemas.microsoft.com/office/drawing/2014/main" id="{17DD6F6F-39B5-2E49-F268-5DC752E2B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27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6</a:t>
                </a:r>
              </a:p>
            </p:txBody>
          </p:sp>
        </p:grpSp>
        <p:sp>
          <p:nvSpPr>
            <p:cNvPr id="2052120" name="Line 24">
              <a:extLst>
                <a:ext uri="{FF2B5EF4-FFF2-40B4-BE49-F238E27FC236}">
                  <a16:creationId xmlns:a16="http://schemas.microsoft.com/office/drawing/2014/main" id="{A45222B3-0E51-FCEE-9852-460872508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176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1" name="Line 25">
              <a:extLst>
                <a:ext uri="{FF2B5EF4-FFF2-40B4-BE49-F238E27FC236}">
                  <a16:creationId xmlns:a16="http://schemas.microsoft.com/office/drawing/2014/main" id="{5F225B22-95C9-5C69-F180-BE1A5E9BE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880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2" name="Line 26">
              <a:extLst>
                <a:ext uri="{FF2B5EF4-FFF2-40B4-BE49-F238E27FC236}">
                  <a16:creationId xmlns:a16="http://schemas.microsoft.com/office/drawing/2014/main" id="{D7EF8D7F-6730-D8BC-D9D7-CDE18E16B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4" y="116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3" name="Line 27">
              <a:extLst>
                <a:ext uri="{FF2B5EF4-FFF2-40B4-BE49-F238E27FC236}">
                  <a16:creationId xmlns:a16="http://schemas.microsoft.com/office/drawing/2014/main" id="{EA7CB654-79D6-F5F5-81B4-F6D807EA6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1144"/>
              <a:ext cx="552" cy="4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4" name="Line 28">
              <a:extLst>
                <a:ext uri="{FF2B5EF4-FFF2-40B4-BE49-F238E27FC236}">
                  <a16:creationId xmlns:a16="http://schemas.microsoft.com/office/drawing/2014/main" id="{E012B668-E92C-A3C7-CA7F-67DF0A468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2536"/>
              <a:ext cx="264" cy="2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5" name="Line 29">
              <a:extLst>
                <a:ext uri="{FF2B5EF4-FFF2-40B4-BE49-F238E27FC236}">
                  <a16:creationId xmlns:a16="http://schemas.microsoft.com/office/drawing/2014/main" id="{59E305B6-9147-93D7-D07D-388D91020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4" y="1864"/>
              <a:ext cx="264" cy="8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26" name="Line 30">
              <a:extLst>
                <a:ext uri="{FF2B5EF4-FFF2-40B4-BE49-F238E27FC236}">
                  <a16:creationId xmlns:a16="http://schemas.microsoft.com/office/drawing/2014/main" id="{E72A9A1F-F4DD-6A26-A2EF-FC06482B7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792"/>
              <a:ext cx="568" cy="488"/>
            </a:xfrm>
            <a:prstGeom prst="line">
              <a:avLst/>
            </a:prstGeom>
            <a:noFill/>
            <a:ln w="25400">
              <a:solidFill>
                <a:srgbClr val="56127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52128" name="Group 32">
            <a:extLst>
              <a:ext uri="{FF2B5EF4-FFF2-40B4-BE49-F238E27FC236}">
                <a16:creationId xmlns:a16="http://schemas.microsoft.com/office/drawing/2014/main" id="{2C238192-D994-8E73-4336-7D926089AB77}"/>
              </a:ext>
            </a:extLst>
          </p:cNvPr>
          <p:cNvGrpSpPr>
            <a:grpSpLocks/>
          </p:cNvGrpSpPr>
          <p:nvPr/>
        </p:nvGrpSpPr>
        <p:grpSpPr bwMode="auto">
          <a:xfrm>
            <a:off x="3314700" y="5372100"/>
            <a:ext cx="5702300" cy="831850"/>
            <a:chOff x="2088" y="3384"/>
            <a:chExt cx="3592" cy="524"/>
          </a:xfrm>
        </p:grpSpPr>
        <p:sp>
          <p:nvSpPr>
            <p:cNvPr id="2052129" name="Text Box 33">
              <a:extLst>
                <a:ext uri="{FF2B5EF4-FFF2-40B4-BE49-F238E27FC236}">
                  <a16:creationId xmlns:a16="http://schemas.microsoft.com/office/drawing/2014/main" id="{6BFABB3D-2CB0-A7F6-4821-D11AA969F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3504"/>
              <a:ext cx="345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In-order restriction prevents instruction 4 from being dispatched</a:t>
              </a:r>
              <a:endParaRPr lang="en-US" altLang="en-US" sz="1800" i="1">
                <a:solidFill>
                  <a:srgbClr val="56127A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052130" name="Line 34">
              <a:extLst>
                <a:ext uri="{FF2B5EF4-FFF2-40B4-BE49-F238E27FC236}">
                  <a16:creationId xmlns:a16="http://schemas.microsoft.com/office/drawing/2014/main" id="{49ECA319-D0D8-D037-C966-29104B0CD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" y="3384"/>
              <a:ext cx="144" cy="192"/>
            </a:xfrm>
            <a:prstGeom prst="line">
              <a:avLst/>
            </a:prstGeom>
            <a:noFill/>
            <a:ln w="25400">
              <a:solidFill>
                <a:srgbClr val="56127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CD06FE9-4497-CAE1-A88E-C0D25A59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AC4408-4F4B-755F-DC29-74D51501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A300D7-2728-FB51-B0BE-894CAE4A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27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274" name="Rectangle 2">
            <a:extLst>
              <a:ext uri="{FF2B5EF4-FFF2-40B4-BE49-F238E27FC236}">
                <a16:creationId xmlns:a16="http://schemas.microsoft.com/office/drawing/2014/main" id="{948DE116-AE2D-6936-78F4-9A1D82E78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Out-of-Order Issue</a:t>
            </a:r>
          </a:p>
        </p:txBody>
      </p:sp>
      <p:sp>
        <p:nvSpPr>
          <p:cNvPr id="2102275" name="Rectangle 3">
            <a:extLst>
              <a:ext uri="{FF2B5EF4-FFF2-40B4-BE49-F238E27FC236}">
                <a16:creationId xmlns:a16="http://schemas.microsoft.com/office/drawing/2014/main" id="{65D6F1B5-A5F8-A3EA-BFE9-50E63FC7D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125" y="3506788"/>
            <a:ext cx="7431088" cy="3051175"/>
          </a:xfrm>
        </p:spPr>
        <p:txBody>
          <a:bodyPr/>
          <a:lstStyle/>
          <a:p>
            <a:r>
              <a:rPr lang="en-US" altLang="en-US" sz="2000"/>
              <a:t>Issue stage buffer holds multiple instructions waiting to issue.</a:t>
            </a:r>
          </a:p>
          <a:p>
            <a:r>
              <a:rPr lang="en-US" altLang="en-US" sz="2000"/>
              <a:t>Decode adds next instruction to buffer if there is  space and the instruction does not cause a WAR or WAW hazard.</a:t>
            </a:r>
          </a:p>
          <a:p>
            <a:r>
              <a:rPr lang="en-US" altLang="en-US" sz="2000"/>
              <a:t>Any instruction in buffer whose RAW hazards are  satisfied can be issued </a:t>
            </a:r>
            <a:r>
              <a:rPr lang="en-US" altLang="en-US" sz="2000" i="1"/>
              <a:t>(for now at most one dispatch per cycle).</a:t>
            </a:r>
            <a:r>
              <a:rPr lang="en-US" altLang="en-US" sz="2000"/>
              <a:t> On a write back (WB), new instructions may get enabled.</a:t>
            </a:r>
          </a:p>
        </p:txBody>
      </p:sp>
      <p:grpSp>
        <p:nvGrpSpPr>
          <p:cNvPr id="2102276" name="Group 4">
            <a:extLst>
              <a:ext uri="{FF2B5EF4-FFF2-40B4-BE49-F238E27FC236}">
                <a16:creationId xmlns:a16="http://schemas.microsoft.com/office/drawing/2014/main" id="{6893E373-7323-4E63-EA74-109514C5922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409700"/>
            <a:ext cx="4122738" cy="1978025"/>
            <a:chOff x="1344" y="888"/>
            <a:chExt cx="2597" cy="1246"/>
          </a:xfrm>
        </p:grpSpPr>
        <p:grpSp>
          <p:nvGrpSpPr>
            <p:cNvPr id="2102277" name="Group 5">
              <a:extLst>
                <a:ext uri="{FF2B5EF4-FFF2-40B4-BE49-F238E27FC236}">
                  <a16:creationId xmlns:a16="http://schemas.microsoft.com/office/drawing/2014/main" id="{A279BCB5-55AE-4DE7-1A6B-AEEBD3F5B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232"/>
              <a:ext cx="248" cy="248"/>
              <a:chOff x="1436" y="1058"/>
              <a:chExt cx="248" cy="248"/>
            </a:xfrm>
          </p:grpSpPr>
          <p:sp>
            <p:nvSpPr>
              <p:cNvPr id="2102278" name="Rectangle 6">
                <a:extLst>
                  <a:ext uri="{FF2B5EF4-FFF2-40B4-BE49-F238E27FC236}">
                    <a16:creationId xmlns:a16="http://schemas.microsoft.com/office/drawing/2014/main" id="{202642C7-B792-629A-2009-21DBD7484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6" y="1058"/>
                <a:ext cx="248" cy="24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279" name="Rectangle 7">
                <a:extLst>
                  <a:ext uri="{FF2B5EF4-FFF2-40B4-BE49-F238E27FC236}">
                    <a16:creationId xmlns:a16="http://schemas.microsoft.com/office/drawing/2014/main" id="{F5DDECE3-9C70-DD8E-1832-A0755F4BF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1109"/>
                <a:ext cx="153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46038" tIns="23812" rIns="46038" bIns="23812">
                <a:spAutoFit/>
              </a:bodyPr>
              <a:lstStyle>
                <a:lvl1pPr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2286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4572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6858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9144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13716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18288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22860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27432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hangingPunct="0"/>
                <a:r>
                  <a:rPr lang="en-US" altLang="en-US" sz="1200">
                    <a:latin typeface="Verdana" panose="020B0604030504040204" pitchFamily="34" charset="0"/>
                  </a:rPr>
                  <a:t>IF</a:t>
                </a:r>
              </a:p>
            </p:txBody>
          </p:sp>
        </p:grpSp>
        <p:sp>
          <p:nvSpPr>
            <p:cNvPr id="2102280" name="Rectangle 8">
              <a:extLst>
                <a:ext uri="{FF2B5EF4-FFF2-40B4-BE49-F238E27FC236}">
                  <a16:creationId xmlns:a16="http://schemas.microsoft.com/office/drawing/2014/main" id="{8DC42534-AC75-AE32-6175-A6676F9B6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1283"/>
              <a:ext cx="224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ID</a:t>
              </a:r>
            </a:p>
          </p:txBody>
        </p:sp>
        <p:sp>
          <p:nvSpPr>
            <p:cNvPr id="2102281" name="Line 9">
              <a:extLst>
                <a:ext uri="{FF2B5EF4-FFF2-40B4-BE49-F238E27FC236}">
                  <a16:creationId xmlns:a16="http://schemas.microsoft.com/office/drawing/2014/main" id="{A3333BC9-ABBE-9EF6-1E07-048CE45D9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1352"/>
              <a:ext cx="152" cy="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82" name="Rectangle 10">
              <a:extLst>
                <a:ext uri="{FF2B5EF4-FFF2-40B4-BE49-F238E27FC236}">
                  <a16:creationId xmlns:a16="http://schemas.microsoft.com/office/drawing/2014/main" id="{2881C80D-C79A-A6D0-BD90-C5DAEEC73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1240"/>
              <a:ext cx="248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83" name="Rectangle 11">
              <a:extLst>
                <a:ext uri="{FF2B5EF4-FFF2-40B4-BE49-F238E27FC236}">
                  <a16:creationId xmlns:a16="http://schemas.microsoft.com/office/drawing/2014/main" id="{23953EBC-036A-22A4-CB6C-B87C12082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1232"/>
              <a:ext cx="292" cy="2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02284" name="Group 12">
              <a:extLst>
                <a:ext uri="{FF2B5EF4-FFF2-40B4-BE49-F238E27FC236}">
                  <a16:creationId xmlns:a16="http://schemas.microsoft.com/office/drawing/2014/main" id="{66AF543A-4BBA-3D78-DEC1-543E646EB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8" y="1232"/>
              <a:ext cx="248" cy="248"/>
              <a:chOff x="3564" y="1058"/>
              <a:chExt cx="248" cy="248"/>
            </a:xfrm>
          </p:grpSpPr>
          <p:sp>
            <p:nvSpPr>
              <p:cNvPr id="2102285" name="Rectangle 13">
                <a:extLst>
                  <a:ext uri="{FF2B5EF4-FFF2-40B4-BE49-F238E27FC236}">
                    <a16:creationId xmlns:a16="http://schemas.microsoft.com/office/drawing/2014/main" id="{98A5E28A-2270-873F-65A8-5187C3C7B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4" y="1058"/>
                <a:ext cx="248" cy="24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286" name="Rectangle 14">
                <a:extLst>
                  <a:ext uri="{FF2B5EF4-FFF2-40B4-BE49-F238E27FC236}">
                    <a16:creationId xmlns:a16="http://schemas.microsoft.com/office/drawing/2014/main" id="{BFA88723-1513-C678-6B99-BBB3FA260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6" y="1109"/>
                <a:ext cx="219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46038" tIns="23812" rIns="46038" bIns="23812">
                <a:spAutoFit/>
              </a:bodyPr>
              <a:lstStyle>
                <a:lvl1pPr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2286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4572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6858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9144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13716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18288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22860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27432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hangingPunct="0"/>
                <a:r>
                  <a:rPr lang="en-US" altLang="en-US" sz="1200">
                    <a:latin typeface="Verdana" panose="020B0604030504040204" pitchFamily="34" charset="0"/>
                  </a:rPr>
                  <a:t>WB</a:t>
                </a:r>
              </a:p>
            </p:txBody>
          </p:sp>
        </p:grpSp>
        <p:sp>
          <p:nvSpPr>
            <p:cNvPr id="2102287" name="Rectangle 15">
              <a:extLst>
                <a:ext uri="{FF2B5EF4-FFF2-40B4-BE49-F238E27FC236}">
                  <a16:creationId xmlns:a16="http://schemas.microsoft.com/office/drawing/2014/main" id="{52251877-5186-A554-962F-74DA071B2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992"/>
              <a:ext cx="248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88" name="Rectangle 16">
              <a:extLst>
                <a:ext uri="{FF2B5EF4-FFF2-40B4-BE49-F238E27FC236}">
                  <a16:creationId xmlns:a16="http://schemas.microsoft.com/office/drawing/2014/main" id="{2D1A075F-E3B4-4AC9-8580-C2D6803E2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1043"/>
              <a:ext cx="247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ALU</a:t>
              </a:r>
            </a:p>
          </p:txBody>
        </p:sp>
        <p:sp>
          <p:nvSpPr>
            <p:cNvPr id="2102289" name="Rectangle 17">
              <a:extLst>
                <a:ext uri="{FF2B5EF4-FFF2-40B4-BE49-F238E27FC236}">
                  <a16:creationId xmlns:a16="http://schemas.microsoft.com/office/drawing/2014/main" id="{12F903A6-51A8-095B-F273-936591D29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992"/>
              <a:ext cx="360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0" name="Rectangle 18">
              <a:extLst>
                <a:ext uri="{FF2B5EF4-FFF2-40B4-BE49-F238E27FC236}">
                  <a16:creationId xmlns:a16="http://schemas.microsoft.com/office/drawing/2014/main" id="{D01A5F4E-DA84-9ABD-BA79-FB1BC50F8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1043"/>
              <a:ext cx="289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Mem</a:t>
              </a:r>
            </a:p>
          </p:txBody>
        </p:sp>
        <p:sp>
          <p:nvSpPr>
            <p:cNvPr id="2102291" name="Rectangle 19">
              <a:extLst>
                <a:ext uri="{FF2B5EF4-FFF2-40B4-BE49-F238E27FC236}">
                  <a16:creationId xmlns:a16="http://schemas.microsoft.com/office/drawing/2014/main" id="{A871DBEA-C6DC-0245-F492-F8E80BAD6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364"/>
              <a:ext cx="512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2" name="Rectangle 20">
              <a:extLst>
                <a:ext uri="{FF2B5EF4-FFF2-40B4-BE49-F238E27FC236}">
                  <a16:creationId xmlns:a16="http://schemas.microsoft.com/office/drawing/2014/main" id="{091AE678-ECB2-7CCD-30AB-DEE0F89F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1415"/>
              <a:ext cx="29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Fadd</a:t>
              </a:r>
            </a:p>
          </p:txBody>
        </p:sp>
        <p:sp>
          <p:nvSpPr>
            <p:cNvPr id="2102293" name="Rectangle 21">
              <a:extLst>
                <a:ext uri="{FF2B5EF4-FFF2-40B4-BE49-F238E27FC236}">
                  <a16:creationId xmlns:a16="http://schemas.microsoft.com/office/drawing/2014/main" id="{A11CA323-F0A1-F3AA-D377-06670BD88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676"/>
              <a:ext cx="512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4" name="Rectangle 22">
              <a:extLst>
                <a:ext uri="{FF2B5EF4-FFF2-40B4-BE49-F238E27FC236}">
                  <a16:creationId xmlns:a16="http://schemas.microsoft.com/office/drawing/2014/main" id="{C28A9F90-1B0D-EDC8-2306-1895DF64B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1727"/>
              <a:ext cx="293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Fmul</a:t>
              </a:r>
            </a:p>
          </p:txBody>
        </p:sp>
        <p:sp>
          <p:nvSpPr>
            <p:cNvPr id="2102295" name="Oval 23">
              <a:extLst>
                <a:ext uri="{FF2B5EF4-FFF2-40B4-BE49-F238E27FC236}">
                  <a16:creationId xmlns:a16="http://schemas.microsoft.com/office/drawing/2014/main" id="{B7FBF0BC-835D-B26B-7C68-668C0CC76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972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6" name="Oval 24">
              <a:extLst>
                <a:ext uri="{FF2B5EF4-FFF2-40B4-BE49-F238E27FC236}">
                  <a16:creationId xmlns:a16="http://schemas.microsoft.com/office/drawing/2014/main" id="{369727E2-42DB-E0A5-4509-0BEACC440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2018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7" name="Oval 25">
              <a:extLst>
                <a:ext uri="{FF2B5EF4-FFF2-40B4-BE49-F238E27FC236}">
                  <a16:creationId xmlns:a16="http://schemas.microsoft.com/office/drawing/2014/main" id="{5E35D82F-3442-8301-F870-6F949B277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068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8" name="Oval 26">
              <a:extLst>
                <a:ext uri="{FF2B5EF4-FFF2-40B4-BE49-F238E27FC236}">
                  <a16:creationId xmlns:a16="http://schemas.microsoft.com/office/drawing/2014/main" id="{A1ACBE8B-170A-BCC7-8F87-23DF73EE7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2114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299" name="Freeform 27">
              <a:extLst>
                <a:ext uri="{FF2B5EF4-FFF2-40B4-BE49-F238E27FC236}">
                  <a16:creationId xmlns:a16="http://schemas.microsoft.com/office/drawing/2014/main" id="{1793277C-3597-04B1-EA7F-B45899A48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1104"/>
              <a:ext cx="201" cy="249"/>
            </a:xfrm>
            <a:custGeom>
              <a:avLst/>
              <a:gdLst>
                <a:gd name="T0" fmla="*/ 0 w 201"/>
                <a:gd name="T1" fmla="*/ 248 h 249"/>
                <a:gd name="T2" fmla="*/ 200 w 201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249">
                  <a:moveTo>
                    <a:pt x="0" y="248"/>
                  </a:moveTo>
                  <a:lnTo>
                    <a:pt x="20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0" name="Freeform 28">
              <a:extLst>
                <a:ext uri="{FF2B5EF4-FFF2-40B4-BE49-F238E27FC236}">
                  <a16:creationId xmlns:a16="http://schemas.microsoft.com/office/drawing/2014/main" id="{030F95AA-C691-FC15-9113-B1FC1071D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1348"/>
              <a:ext cx="201" cy="113"/>
            </a:xfrm>
            <a:custGeom>
              <a:avLst/>
              <a:gdLst>
                <a:gd name="T0" fmla="*/ 0 w 201"/>
                <a:gd name="T1" fmla="*/ 0 h 113"/>
                <a:gd name="T2" fmla="*/ 200 w 201"/>
                <a:gd name="T3" fmla="*/ 11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113">
                  <a:moveTo>
                    <a:pt x="0" y="0"/>
                  </a:moveTo>
                  <a:lnTo>
                    <a:pt x="200" y="11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1" name="Freeform 29">
              <a:extLst>
                <a:ext uri="{FF2B5EF4-FFF2-40B4-BE49-F238E27FC236}">
                  <a16:creationId xmlns:a16="http://schemas.microsoft.com/office/drawing/2014/main" id="{2DB5F166-CD57-2ED6-75E6-EA0A681C9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1360"/>
              <a:ext cx="193" cy="441"/>
            </a:xfrm>
            <a:custGeom>
              <a:avLst/>
              <a:gdLst>
                <a:gd name="T0" fmla="*/ 0 w 193"/>
                <a:gd name="T1" fmla="*/ 0 h 441"/>
                <a:gd name="T2" fmla="*/ 192 w 193"/>
                <a:gd name="T3" fmla="*/ 44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3" h="441">
                  <a:moveTo>
                    <a:pt x="0" y="0"/>
                  </a:moveTo>
                  <a:lnTo>
                    <a:pt x="192" y="4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2" name="Freeform 30">
              <a:extLst>
                <a:ext uri="{FF2B5EF4-FFF2-40B4-BE49-F238E27FC236}">
                  <a16:creationId xmlns:a16="http://schemas.microsoft.com/office/drawing/2014/main" id="{8E78DB1F-C626-F8CE-9122-405A3A67B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1108"/>
              <a:ext cx="145" cy="149"/>
            </a:xfrm>
            <a:custGeom>
              <a:avLst/>
              <a:gdLst>
                <a:gd name="T0" fmla="*/ 144 w 145"/>
                <a:gd name="T1" fmla="*/ 148 h 149"/>
                <a:gd name="T2" fmla="*/ 0 w 145"/>
                <a:gd name="T3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49">
                  <a:moveTo>
                    <a:pt x="144" y="148"/>
                  </a:move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3" name="Freeform 31">
              <a:extLst>
                <a:ext uri="{FF2B5EF4-FFF2-40B4-BE49-F238E27FC236}">
                  <a16:creationId xmlns:a16="http://schemas.microsoft.com/office/drawing/2014/main" id="{664100AD-DD1E-F920-2CD7-A981D5BD1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408"/>
              <a:ext cx="385" cy="389"/>
            </a:xfrm>
            <a:custGeom>
              <a:avLst/>
              <a:gdLst>
                <a:gd name="T0" fmla="*/ 384 w 385"/>
                <a:gd name="T1" fmla="*/ 0 h 389"/>
                <a:gd name="T2" fmla="*/ 0 w 385"/>
                <a:gd name="T3" fmla="*/ 388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5" h="389">
                  <a:moveTo>
                    <a:pt x="384" y="0"/>
                  </a:moveTo>
                  <a:lnTo>
                    <a:pt x="0" y="3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4" name="Freeform 32">
              <a:extLst>
                <a:ext uri="{FF2B5EF4-FFF2-40B4-BE49-F238E27FC236}">
                  <a16:creationId xmlns:a16="http://schemas.microsoft.com/office/drawing/2014/main" id="{CCC7E213-0060-CC88-39A5-DA5B382BE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112"/>
              <a:ext cx="653" cy="197"/>
            </a:xfrm>
            <a:custGeom>
              <a:avLst/>
              <a:gdLst>
                <a:gd name="T0" fmla="*/ 0 w 653"/>
                <a:gd name="T1" fmla="*/ 0 h 197"/>
                <a:gd name="T2" fmla="*/ 48 w 653"/>
                <a:gd name="T3" fmla="*/ 0 h 197"/>
                <a:gd name="T4" fmla="*/ 48 w 653"/>
                <a:gd name="T5" fmla="*/ 196 h 197"/>
                <a:gd name="T6" fmla="*/ 652 w 653"/>
                <a:gd name="T7" fmla="*/ 19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3" h="197">
                  <a:moveTo>
                    <a:pt x="0" y="0"/>
                  </a:moveTo>
                  <a:lnTo>
                    <a:pt x="48" y="0"/>
                  </a:lnTo>
                  <a:lnTo>
                    <a:pt x="48" y="196"/>
                  </a:lnTo>
                  <a:lnTo>
                    <a:pt x="652" y="1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5" name="Line 33">
              <a:extLst>
                <a:ext uri="{FF2B5EF4-FFF2-40B4-BE49-F238E27FC236}">
                  <a16:creationId xmlns:a16="http://schemas.microsoft.com/office/drawing/2014/main" id="{AC7CA567-DBEB-E52E-97D4-5E16F1772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" y="1112"/>
              <a:ext cx="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306" name="Freeform 34">
              <a:extLst>
                <a:ext uri="{FF2B5EF4-FFF2-40B4-BE49-F238E27FC236}">
                  <a16:creationId xmlns:a16="http://schemas.microsoft.com/office/drawing/2014/main" id="{CD0D6998-9A66-988B-B9C8-1B8E70F0D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888"/>
              <a:ext cx="1633" cy="469"/>
            </a:xfrm>
            <a:custGeom>
              <a:avLst/>
              <a:gdLst>
                <a:gd name="T0" fmla="*/ 1516 w 1633"/>
                <a:gd name="T1" fmla="*/ 468 h 469"/>
                <a:gd name="T2" fmla="*/ 1632 w 1633"/>
                <a:gd name="T3" fmla="*/ 468 h 469"/>
                <a:gd name="T4" fmla="*/ 1632 w 1633"/>
                <a:gd name="T5" fmla="*/ 0 h 469"/>
                <a:gd name="T6" fmla="*/ 0 w 1633"/>
                <a:gd name="T7" fmla="*/ 0 h 469"/>
                <a:gd name="T8" fmla="*/ 0 w 1633"/>
                <a:gd name="T9" fmla="*/ 34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3" h="469">
                  <a:moveTo>
                    <a:pt x="1516" y="468"/>
                  </a:moveTo>
                  <a:lnTo>
                    <a:pt x="1632" y="468"/>
                  </a:lnTo>
                  <a:lnTo>
                    <a:pt x="1632" y="0"/>
                  </a:lnTo>
                  <a:lnTo>
                    <a:pt x="0" y="0"/>
                  </a:lnTo>
                  <a:lnTo>
                    <a:pt x="0" y="3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07" name="Rectangle 35">
              <a:extLst>
                <a:ext uri="{FF2B5EF4-FFF2-40B4-BE49-F238E27FC236}">
                  <a16:creationId xmlns:a16="http://schemas.microsoft.com/office/drawing/2014/main" id="{57DF532A-86E8-C88A-FB4F-5AF1BF423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283"/>
              <a:ext cx="33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Issue</a:t>
              </a:r>
            </a:p>
          </p:txBody>
        </p:sp>
        <p:sp>
          <p:nvSpPr>
            <p:cNvPr id="2102308" name="Line 36">
              <a:extLst>
                <a:ext uri="{FF2B5EF4-FFF2-40B4-BE49-F238E27FC236}">
                  <a16:creationId xmlns:a16="http://schemas.microsoft.com/office/drawing/2014/main" id="{CCC76268-1CD2-C308-80FA-419C7A8E9D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364"/>
              <a:ext cx="148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309" name="Freeform 37">
              <a:extLst>
                <a:ext uri="{FF2B5EF4-FFF2-40B4-BE49-F238E27FC236}">
                  <a16:creationId xmlns:a16="http://schemas.microsoft.com/office/drawing/2014/main" id="{4D40ED3B-14DD-F045-B73B-AA9E27800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376"/>
              <a:ext cx="385" cy="129"/>
            </a:xfrm>
            <a:custGeom>
              <a:avLst/>
              <a:gdLst>
                <a:gd name="T0" fmla="*/ 384 w 385"/>
                <a:gd name="T1" fmla="*/ 0 h 129"/>
                <a:gd name="T2" fmla="*/ 0 w 385"/>
                <a:gd name="T3" fmla="*/ 1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5" h="129">
                  <a:moveTo>
                    <a:pt x="384" y="0"/>
                  </a:moveTo>
                  <a:lnTo>
                    <a:pt x="0" y="12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D1724C6-A45A-DA97-09F8-CE3023EB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209D89-4165-0590-AC57-2FADD677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3513D1-C0B0-4589-73CA-8FD25618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28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298" name="Rectangle 2">
            <a:extLst>
              <a:ext uri="{FF2B5EF4-FFF2-40B4-BE49-F238E27FC236}">
                <a16:creationId xmlns:a16="http://schemas.microsoft.com/office/drawing/2014/main" id="{4898887F-7627-9AF5-760A-426B12C8F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482600"/>
            <a:ext cx="8407400" cy="736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In-Order Issue Limitations:</a:t>
            </a:r>
            <a:r>
              <a:rPr lang="en-US" altLang="en-US" sz="2400" i="1"/>
              <a:t> an example</a:t>
            </a:r>
            <a:endParaRPr lang="en-US" altLang="en-US"/>
          </a:p>
        </p:txBody>
      </p:sp>
      <p:sp>
        <p:nvSpPr>
          <p:cNvPr id="2103299" name="Rectangle 3">
            <a:extLst>
              <a:ext uri="{FF2B5EF4-FFF2-40B4-BE49-F238E27FC236}">
                <a16:creationId xmlns:a16="http://schemas.microsoft.com/office/drawing/2014/main" id="{D1BE652B-AAE3-D851-D7EC-512BA511A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20800"/>
            <a:ext cx="62261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					        latency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	LD		F2, 	34(R2)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	LD		F4,	45(R3)		</a:t>
            </a:r>
            <a:r>
              <a:rPr lang="en-US" altLang="en-US" sz="1800" i="1">
                <a:latin typeface="Verdana" panose="020B0604030504040204" pitchFamily="34" charset="0"/>
              </a:rPr>
              <a:t>long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	MULTD		F6,	F4,	F2	</a:t>
            </a:r>
            <a:r>
              <a:rPr lang="en-US" altLang="en-US" sz="1800" i="1">
                <a:latin typeface="Verdana" panose="020B0604030504040204" pitchFamily="34" charset="0"/>
              </a:rPr>
              <a:t>3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	SUBD		F8,	F2,	F2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	DIVD		F4,	F2,	F8	</a:t>
            </a:r>
            <a:r>
              <a:rPr lang="en-US" altLang="en-US" sz="1800" i="1">
                <a:latin typeface="Verdana" panose="020B0604030504040204" pitchFamily="34" charset="0"/>
              </a:rPr>
              <a:t>4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6</a:t>
            </a:r>
            <a:r>
              <a:rPr lang="en-US" altLang="en-US" sz="1800">
                <a:latin typeface="Verdana" panose="020B0604030504040204" pitchFamily="34" charset="0"/>
              </a:rPr>
              <a:t>	ADDD		F10,	F6,	F4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103300" name="Rectangle 4">
            <a:extLst>
              <a:ext uri="{FF2B5EF4-FFF2-40B4-BE49-F238E27FC236}">
                <a16:creationId xmlns:a16="http://schemas.microsoft.com/office/drawing/2014/main" id="{C4B78BF8-F90F-3A3E-3801-443556414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5154613"/>
            <a:ext cx="7223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In-order:	  1 (2,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) .  .  .  .  .  .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3 4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5 .  .  . 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6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grpSp>
        <p:nvGrpSpPr>
          <p:cNvPr id="2103301" name="Group 5">
            <a:extLst>
              <a:ext uri="{FF2B5EF4-FFF2-40B4-BE49-F238E27FC236}">
                <a16:creationId xmlns:a16="http://schemas.microsoft.com/office/drawing/2014/main" id="{47262575-A36B-7E93-D674-C40CBDA9E882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295400"/>
            <a:ext cx="1790700" cy="3556000"/>
            <a:chOff x="4416" y="816"/>
            <a:chExt cx="1128" cy="2240"/>
          </a:xfrm>
        </p:grpSpPr>
        <p:grpSp>
          <p:nvGrpSpPr>
            <p:cNvPr id="2103302" name="Group 6">
              <a:extLst>
                <a:ext uri="{FF2B5EF4-FFF2-40B4-BE49-F238E27FC236}">
                  <a16:creationId xmlns:a16="http://schemas.microsoft.com/office/drawing/2014/main" id="{BAA0AE73-F50B-4FF6-9D9D-9091E1F4C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816"/>
              <a:ext cx="320" cy="344"/>
              <a:chOff x="4416" y="816"/>
              <a:chExt cx="320" cy="344"/>
            </a:xfrm>
          </p:grpSpPr>
          <p:sp>
            <p:nvSpPr>
              <p:cNvPr id="2103303" name="Oval 7">
                <a:extLst>
                  <a:ext uri="{FF2B5EF4-FFF2-40B4-BE49-F238E27FC236}">
                    <a16:creationId xmlns:a16="http://schemas.microsoft.com/office/drawing/2014/main" id="{B04116E1-9110-2996-5C04-60D35B924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04" name="Rectangle 8">
                <a:extLst>
                  <a:ext uri="{FF2B5EF4-FFF2-40B4-BE49-F238E27FC236}">
                    <a16:creationId xmlns:a16="http://schemas.microsoft.com/office/drawing/2014/main" id="{CB7F3EEF-B5BE-C241-108E-429CAA4BE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7" y="868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103305" name="Group 9">
              <a:extLst>
                <a:ext uri="{FF2B5EF4-FFF2-40B4-BE49-F238E27FC236}">
                  <a16:creationId xmlns:a16="http://schemas.microsoft.com/office/drawing/2014/main" id="{900622C9-B21C-B5AE-65BF-82546B621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816"/>
              <a:ext cx="320" cy="344"/>
              <a:chOff x="5224" y="816"/>
              <a:chExt cx="320" cy="344"/>
            </a:xfrm>
          </p:grpSpPr>
          <p:sp>
            <p:nvSpPr>
              <p:cNvPr id="2103306" name="Oval 10">
                <a:extLst>
                  <a:ext uri="{FF2B5EF4-FFF2-40B4-BE49-F238E27FC236}">
                    <a16:creationId xmlns:a16="http://schemas.microsoft.com/office/drawing/2014/main" id="{F3E02CA6-3040-3E53-40F9-AD9F46CC2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07" name="Rectangle 11">
                <a:extLst>
                  <a:ext uri="{FF2B5EF4-FFF2-40B4-BE49-F238E27FC236}">
                    <a16:creationId xmlns:a16="http://schemas.microsoft.com/office/drawing/2014/main" id="{2C70AA84-03A9-C69F-ABDD-A4D3BBC28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" y="860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2103308" name="Group 12">
              <a:extLst>
                <a:ext uri="{FF2B5EF4-FFF2-40B4-BE49-F238E27FC236}">
                  <a16:creationId xmlns:a16="http://schemas.microsoft.com/office/drawing/2014/main" id="{0286CD7D-4221-5EDE-0F77-FA255B28D6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1504"/>
              <a:ext cx="320" cy="344"/>
              <a:chOff x="5224" y="1504"/>
              <a:chExt cx="320" cy="344"/>
            </a:xfrm>
          </p:grpSpPr>
          <p:sp>
            <p:nvSpPr>
              <p:cNvPr id="2103309" name="Oval 13">
                <a:extLst>
                  <a:ext uri="{FF2B5EF4-FFF2-40B4-BE49-F238E27FC236}">
                    <a16:creationId xmlns:a16="http://schemas.microsoft.com/office/drawing/2014/main" id="{68160BD0-E810-08ED-69A3-F9B1A642F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1504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10" name="Rectangle 14">
                <a:extLst>
                  <a:ext uri="{FF2B5EF4-FFF2-40B4-BE49-F238E27FC236}">
                    <a16:creationId xmlns:a16="http://schemas.microsoft.com/office/drawing/2014/main" id="{1D0BBFCB-DEA6-283B-44A7-6DD0167CD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3" y="1556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2103311" name="Group 15">
              <a:extLst>
                <a:ext uri="{FF2B5EF4-FFF2-40B4-BE49-F238E27FC236}">
                  <a16:creationId xmlns:a16="http://schemas.microsoft.com/office/drawing/2014/main" id="{70494FB2-6E39-E817-A19F-C7F6F52C40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1520"/>
              <a:ext cx="320" cy="344"/>
              <a:chOff x="4424" y="1520"/>
              <a:chExt cx="320" cy="344"/>
            </a:xfrm>
          </p:grpSpPr>
          <p:sp>
            <p:nvSpPr>
              <p:cNvPr id="2103312" name="Oval 16">
                <a:extLst>
                  <a:ext uri="{FF2B5EF4-FFF2-40B4-BE49-F238E27FC236}">
                    <a16:creationId xmlns:a16="http://schemas.microsoft.com/office/drawing/2014/main" id="{BDC22360-B236-4E1B-8347-033502246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4" y="1520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13" name="Rectangle 17">
                <a:extLst>
                  <a:ext uri="{FF2B5EF4-FFF2-40B4-BE49-F238E27FC236}">
                    <a16:creationId xmlns:a16="http://schemas.microsoft.com/office/drawing/2014/main" id="{E10C5E29-DC21-2DB4-69AC-3595D4D20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15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4</a:t>
                </a:r>
              </a:p>
            </p:txBody>
          </p:sp>
        </p:grpSp>
        <p:grpSp>
          <p:nvGrpSpPr>
            <p:cNvPr id="2103314" name="Group 18">
              <a:extLst>
                <a:ext uri="{FF2B5EF4-FFF2-40B4-BE49-F238E27FC236}">
                  <a16:creationId xmlns:a16="http://schemas.microsoft.com/office/drawing/2014/main" id="{209FA821-F1F6-D1C7-0535-5FFBE88B3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16"/>
              <a:ext cx="320" cy="344"/>
              <a:chOff x="4416" y="2216"/>
              <a:chExt cx="320" cy="344"/>
            </a:xfrm>
          </p:grpSpPr>
          <p:sp>
            <p:nvSpPr>
              <p:cNvPr id="2103315" name="Oval 19">
                <a:extLst>
                  <a:ext uri="{FF2B5EF4-FFF2-40B4-BE49-F238E27FC236}">
                    <a16:creationId xmlns:a16="http://schemas.microsoft.com/office/drawing/2014/main" id="{7CC821A6-82CA-9996-C42C-835755CFD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2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16" name="Rectangle 20">
                <a:extLst>
                  <a:ext uri="{FF2B5EF4-FFF2-40B4-BE49-F238E27FC236}">
                    <a16:creationId xmlns:a16="http://schemas.microsoft.com/office/drawing/2014/main" id="{002EF22D-FB6D-270A-53BE-45B2FB8FA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2284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5</a:t>
                </a:r>
              </a:p>
            </p:txBody>
          </p:sp>
        </p:grpSp>
        <p:grpSp>
          <p:nvGrpSpPr>
            <p:cNvPr id="2103317" name="Group 21">
              <a:extLst>
                <a:ext uri="{FF2B5EF4-FFF2-40B4-BE49-F238E27FC236}">
                  <a16:creationId xmlns:a16="http://schemas.microsoft.com/office/drawing/2014/main" id="{327F8543-D998-891D-8906-EEA111D1A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8" y="2712"/>
              <a:ext cx="320" cy="344"/>
              <a:chOff x="4888" y="2712"/>
              <a:chExt cx="320" cy="344"/>
            </a:xfrm>
          </p:grpSpPr>
          <p:sp>
            <p:nvSpPr>
              <p:cNvPr id="2103318" name="Oval 22">
                <a:extLst>
                  <a:ext uri="{FF2B5EF4-FFF2-40B4-BE49-F238E27FC236}">
                    <a16:creationId xmlns:a16="http://schemas.microsoft.com/office/drawing/2014/main" id="{06FE986C-36D0-66CE-4140-0F578D58A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2712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3319" name="Rectangle 23">
                <a:extLst>
                  <a:ext uri="{FF2B5EF4-FFF2-40B4-BE49-F238E27FC236}">
                    <a16:creationId xmlns:a16="http://schemas.microsoft.com/office/drawing/2014/main" id="{4F47518F-611E-3844-43A8-DA1C2B59B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27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6</a:t>
                </a:r>
              </a:p>
            </p:txBody>
          </p:sp>
        </p:grpSp>
        <p:sp>
          <p:nvSpPr>
            <p:cNvPr id="2103320" name="Line 24">
              <a:extLst>
                <a:ext uri="{FF2B5EF4-FFF2-40B4-BE49-F238E27FC236}">
                  <a16:creationId xmlns:a16="http://schemas.microsoft.com/office/drawing/2014/main" id="{91153B3B-08DD-E8F1-9B90-FF9259121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176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1" name="Line 25">
              <a:extLst>
                <a:ext uri="{FF2B5EF4-FFF2-40B4-BE49-F238E27FC236}">
                  <a16:creationId xmlns:a16="http://schemas.microsoft.com/office/drawing/2014/main" id="{931D8F81-7653-B864-C731-D7FEC7C29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880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2" name="Line 26">
              <a:extLst>
                <a:ext uri="{FF2B5EF4-FFF2-40B4-BE49-F238E27FC236}">
                  <a16:creationId xmlns:a16="http://schemas.microsoft.com/office/drawing/2014/main" id="{B21C479F-5E02-0964-7724-0FBB49976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4" y="116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3" name="Line 27">
              <a:extLst>
                <a:ext uri="{FF2B5EF4-FFF2-40B4-BE49-F238E27FC236}">
                  <a16:creationId xmlns:a16="http://schemas.microsoft.com/office/drawing/2014/main" id="{8BE59523-C18A-6337-2899-37DF2C3B6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1144"/>
              <a:ext cx="552" cy="4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4" name="Line 28">
              <a:extLst>
                <a:ext uri="{FF2B5EF4-FFF2-40B4-BE49-F238E27FC236}">
                  <a16:creationId xmlns:a16="http://schemas.microsoft.com/office/drawing/2014/main" id="{0EEEB4AF-1412-A4FC-2FE2-8BF05DC4A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2536"/>
              <a:ext cx="264" cy="2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5" name="Line 29">
              <a:extLst>
                <a:ext uri="{FF2B5EF4-FFF2-40B4-BE49-F238E27FC236}">
                  <a16:creationId xmlns:a16="http://schemas.microsoft.com/office/drawing/2014/main" id="{D65D816F-1626-9CFD-1905-9075EB9EF8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4" y="1864"/>
              <a:ext cx="264" cy="8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326" name="Line 30">
              <a:extLst>
                <a:ext uri="{FF2B5EF4-FFF2-40B4-BE49-F238E27FC236}">
                  <a16:creationId xmlns:a16="http://schemas.microsoft.com/office/drawing/2014/main" id="{59466D98-69A1-5ED0-5225-719B43231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792"/>
              <a:ext cx="568" cy="488"/>
            </a:xfrm>
            <a:prstGeom prst="line">
              <a:avLst/>
            </a:prstGeom>
            <a:noFill/>
            <a:ln w="25400">
              <a:solidFill>
                <a:srgbClr val="56127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3327" name="Text Box 31">
            <a:extLst>
              <a:ext uri="{FF2B5EF4-FFF2-40B4-BE49-F238E27FC236}">
                <a16:creationId xmlns:a16="http://schemas.microsoft.com/office/drawing/2014/main" id="{4C5858A8-AD48-F2D7-1C47-CE84D112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5484813"/>
            <a:ext cx="7226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Out-of-order: 	  1 (2,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) 4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.  .  .  .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3  .  .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5 .  .  . 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6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2103331" name="Text Box 35">
            <a:extLst>
              <a:ext uri="{FF2B5EF4-FFF2-40B4-BE49-F238E27FC236}">
                <a16:creationId xmlns:a16="http://schemas.microsoft.com/office/drawing/2014/main" id="{55BD76D4-033B-A627-5650-18C3791E7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6040438"/>
            <a:ext cx="7824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800" i="1">
                <a:solidFill>
                  <a:srgbClr val="FF0000"/>
                </a:solidFill>
                <a:latin typeface="Verdana" panose="020B0604030504040204" pitchFamily="34" charset="0"/>
              </a:rPr>
              <a:t>Out-of-order execution did not allow any significant improvement!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725ABC9-B8E9-14CA-A11A-E2214B2F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500BF8-ECF1-6213-D9BA-449D926C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101C8F-FFED-C0DE-666C-EE3A5F8F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29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3327" grpId="0" autoUpdateAnimBg="0"/>
      <p:bldP spid="210333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146" name="Rectangle 2">
            <a:extLst>
              <a:ext uri="{FF2B5EF4-FFF2-40B4-BE49-F238E27FC236}">
                <a16:creationId xmlns:a16="http://schemas.microsoft.com/office/drawing/2014/main" id="{6F95247E-B46C-2FAB-3456-270D032AE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101600"/>
            <a:ext cx="7162800" cy="1143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How many Instructions can be in the pipeline</a:t>
            </a:r>
          </a:p>
        </p:txBody>
      </p:sp>
      <p:grpSp>
        <p:nvGrpSpPr>
          <p:cNvPr id="2054147" name="Group 3">
            <a:extLst>
              <a:ext uri="{FF2B5EF4-FFF2-40B4-BE49-F238E27FC236}">
                <a16:creationId xmlns:a16="http://schemas.microsoft.com/office/drawing/2014/main" id="{9B98854E-66A3-97EC-B492-7598731F5A42}"/>
              </a:ext>
            </a:extLst>
          </p:cNvPr>
          <p:cNvGrpSpPr>
            <a:grpSpLocks/>
          </p:cNvGrpSpPr>
          <p:nvPr/>
        </p:nvGrpSpPr>
        <p:grpSpPr bwMode="auto">
          <a:xfrm>
            <a:off x="760413" y="1473200"/>
            <a:ext cx="7659687" cy="3275013"/>
            <a:chOff x="487" y="1200"/>
            <a:chExt cx="4825" cy="2063"/>
          </a:xfrm>
        </p:grpSpPr>
        <p:sp>
          <p:nvSpPr>
            <p:cNvPr id="2054148" name="Rectangle 4">
              <a:extLst>
                <a:ext uri="{FF2B5EF4-FFF2-40B4-BE49-F238E27FC236}">
                  <a16:creationId xmlns:a16="http://schemas.microsoft.com/office/drawing/2014/main" id="{53494E9B-A166-F073-6410-AD067AFE8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1200"/>
              <a:ext cx="4825" cy="1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400">
                  <a:latin typeface="Verdana" panose="020B0604030504040204" pitchFamily="34" charset="0"/>
                </a:rPr>
                <a:t>Which features of an ISA limit the number of</a:t>
              </a:r>
            </a:p>
            <a:p>
              <a:pPr algn="l" eaLnBrk="0" hangingPunct="0"/>
              <a:r>
                <a:rPr lang="en-US" altLang="en-US" sz="2400">
                  <a:latin typeface="Verdana" panose="020B0604030504040204" pitchFamily="34" charset="0"/>
                </a:rPr>
                <a:t>instructions in the pipeline?</a:t>
              </a:r>
            </a:p>
            <a:p>
              <a:pPr algn="l" eaLnBrk="0" hangingPunct="0"/>
              <a:endParaRPr lang="en-US" altLang="en-US" sz="2400">
                <a:latin typeface="Verdana" panose="020B0604030504040204" pitchFamily="34" charset="0"/>
              </a:endParaRPr>
            </a:p>
            <a:p>
              <a:pPr algn="l" eaLnBrk="0" hangingPunct="0"/>
              <a:endParaRPr lang="en-US" altLang="en-US" sz="2400">
                <a:latin typeface="Verdana" panose="020B0604030504040204" pitchFamily="34" charset="0"/>
              </a:endParaRPr>
            </a:p>
            <a:p>
              <a:pPr algn="l" eaLnBrk="0" hangingPunct="0"/>
              <a:endParaRPr lang="en-US" altLang="en-US" sz="2400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2400">
                  <a:latin typeface="Verdana" panose="020B0604030504040204" pitchFamily="34" charset="0"/>
                </a:rPr>
                <a:t>Which features of a program limit the number of</a:t>
              </a:r>
            </a:p>
            <a:p>
              <a:pPr algn="l" eaLnBrk="0" hangingPunct="0"/>
              <a:r>
                <a:rPr lang="en-US" altLang="en-US" sz="2400">
                  <a:latin typeface="Verdana" panose="020B0604030504040204" pitchFamily="34" charset="0"/>
                </a:rPr>
                <a:t>instructions in the pipeline?</a:t>
              </a:r>
            </a:p>
          </p:txBody>
        </p:sp>
        <p:sp>
          <p:nvSpPr>
            <p:cNvPr id="2054149" name="Line 5">
              <a:extLst>
                <a:ext uri="{FF2B5EF4-FFF2-40B4-BE49-F238E27FC236}">
                  <a16:creationId xmlns:a16="http://schemas.microsoft.com/office/drawing/2014/main" id="{5B29422F-CB67-9730-1F58-7F1A00E74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4" y="2118"/>
              <a:ext cx="2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150" name="Line 6">
              <a:extLst>
                <a:ext uri="{FF2B5EF4-FFF2-40B4-BE49-F238E27FC236}">
                  <a16:creationId xmlns:a16="http://schemas.microsoft.com/office/drawing/2014/main" id="{5BA3A95B-E641-C11B-ABFE-7825B1AE6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3263"/>
              <a:ext cx="2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4151" name="Text Box 7">
            <a:extLst>
              <a:ext uri="{FF2B5EF4-FFF2-40B4-BE49-F238E27FC236}">
                <a16:creationId xmlns:a16="http://schemas.microsoft.com/office/drawing/2014/main" id="{99576F30-9A45-62A6-D3A6-2375A9B73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030788"/>
            <a:ext cx="8001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Out-of-order dispatch by itself does not provide any significant performance improvement !</a:t>
            </a:r>
            <a:endParaRPr lang="en-US" altLang="en-US" sz="2400" i="1">
              <a:latin typeface="Verdana" panose="020B0604030504040204" pitchFamily="34" charset="0"/>
            </a:endParaRPr>
          </a:p>
        </p:txBody>
      </p:sp>
      <p:sp>
        <p:nvSpPr>
          <p:cNvPr id="2054152" name="Text Box 8">
            <a:extLst>
              <a:ext uri="{FF2B5EF4-FFF2-40B4-BE49-F238E27FC236}">
                <a16:creationId xmlns:a16="http://schemas.microsoft.com/office/drawing/2014/main" id="{515EF3CA-FDE5-2269-BC94-96D044BD0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288" y="2363788"/>
            <a:ext cx="333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i="1">
                <a:solidFill>
                  <a:srgbClr val="FF0000"/>
                </a:solidFill>
                <a:latin typeface="Verdana" panose="020B0604030504040204" pitchFamily="34" charset="0"/>
              </a:rPr>
              <a:t>Number of Registers</a:t>
            </a:r>
          </a:p>
        </p:txBody>
      </p:sp>
      <p:sp>
        <p:nvSpPr>
          <p:cNvPr id="2054153" name="Text Box 9">
            <a:extLst>
              <a:ext uri="{FF2B5EF4-FFF2-40B4-BE49-F238E27FC236}">
                <a16:creationId xmlns:a16="http://schemas.microsoft.com/office/drawing/2014/main" id="{05C6E8A5-7B41-DCF1-1BB0-6D38BE281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4192588"/>
            <a:ext cx="276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i="1">
                <a:solidFill>
                  <a:srgbClr val="FF0000"/>
                </a:solidFill>
                <a:latin typeface="Verdana" panose="020B0604030504040204" pitchFamily="34" charset="0"/>
              </a:rPr>
              <a:t>Control transfers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D56D6F0-0D21-8A9B-17E8-3D63107B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F46884-3233-3D03-D332-9637DC5A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FFA695-D6E8-49CB-36F1-264E51E2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30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151" grpId="0" autoUpdateAnimBg="0"/>
      <p:bldP spid="2054152" grpId="0" autoUpdateAnimBg="0"/>
      <p:bldP spid="205415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170" name="Rectangle 2">
            <a:extLst>
              <a:ext uri="{FF2B5EF4-FFF2-40B4-BE49-F238E27FC236}">
                <a16:creationId xmlns:a16="http://schemas.microsoft.com/office/drawing/2014/main" id="{8C3689B0-4915-86E6-363C-90CC9AA21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15900"/>
            <a:ext cx="7175500" cy="9779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Overcoming the Lack of Register Names</a:t>
            </a:r>
          </a:p>
        </p:txBody>
      </p:sp>
      <p:sp>
        <p:nvSpPr>
          <p:cNvPr id="2055171" name="Rectangle 3">
            <a:extLst>
              <a:ext uri="{FF2B5EF4-FFF2-40B4-BE49-F238E27FC236}">
                <a16:creationId xmlns:a16="http://schemas.microsoft.com/office/drawing/2014/main" id="{233F4201-4F0A-8B89-C3BC-5CFBE9C2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1549400"/>
            <a:ext cx="8269288" cy="355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Floating Point pipelines often cannot be kept filled with small number of registers.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	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IBM 360 had only 4 Floating Point Registers</a:t>
            </a:r>
          </a:p>
          <a:p>
            <a:pPr algn="l" eaLnBrk="0" hangingPunct="0"/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Can a microarchitecture use more registers than </a:t>
            </a:r>
          </a:p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specified by the ISA without loss of ISA compatibility ?</a:t>
            </a:r>
          </a:p>
          <a:p>
            <a:pPr algn="l" eaLnBrk="0" hangingPunct="0"/>
            <a:endParaRPr lang="en-US" altLang="en-US" sz="2400" i="1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Robert Tomasulo of IBM suggested an ingenious solution in 1967 based on on-the-fly </a:t>
            </a:r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register renaming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47977E-FB40-CE18-1075-F710F318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C728B8-E712-F04A-6AED-757A78E6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AD37D4-7430-E13C-BBBC-F972DD22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31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218" name="Rectangle 2">
            <a:extLst>
              <a:ext uri="{FF2B5EF4-FFF2-40B4-BE49-F238E27FC236}">
                <a16:creationId xmlns:a16="http://schemas.microsoft.com/office/drawing/2014/main" id="{67FF4179-0BF3-6A5A-FEA3-2696EA421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139700"/>
            <a:ext cx="8407400" cy="10795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Instruction-Level Parallelism with </a:t>
            </a:r>
            <a:r>
              <a:rPr lang="en-US" altLang="en-US" i="1"/>
              <a:t>Renaming</a:t>
            </a:r>
          </a:p>
        </p:txBody>
      </p:sp>
      <p:sp>
        <p:nvSpPr>
          <p:cNvPr id="2057219" name="Rectangle 3">
            <a:extLst>
              <a:ext uri="{FF2B5EF4-FFF2-40B4-BE49-F238E27FC236}">
                <a16:creationId xmlns:a16="http://schemas.microsoft.com/office/drawing/2014/main" id="{396005D3-0E96-977D-5E78-C56369FC7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20800"/>
            <a:ext cx="62261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					        latency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	LD		F2, 	34(R2)	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	LD		F4,	45(R3)		</a:t>
            </a:r>
            <a:r>
              <a:rPr lang="en-US" altLang="en-US" sz="1800" i="1">
                <a:latin typeface="Verdana" panose="020B0604030504040204" pitchFamily="34" charset="0"/>
              </a:rPr>
              <a:t>long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	MULTD		F6,	F4,	F2	</a:t>
            </a:r>
            <a:r>
              <a:rPr lang="en-US" altLang="en-US" sz="1800" i="1">
                <a:latin typeface="Verdana" panose="020B0604030504040204" pitchFamily="34" charset="0"/>
              </a:rPr>
              <a:t>3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	SUBD		F8,	F2,	F2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	DIVD	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F4’</a:t>
            </a:r>
            <a:r>
              <a:rPr lang="en-US" altLang="en-US" sz="1800">
                <a:latin typeface="Verdana" panose="020B0604030504040204" pitchFamily="34" charset="0"/>
              </a:rPr>
              <a:t>,	F2,	F8	</a:t>
            </a:r>
            <a:r>
              <a:rPr lang="en-US" altLang="en-US" sz="1800" i="1">
                <a:latin typeface="Verdana" panose="020B0604030504040204" pitchFamily="34" charset="0"/>
              </a:rPr>
              <a:t>4</a:t>
            </a:r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6</a:t>
            </a:r>
            <a:r>
              <a:rPr lang="en-US" altLang="en-US" sz="1800">
                <a:latin typeface="Verdana" panose="020B0604030504040204" pitchFamily="34" charset="0"/>
              </a:rPr>
              <a:t>	ADDD		F10,	F6,	</a:t>
            </a:r>
            <a:r>
              <a:rPr lang="en-US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F4’</a:t>
            </a:r>
            <a:r>
              <a:rPr lang="en-US" altLang="en-US" sz="1800">
                <a:latin typeface="Verdana" panose="020B0604030504040204" pitchFamily="34" charset="0"/>
              </a:rPr>
              <a:t>	</a:t>
            </a:r>
            <a:r>
              <a:rPr lang="en-US" altLang="en-US" sz="1800" i="1"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057220" name="Rectangle 4">
            <a:extLst>
              <a:ext uri="{FF2B5EF4-FFF2-40B4-BE49-F238E27FC236}">
                <a16:creationId xmlns:a16="http://schemas.microsoft.com/office/drawing/2014/main" id="{86C301DF-3601-6356-B6D2-EA1A436F9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5027613"/>
            <a:ext cx="72231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In-order:	  1 (2,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) .  .  .  .  .  .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3 4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5 .  .  . 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 6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</a:p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Out-of-order: 	  1 (2,</a:t>
            </a:r>
            <a:r>
              <a:rPr lang="en-US" altLang="en-US" sz="1800" u="sng">
                <a:latin typeface="Verdana" panose="020B0604030504040204" pitchFamily="34" charset="0"/>
              </a:rPr>
              <a:t>1</a:t>
            </a:r>
            <a:r>
              <a:rPr lang="en-US" altLang="en-US" sz="1800">
                <a:latin typeface="Verdana" panose="020B0604030504040204" pitchFamily="34" charset="0"/>
              </a:rPr>
              <a:t>) 4 </a:t>
            </a:r>
            <a:r>
              <a:rPr lang="en-US" altLang="en-US" sz="1800" u="sng">
                <a:latin typeface="Verdana" panose="020B0604030504040204" pitchFamily="34" charset="0"/>
              </a:rPr>
              <a:t>4</a:t>
            </a:r>
            <a:r>
              <a:rPr lang="en-US" altLang="en-US" sz="1800">
                <a:latin typeface="Verdana" panose="020B0604030504040204" pitchFamily="34" charset="0"/>
              </a:rPr>
              <a:t> 5  .  .  .  </a:t>
            </a:r>
            <a:r>
              <a:rPr lang="en-US" altLang="en-US" sz="1800" u="sng">
                <a:latin typeface="Verdana" panose="020B0604030504040204" pitchFamily="34" charset="0"/>
              </a:rPr>
              <a:t>2</a:t>
            </a:r>
            <a:r>
              <a:rPr lang="en-US" altLang="en-US" sz="1800">
                <a:latin typeface="Verdana" panose="020B0604030504040204" pitchFamily="34" charset="0"/>
              </a:rPr>
              <a:t> (3,</a:t>
            </a:r>
            <a:r>
              <a:rPr lang="en-US" altLang="en-US" sz="1800" u="sng">
                <a:latin typeface="Verdana" panose="020B0604030504040204" pitchFamily="34" charset="0"/>
              </a:rPr>
              <a:t>5</a:t>
            </a:r>
            <a:r>
              <a:rPr lang="en-US" altLang="en-US" sz="1800">
                <a:latin typeface="Verdana" panose="020B0604030504040204" pitchFamily="34" charset="0"/>
              </a:rPr>
              <a:t>) </a:t>
            </a:r>
            <a:r>
              <a:rPr lang="en-US" altLang="en-US" sz="1800" u="sng">
                <a:latin typeface="Verdana" panose="020B0604030504040204" pitchFamily="34" charset="0"/>
              </a:rPr>
              <a:t>3</a:t>
            </a:r>
            <a:r>
              <a:rPr lang="en-US" altLang="en-US" sz="1800">
                <a:latin typeface="Verdana" panose="020B0604030504040204" pitchFamily="34" charset="0"/>
              </a:rPr>
              <a:t> 6 </a:t>
            </a:r>
            <a:r>
              <a:rPr lang="en-US" altLang="en-US" sz="1800" u="sng">
                <a:latin typeface="Verdana" panose="020B0604030504040204" pitchFamily="34" charset="0"/>
              </a:rPr>
              <a:t>6</a:t>
            </a:r>
            <a:endParaRPr lang="en-US" altLang="en-US" sz="1800">
              <a:latin typeface="Verdana" panose="020B0604030504040204" pitchFamily="34" charset="0"/>
            </a:endParaRPr>
          </a:p>
        </p:txBody>
      </p:sp>
      <p:grpSp>
        <p:nvGrpSpPr>
          <p:cNvPr id="2057221" name="Group 5">
            <a:extLst>
              <a:ext uri="{FF2B5EF4-FFF2-40B4-BE49-F238E27FC236}">
                <a16:creationId xmlns:a16="http://schemas.microsoft.com/office/drawing/2014/main" id="{704BA992-7F60-B69B-ABF0-D17EECFE9C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295400"/>
            <a:ext cx="1790700" cy="3556000"/>
            <a:chOff x="4416" y="816"/>
            <a:chExt cx="1128" cy="2240"/>
          </a:xfrm>
        </p:grpSpPr>
        <p:grpSp>
          <p:nvGrpSpPr>
            <p:cNvPr id="2057222" name="Group 6">
              <a:extLst>
                <a:ext uri="{FF2B5EF4-FFF2-40B4-BE49-F238E27FC236}">
                  <a16:creationId xmlns:a16="http://schemas.microsoft.com/office/drawing/2014/main" id="{CD1014CB-5914-623F-A36B-E67558267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816"/>
              <a:ext cx="320" cy="344"/>
              <a:chOff x="4416" y="816"/>
              <a:chExt cx="320" cy="344"/>
            </a:xfrm>
          </p:grpSpPr>
          <p:sp>
            <p:nvSpPr>
              <p:cNvPr id="2057223" name="Oval 7">
                <a:extLst>
                  <a:ext uri="{FF2B5EF4-FFF2-40B4-BE49-F238E27FC236}">
                    <a16:creationId xmlns:a16="http://schemas.microsoft.com/office/drawing/2014/main" id="{6EA56563-7FAE-C910-D64B-D00C31173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24" name="Rectangle 8">
                <a:extLst>
                  <a:ext uri="{FF2B5EF4-FFF2-40B4-BE49-F238E27FC236}">
                    <a16:creationId xmlns:a16="http://schemas.microsoft.com/office/drawing/2014/main" id="{CF72D191-67E8-4325-0D6F-169096580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7" y="868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057225" name="Group 9">
              <a:extLst>
                <a:ext uri="{FF2B5EF4-FFF2-40B4-BE49-F238E27FC236}">
                  <a16:creationId xmlns:a16="http://schemas.microsoft.com/office/drawing/2014/main" id="{14D2EA64-F850-CC2F-9068-4869D4181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816"/>
              <a:ext cx="320" cy="344"/>
              <a:chOff x="5224" y="816"/>
              <a:chExt cx="320" cy="344"/>
            </a:xfrm>
          </p:grpSpPr>
          <p:sp>
            <p:nvSpPr>
              <p:cNvPr id="2057226" name="Oval 10">
                <a:extLst>
                  <a:ext uri="{FF2B5EF4-FFF2-40B4-BE49-F238E27FC236}">
                    <a16:creationId xmlns:a16="http://schemas.microsoft.com/office/drawing/2014/main" id="{69471252-F8D4-DFFA-BAF2-6A31D6B2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8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27" name="Rectangle 11">
                <a:extLst>
                  <a:ext uri="{FF2B5EF4-FFF2-40B4-BE49-F238E27FC236}">
                    <a16:creationId xmlns:a16="http://schemas.microsoft.com/office/drawing/2014/main" id="{8B39A1FE-B79C-5E5F-2A97-E064964F1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" y="860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2057228" name="Group 12">
              <a:extLst>
                <a:ext uri="{FF2B5EF4-FFF2-40B4-BE49-F238E27FC236}">
                  <a16:creationId xmlns:a16="http://schemas.microsoft.com/office/drawing/2014/main" id="{281262B5-31E3-4F1A-8F6C-E03D51762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4" y="1504"/>
              <a:ext cx="320" cy="344"/>
              <a:chOff x="5224" y="1504"/>
              <a:chExt cx="320" cy="344"/>
            </a:xfrm>
          </p:grpSpPr>
          <p:sp>
            <p:nvSpPr>
              <p:cNvPr id="2057229" name="Oval 13">
                <a:extLst>
                  <a:ext uri="{FF2B5EF4-FFF2-40B4-BE49-F238E27FC236}">
                    <a16:creationId xmlns:a16="http://schemas.microsoft.com/office/drawing/2014/main" id="{E1107D98-79B6-E6ED-1790-ECC6204D7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4" y="1504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30" name="Rectangle 14">
                <a:extLst>
                  <a:ext uri="{FF2B5EF4-FFF2-40B4-BE49-F238E27FC236}">
                    <a16:creationId xmlns:a16="http://schemas.microsoft.com/office/drawing/2014/main" id="{723A8327-6380-DBA0-3A68-460147B18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3" y="1556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3</a:t>
                </a:r>
              </a:p>
            </p:txBody>
          </p:sp>
        </p:grpSp>
        <p:grpSp>
          <p:nvGrpSpPr>
            <p:cNvPr id="2057231" name="Group 15">
              <a:extLst>
                <a:ext uri="{FF2B5EF4-FFF2-40B4-BE49-F238E27FC236}">
                  <a16:creationId xmlns:a16="http://schemas.microsoft.com/office/drawing/2014/main" id="{6C4EA256-643E-7A45-5103-1BB853D108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1520"/>
              <a:ext cx="320" cy="344"/>
              <a:chOff x="4424" y="1520"/>
              <a:chExt cx="320" cy="344"/>
            </a:xfrm>
          </p:grpSpPr>
          <p:sp>
            <p:nvSpPr>
              <p:cNvPr id="2057232" name="Oval 16">
                <a:extLst>
                  <a:ext uri="{FF2B5EF4-FFF2-40B4-BE49-F238E27FC236}">
                    <a16:creationId xmlns:a16="http://schemas.microsoft.com/office/drawing/2014/main" id="{4E3E578A-50FD-5725-BF7A-2E0B619BA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4" y="1520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33" name="Rectangle 17">
                <a:extLst>
                  <a:ext uri="{FF2B5EF4-FFF2-40B4-BE49-F238E27FC236}">
                    <a16:creationId xmlns:a16="http://schemas.microsoft.com/office/drawing/2014/main" id="{DCEB62E1-E94C-AC2F-7A9E-C7C864636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15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4</a:t>
                </a:r>
              </a:p>
            </p:txBody>
          </p:sp>
        </p:grpSp>
        <p:grpSp>
          <p:nvGrpSpPr>
            <p:cNvPr id="2057234" name="Group 18">
              <a:extLst>
                <a:ext uri="{FF2B5EF4-FFF2-40B4-BE49-F238E27FC236}">
                  <a16:creationId xmlns:a16="http://schemas.microsoft.com/office/drawing/2014/main" id="{748F9BA6-FFB6-5F68-5726-650A02042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16"/>
              <a:ext cx="320" cy="344"/>
              <a:chOff x="4416" y="2216"/>
              <a:chExt cx="320" cy="344"/>
            </a:xfrm>
          </p:grpSpPr>
          <p:sp>
            <p:nvSpPr>
              <p:cNvPr id="2057235" name="Oval 19">
                <a:extLst>
                  <a:ext uri="{FF2B5EF4-FFF2-40B4-BE49-F238E27FC236}">
                    <a16:creationId xmlns:a16="http://schemas.microsoft.com/office/drawing/2014/main" id="{CD0E467B-E623-2909-C762-09E71225F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216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36" name="Rectangle 20">
                <a:extLst>
                  <a:ext uri="{FF2B5EF4-FFF2-40B4-BE49-F238E27FC236}">
                    <a16:creationId xmlns:a16="http://schemas.microsoft.com/office/drawing/2014/main" id="{8666194C-D4E8-003B-5AD2-B8C368F3B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2284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5</a:t>
                </a:r>
              </a:p>
            </p:txBody>
          </p:sp>
        </p:grpSp>
        <p:grpSp>
          <p:nvGrpSpPr>
            <p:cNvPr id="2057237" name="Group 21">
              <a:extLst>
                <a:ext uri="{FF2B5EF4-FFF2-40B4-BE49-F238E27FC236}">
                  <a16:creationId xmlns:a16="http://schemas.microsoft.com/office/drawing/2014/main" id="{FF528E0E-45F3-4763-7671-4FA8EB054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8" y="2712"/>
              <a:ext cx="320" cy="344"/>
              <a:chOff x="4888" y="2712"/>
              <a:chExt cx="320" cy="344"/>
            </a:xfrm>
          </p:grpSpPr>
          <p:sp>
            <p:nvSpPr>
              <p:cNvPr id="2057238" name="Oval 22">
                <a:extLst>
                  <a:ext uri="{FF2B5EF4-FFF2-40B4-BE49-F238E27FC236}">
                    <a16:creationId xmlns:a16="http://schemas.microsoft.com/office/drawing/2014/main" id="{F0417ECA-0AF2-FA1B-FF72-198176F3C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2712"/>
                <a:ext cx="320" cy="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239" name="Rectangle 23">
                <a:extLst>
                  <a:ext uri="{FF2B5EF4-FFF2-40B4-BE49-F238E27FC236}">
                    <a16:creationId xmlns:a16="http://schemas.microsoft.com/office/drawing/2014/main" id="{BBBD0E3B-E827-803B-7193-824FBE22B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2772"/>
                <a:ext cx="21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i="1">
                    <a:latin typeface="Verdana" panose="020B0604030504040204" pitchFamily="34" charset="0"/>
                  </a:rPr>
                  <a:t>6</a:t>
                </a:r>
              </a:p>
            </p:txBody>
          </p:sp>
        </p:grpSp>
        <p:sp>
          <p:nvSpPr>
            <p:cNvPr id="2057240" name="Line 24">
              <a:extLst>
                <a:ext uri="{FF2B5EF4-FFF2-40B4-BE49-F238E27FC236}">
                  <a16:creationId xmlns:a16="http://schemas.microsoft.com/office/drawing/2014/main" id="{AB101576-EAD2-1D3B-1303-BD087D16C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176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1" name="Line 25">
              <a:extLst>
                <a:ext uri="{FF2B5EF4-FFF2-40B4-BE49-F238E27FC236}">
                  <a16:creationId xmlns:a16="http://schemas.microsoft.com/office/drawing/2014/main" id="{CBF98997-670C-FE66-2DA3-8F4E42391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880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2" name="Line 26">
              <a:extLst>
                <a:ext uri="{FF2B5EF4-FFF2-40B4-BE49-F238E27FC236}">
                  <a16:creationId xmlns:a16="http://schemas.microsoft.com/office/drawing/2014/main" id="{982B8438-7264-6A0E-280E-03879777D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4" y="116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3" name="Line 27">
              <a:extLst>
                <a:ext uri="{FF2B5EF4-FFF2-40B4-BE49-F238E27FC236}">
                  <a16:creationId xmlns:a16="http://schemas.microsoft.com/office/drawing/2014/main" id="{BAF4F283-E4DF-4886-307D-6564536D6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1144"/>
              <a:ext cx="552" cy="4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4" name="Line 28">
              <a:extLst>
                <a:ext uri="{FF2B5EF4-FFF2-40B4-BE49-F238E27FC236}">
                  <a16:creationId xmlns:a16="http://schemas.microsoft.com/office/drawing/2014/main" id="{894435B9-6460-B3DF-2A88-B3A00E8BB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2536"/>
              <a:ext cx="264" cy="2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5" name="Line 29">
              <a:extLst>
                <a:ext uri="{FF2B5EF4-FFF2-40B4-BE49-F238E27FC236}">
                  <a16:creationId xmlns:a16="http://schemas.microsoft.com/office/drawing/2014/main" id="{15C44D0C-1A21-E38A-0A18-1072D6AEC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4" y="1864"/>
              <a:ext cx="264" cy="8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46" name="Line 30">
              <a:extLst>
                <a:ext uri="{FF2B5EF4-FFF2-40B4-BE49-F238E27FC236}">
                  <a16:creationId xmlns:a16="http://schemas.microsoft.com/office/drawing/2014/main" id="{735D8AB0-E49E-AE49-A80A-40B7400A0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792"/>
              <a:ext cx="568" cy="488"/>
            </a:xfrm>
            <a:prstGeom prst="line">
              <a:avLst/>
            </a:prstGeom>
            <a:noFill/>
            <a:ln w="25400">
              <a:solidFill>
                <a:srgbClr val="56127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7247" name="Text Box 31">
            <a:extLst>
              <a:ext uri="{FF2B5EF4-FFF2-40B4-BE49-F238E27FC236}">
                <a16:creationId xmlns:a16="http://schemas.microsoft.com/office/drawing/2014/main" id="{1077990B-8C3C-9433-483B-30989684D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2895600"/>
            <a:ext cx="4968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3600">
                <a:solidFill>
                  <a:srgbClr val="FF0000"/>
                </a:solidFill>
                <a:latin typeface="Verdana" panose="020B0604030504040204" pitchFamily="34" charset="0"/>
              </a:rPr>
              <a:t>X</a:t>
            </a:r>
          </a:p>
        </p:txBody>
      </p:sp>
      <p:sp>
        <p:nvSpPr>
          <p:cNvPr id="2057248" name="Text Box 32">
            <a:extLst>
              <a:ext uri="{FF2B5EF4-FFF2-40B4-BE49-F238E27FC236}">
                <a16:creationId xmlns:a16="http://schemas.microsoft.com/office/drawing/2014/main" id="{F564F21F-1FD0-FA63-F47C-146357259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657850"/>
            <a:ext cx="6908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Any antidependence can be eliminated by renaming.</a:t>
            </a:r>
          </a:p>
          <a:p>
            <a:pPr lvl="2" algn="l" eaLnBrk="0" hangingPunct="0"/>
            <a:r>
              <a:rPr lang="en-US" altLang="en-US" i="1">
                <a:latin typeface="Verdana" panose="020B0604030504040204" pitchFamily="34" charset="0"/>
              </a:rPr>
              <a:t> (renaming  </a:t>
            </a:r>
            <a:r>
              <a:rPr lang="en-US" altLang="en-US" i="1">
                <a:latin typeface="Symbol" panose="05050102010706020507" pitchFamily="18" charset="2"/>
              </a:rPr>
              <a:t></a:t>
            </a:r>
            <a:r>
              <a:rPr lang="en-US" altLang="en-US" i="1">
                <a:latin typeface="Verdana" panose="020B0604030504040204" pitchFamily="34" charset="0"/>
              </a:rPr>
              <a:t> additional storage)  </a:t>
            </a:r>
          </a:p>
          <a:p>
            <a:pPr lvl="2" algn="l" eaLnBrk="0" hangingPunct="0"/>
            <a:r>
              <a:rPr lang="en-US" altLang="en-US" i="1">
                <a:latin typeface="Verdana" panose="020B0604030504040204" pitchFamily="34" charset="0"/>
              </a:rPr>
              <a:t> Can it be done in hardware?</a:t>
            </a:r>
          </a:p>
        </p:txBody>
      </p:sp>
      <p:sp>
        <p:nvSpPr>
          <p:cNvPr id="2057249" name="Text Box 33">
            <a:extLst>
              <a:ext uri="{FF2B5EF4-FFF2-40B4-BE49-F238E27FC236}">
                <a16:creationId xmlns:a16="http://schemas.microsoft.com/office/drawing/2014/main" id="{A23F17A7-33DC-27E9-41C6-56B04408E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386" y="6268080"/>
            <a:ext cx="82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i="1" dirty="0">
                <a:solidFill>
                  <a:srgbClr val="FF0000"/>
                </a:solidFill>
                <a:latin typeface="Verdana" panose="020B0604030504040204" pitchFamily="34" charset="0"/>
              </a:rPr>
              <a:t>yes!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6144D3-77BC-C386-41C8-EF114CA8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8117FF9-7272-FD72-D02D-6B5C26D9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720FCD-1D98-F417-F8E9-C0E0516B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32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724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322" name="Rectangle 2">
            <a:extLst>
              <a:ext uri="{FF2B5EF4-FFF2-40B4-BE49-F238E27FC236}">
                <a16:creationId xmlns:a16="http://schemas.microsoft.com/office/drawing/2014/main" id="{9AA0F537-D694-5363-ED1A-AD2A9F06D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Register Renaming</a:t>
            </a:r>
          </a:p>
        </p:txBody>
      </p:sp>
      <p:sp>
        <p:nvSpPr>
          <p:cNvPr id="2104323" name="Rectangle 3">
            <a:extLst>
              <a:ext uri="{FF2B5EF4-FFF2-40B4-BE49-F238E27FC236}">
                <a16:creationId xmlns:a16="http://schemas.microsoft.com/office/drawing/2014/main" id="{384C2886-A4B4-DFAC-D22B-CF1564723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7925" y="3487738"/>
            <a:ext cx="7429500" cy="2921000"/>
          </a:xfrm>
        </p:spPr>
        <p:txBody>
          <a:bodyPr/>
          <a:lstStyle/>
          <a:p>
            <a:r>
              <a:rPr lang="en-US" altLang="en-US" sz="2000"/>
              <a:t>Decode does register renaming and adds instructions to the issue stage reorder buffer (ROB)</a:t>
            </a:r>
          </a:p>
          <a:p>
            <a:pPr>
              <a:buFontTx/>
              <a:buNone/>
            </a:pPr>
            <a:r>
              <a:rPr lang="en-US" altLang="en-US" sz="2000"/>
              <a:t> 	 	</a:t>
            </a:r>
            <a:r>
              <a:rPr lang="en-US" altLang="en-US" sz="2000">
                <a:latin typeface="Symbol" panose="05050102010706020507" pitchFamily="18" charset="2"/>
              </a:rPr>
              <a:t>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56127A"/>
                </a:solidFill>
              </a:rPr>
              <a:t>renaming makes WAR or WAW hazards </a:t>
            </a:r>
          </a:p>
          <a:p>
            <a:pPr>
              <a:buFontTx/>
              <a:buNone/>
            </a:pPr>
            <a:r>
              <a:rPr lang="en-US" altLang="en-US" sz="2000">
                <a:solidFill>
                  <a:srgbClr val="56127A"/>
                </a:solidFill>
              </a:rPr>
              <a:t>              impossible</a:t>
            </a:r>
          </a:p>
          <a:p>
            <a:endParaRPr lang="en-US" altLang="en-US" sz="2000"/>
          </a:p>
          <a:p>
            <a:r>
              <a:rPr lang="en-US" altLang="en-US" sz="2000"/>
              <a:t>Any instruction in ROB whose RAW hazards have  been satisfied can be dispatched. </a:t>
            </a:r>
          </a:p>
          <a:p>
            <a:pPr>
              <a:buFontTx/>
              <a:buNone/>
            </a:pPr>
            <a:r>
              <a:rPr lang="en-US" altLang="en-US" sz="2000">
                <a:latin typeface="Symbol" panose="05050102010706020507" pitchFamily="18" charset="2"/>
              </a:rPr>
              <a:t>		</a:t>
            </a:r>
            <a:r>
              <a:rPr lang="en-US" altLang="en-US" sz="2000"/>
              <a:t>  </a:t>
            </a:r>
            <a:r>
              <a:rPr lang="en-US" altLang="en-US" sz="2000">
                <a:solidFill>
                  <a:srgbClr val="56127A"/>
                </a:solidFill>
              </a:rPr>
              <a:t>Out-of-order or dataflow execution</a:t>
            </a:r>
            <a:endParaRPr lang="en-US" altLang="en-US" sz="2000"/>
          </a:p>
        </p:txBody>
      </p:sp>
      <p:grpSp>
        <p:nvGrpSpPr>
          <p:cNvPr id="2104325" name="Group 5">
            <a:extLst>
              <a:ext uri="{FF2B5EF4-FFF2-40B4-BE49-F238E27FC236}">
                <a16:creationId xmlns:a16="http://schemas.microsoft.com/office/drawing/2014/main" id="{604B1D04-514F-8067-809F-649B931D221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409700"/>
            <a:ext cx="4122738" cy="1978025"/>
            <a:chOff x="1344" y="888"/>
            <a:chExt cx="2597" cy="1246"/>
          </a:xfrm>
        </p:grpSpPr>
        <p:grpSp>
          <p:nvGrpSpPr>
            <p:cNvPr id="2104326" name="Group 6">
              <a:extLst>
                <a:ext uri="{FF2B5EF4-FFF2-40B4-BE49-F238E27FC236}">
                  <a16:creationId xmlns:a16="http://schemas.microsoft.com/office/drawing/2014/main" id="{3522D5AB-914C-BE1F-D4EF-C69D2BEFB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232"/>
              <a:ext cx="248" cy="248"/>
              <a:chOff x="1436" y="1058"/>
              <a:chExt cx="248" cy="248"/>
            </a:xfrm>
          </p:grpSpPr>
          <p:sp>
            <p:nvSpPr>
              <p:cNvPr id="2104327" name="Rectangle 7">
                <a:extLst>
                  <a:ext uri="{FF2B5EF4-FFF2-40B4-BE49-F238E27FC236}">
                    <a16:creationId xmlns:a16="http://schemas.microsoft.com/office/drawing/2014/main" id="{7E777E4E-CE3B-5A26-99A8-C383D7B27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6" y="1058"/>
                <a:ext cx="248" cy="24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4328" name="Rectangle 8">
                <a:extLst>
                  <a:ext uri="{FF2B5EF4-FFF2-40B4-BE49-F238E27FC236}">
                    <a16:creationId xmlns:a16="http://schemas.microsoft.com/office/drawing/2014/main" id="{49C0DC76-6E5C-FBDF-1714-99DDC1B4B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1109"/>
                <a:ext cx="153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46038" tIns="23812" rIns="46038" bIns="23812">
                <a:spAutoFit/>
              </a:bodyPr>
              <a:lstStyle>
                <a:lvl1pPr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2286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4572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6858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9144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13716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18288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22860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27432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hangingPunct="0"/>
                <a:r>
                  <a:rPr lang="en-US" altLang="en-US" sz="1200">
                    <a:latin typeface="Verdana" panose="020B0604030504040204" pitchFamily="34" charset="0"/>
                  </a:rPr>
                  <a:t>IF</a:t>
                </a:r>
              </a:p>
            </p:txBody>
          </p:sp>
        </p:grpSp>
        <p:sp>
          <p:nvSpPr>
            <p:cNvPr id="2104329" name="Rectangle 9">
              <a:extLst>
                <a:ext uri="{FF2B5EF4-FFF2-40B4-BE49-F238E27FC236}">
                  <a16:creationId xmlns:a16="http://schemas.microsoft.com/office/drawing/2014/main" id="{2F66B9E3-760D-6033-D4BA-E0E19AEE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1283"/>
              <a:ext cx="224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ID</a:t>
              </a:r>
            </a:p>
          </p:txBody>
        </p:sp>
        <p:sp>
          <p:nvSpPr>
            <p:cNvPr id="2104330" name="Line 10">
              <a:extLst>
                <a:ext uri="{FF2B5EF4-FFF2-40B4-BE49-F238E27FC236}">
                  <a16:creationId xmlns:a16="http://schemas.microsoft.com/office/drawing/2014/main" id="{812570FA-B3D1-D407-71DB-E8D20188D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1352"/>
              <a:ext cx="152" cy="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31" name="Rectangle 11">
              <a:extLst>
                <a:ext uri="{FF2B5EF4-FFF2-40B4-BE49-F238E27FC236}">
                  <a16:creationId xmlns:a16="http://schemas.microsoft.com/office/drawing/2014/main" id="{EFC120CC-13FF-B400-6B31-B18E54872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1240"/>
              <a:ext cx="248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32" name="Rectangle 12">
              <a:extLst>
                <a:ext uri="{FF2B5EF4-FFF2-40B4-BE49-F238E27FC236}">
                  <a16:creationId xmlns:a16="http://schemas.microsoft.com/office/drawing/2014/main" id="{F54CE99B-618B-8D72-8B1C-73B0464B5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1232"/>
              <a:ext cx="292" cy="2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04333" name="Group 13">
              <a:extLst>
                <a:ext uri="{FF2B5EF4-FFF2-40B4-BE49-F238E27FC236}">
                  <a16:creationId xmlns:a16="http://schemas.microsoft.com/office/drawing/2014/main" id="{33C65CEB-E83E-F4EE-5ACD-4332D10208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8" y="1232"/>
              <a:ext cx="248" cy="248"/>
              <a:chOff x="3564" y="1058"/>
              <a:chExt cx="248" cy="248"/>
            </a:xfrm>
          </p:grpSpPr>
          <p:sp>
            <p:nvSpPr>
              <p:cNvPr id="2104334" name="Rectangle 14">
                <a:extLst>
                  <a:ext uri="{FF2B5EF4-FFF2-40B4-BE49-F238E27FC236}">
                    <a16:creationId xmlns:a16="http://schemas.microsoft.com/office/drawing/2014/main" id="{C6AFDDF4-7624-2203-9CBE-853F1D096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4" y="1058"/>
                <a:ext cx="248" cy="24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4335" name="Rectangle 15">
                <a:extLst>
                  <a:ext uri="{FF2B5EF4-FFF2-40B4-BE49-F238E27FC236}">
                    <a16:creationId xmlns:a16="http://schemas.microsoft.com/office/drawing/2014/main" id="{B812BA9A-4E44-98CE-F4F8-CCF183972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6" y="1109"/>
                <a:ext cx="219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46038" tIns="23812" rIns="46038" bIns="23812">
                <a:spAutoFit/>
              </a:bodyPr>
              <a:lstStyle>
                <a:lvl1pPr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2286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4572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6858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914400" algn="l" defTabSz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13716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18288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22860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2743200" defTabSz="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0" hangingPunct="0"/>
                <a:r>
                  <a:rPr lang="en-US" altLang="en-US" sz="1200">
                    <a:latin typeface="Verdana" panose="020B0604030504040204" pitchFamily="34" charset="0"/>
                  </a:rPr>
                  <a:t>WB</a:t>
                </a:r>
              </a:p>
            </p:txBody>
          </p:sp>
        </p:grpSp>
        <p:sp>
          <p:nvSpPr>
            <p:cNvPr id="2104336" name="Rectangle 16">
              <a:extLst>
                <a:ext uri="{FF2B5EF4-FFF2-40B4-BE49-F238E27FC236}">
                  <a16:creationId xmlns:a16="http://schemas.microsoft.com/office/drawing/2014/main" id="{BB829D7C-469A-D009-B249-112069465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992"/>
              <a:ext cx="248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37" name="Rectangle 17">
              <a:extLst>
                <a:ext uri="{FF2B5EF4-FFF2-40B4-BE49-F238E27FC236}">
                  <a16:creationId xmlns:a16="http://schemas.microsoft.com/office/drawing/2014/main" id="{70E35F5F-956E-BAB3-4D9E-B764118A0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1043"/>
              <a:ext cx="247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ALU</a:t>
              </a:r>
            </a:p>
          </p:txBody>
        </p:sp>
        <p:sp>
          <p:nvSpPr>
            <p:cNvPr id="2104338" name="Rectangle 18">
              <a:extLst>
                <a:ext uri="{FF2B5EF4-FFF2-40B4-BE49-F238E27FC236}">
                  <a16:creationId xmlns:a16="http://schemas.microsoft.com/office/drawing/2014/main" id="{E2183E64-6AFB-8B72-0416-0F47EB1C0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992"/>
              <a:ext cx="360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39" name="Rectangle 19">
              <a:extLst>
                <a:ext uri="{FF2B5EF4-FFF2-40B4-BE49-F238E27FC236}">
                  <a16:creationId xmlns:a16="http://schemas.microsoft.com/office/drawing/2014/main" id="{23CB4481-23C5-ACEF-7B43-ABA967433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1043"/>
              <a:ext cx="289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Mem</a:t>
              </a:r>
            </a:p>
          </p:txBody>
        </p:sp>
        <p:sp>
          <p:nvSpPr>
            <p:cNvPr id="2104340" name="Rectangle 20">
              <a:extLst>
                <a:ext uri="{FF2B5EF4-FFF2-40B4-BE49-F238E27FC236}">
                  <a16:creationId xmlns:a16="http://schemas.microsoft.com/office/drawing/2014/main" id="{A5048F93-091D-4A0A-D0D3-9C0CB2DA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364"/>
              <a:ext cx="512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1" name="Rectangle 21">
              <a:extLst>
                <a:ext uri="{FF2B5EF4-FFF2-40B4-BE49-F238E27FC236}">
                  <a16:creationId xmlns:a16="http://schemas.microsoft.com/office/drawing/2014/main" id="{BE4D3FD8-9F00-80E5-2A8D-0E7503196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1415"/>
              <a:ext cx="29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Fadd</a:t>
              </a:r>
            </a:p>
          </p:txBody>
        </p:sp>
        <p:sp>
          <p:nvSpPr>
            <p:cNvPr id="2104342" name="Rectangle 22">
              <a:extLst>
                <a:ext uri="{FF2B5EF4-FFF2-40B4-BE49-F238E27FC236}">
                  <a16:creationId xmlns:a16="http://schemas.microsoft.com/office/drawing/2014/main" id="{27E3285C-FC46-8106-D8FD-6A8CE87DD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676"/>
              <a:ext cx="512" cy="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3" name="Rectangle 23">
              <a:extLst>
                <a:ext uri="{FF2B5EF4-FFF2-40B4-BE49-F238E27FC236}">
                  <a16:creationId xmlns:a16="http://schemas.microsoft.com/office/drawing/2014/main" id="{315DC181-400A-ECDD-5607-0C6BF2117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1727"/>
              <a:ext cx="293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Fmul</a:t>
              </a:r>
            </a:p>
          </p:txBody>
        </p:sp>
        <p:sp>
          <p:nvSpPr>
            <p:cNvPr id="2104344" name="Oval 24">
              <a:extLst>
                <a:ext uri="{FF2B5EF4-FFF2-40B4-BE49-F238E27FC236}">
                  <a16:creationId xmlns:a16="http://schemas.microsoft.com/office/drawing/2014/main" id="{48AD767F-D22B-F9A8-5D19-94475795C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972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5" name="Oval 25">
              <a:extLst>
                <a:ext uri="{FF2B5EF4-FFF2-40B4-BE49-F238E27FC236}">
                  <a16:creationId xmlns:a16="http://schemas.microsoft.com/office/drawing/2014/main" id="{7A49ACB6-6F4C-9EB4-56E7-E1D8B8B1B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2018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6" name="Oval 26">
              <a:extLst>
                <a:ext uri="{FF2B5EF4-FFF2-40B4-BE49-F238E27FC236}">
                  <a16:creationId xmlns:a16="http://schemas.microsoft.com/office/drawing/2014/main" id="{6AA30B9B-36CB-3CD2-C08A-398AF1354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2068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7" name="Oval 27">
              <a:extLst>
                <a:ext uri="{FF2B5EF4-FFF2-40B4-BE49-F238E27FC236}">
                  <a16:creationId xmlns:a16="http://schemas.microsoft.com/office/drawing/2014/main" id="{00141725-4E66-DA32-E4E8-1F91840BF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2114"/>
              <a:ext cx="20" cy="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48" name="Freeform 28">
              <a:extLst>
                <a:ext uri="{FF2B5EF4-FFF2-40B4-BE49-F238E27FC236}">
                  <a16:creationId xmlns:a16="http://schemas.microsoft.com/office/drawing/2014/main" id="{6A8D8E70-07E3-2AFF-7ACC-4BE93AA00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1104"/>
              <a:ext cx="201" cy="249"/>
            </a:xfrm>
            <a:custGeom>
              <a:avLst/>
              <a:gdLst>
                <a:gd name="T0" fmla="*/ 0 w 201"/>
                <a:gd name="T1" fmla="*/ 248 h 249"/>
                <a:gd name="T2" fmla="*/ 200 w 201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249">
                  <a:moveTo>
                    <a:pt x="0" y="248"/>
                  </a:moveTo>
                  <a:lnTo>
                    <a:pt x="20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49" name="Freeform 29">
              <a:extLst>
                <a:ext uri="{FF2B5EF4-FFF2-40B4-BE49-F238E27FC236}">
                  <a16:creationId xmlns:a16="http://schemas.microsoft.com/office/drawing/2014/main" id="{8FA951F9-4F80-FFF5-6819-048EBC49B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1348"/>
              <a:ext cx="201" cy="113"/>
            </a:xfrm>
            <a:custGeom>
              <a:avLst/>
              <a:gdLst>
                <a:gd name="T0" fmla="*/ 0 w 201"/>
                <a:gd name="T1" fmla="*/ 0 h 113"/>
                <a:gd name="T2" fmla="*/ 200 w 201"/>
                <a:gd name="T3" fmla="*/ 11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113">
                  <a:moveTo>
                    <a:pt x="0" y="0"/>
                  </a:moveTo>
                  <a:lnTo>
                    <a:pt x="200" y="11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0" name="Freeform 30">
              <a:extLst>
                <a:ext uri="{FF2B5EF4-FFF2-40B4-BE49-F238E27FC236}">
                  <a16:creationId xmlns:a16="http://schemas.microsoft.com/office/drawing/2014/main" id="{A566CA3F-823F-3341-2882-F96D3276D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1360"/>
              <a:ext cx="193" cy="441"/>
            </a:xfrm>
            <a:custGeom>
              <a:avLst/>
              <a:gdLst>
                <a:gd name="T0" fmla="*/ 0 w 193"/>
                <a:gd name="T1" fmla="*/ 0 h 441"/>
                <a:gd name="T2" fmla="*/ 192 w 193"/>
                <a:gd name="T3" fmla="*/ 44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3" h="441">
                  <a:moveTo>
                    <a:pt x="0" y="0"/>
                  </a:moveTo>
                  <a:lnTo>
                    <a:pt x="192" y="4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1" name="Freeform 31">
              <a:extLst>
                <a:ext uri="{FF2B5EF4-FFF2-40B4-BE49-F238E27FC236}">
                  <a16:creationId xmlns:a16="http://schemas.microsoft.com/office/drawing/2014/main" id="{D04547A1-9E64-049F-5B61-FE5142B24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1108"/>
              <a:ext cx="145" cy="149"/>
            </a:xfrm>
            <a:custGeom>
              <a:avLst/>
              <a:gdLst>
                <a:gd name="T0" fmla="*/ 144 w 145"/>
                <a:gd name="T1" fmla="*/ 148 h 149"/>
                <a:gd name="T2" fmla="*/ 0 w 145"/>
                <a:gd name="T3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49">
                  <a:moveTo>
                    <a:pt x="144" y="148"/>
                  </a:move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2" name="Freeform 32">
              <a:extLst>
                <a:ext uri="{FF2B5EF4-FFF2-40B4-BE49-F238E27FC236}">
                  <a16:creationId xmlns:a16="http://schemas.microsoft.com/office/drawing/2014/main" id="{23123DF5-E43F-7035-0DDE-593E775A8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408"/>
              <a:ext cx="385" cy="389"/>
            </a:xfrm>
            <a:custGeom>
              <a:avLst/>
              <a:gdLst>
                <a:gd name="T0" fmla="*/ 384 w 385"/>
                <a:gd name="T1" fmla="*/ 0 h 389"/>
                <a:gd name="T2" fmla="*/ 0 w 385"/>
                <a:gd name="T3" fmla="*/ 388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5" h="389">
                  <a:moveTo>
                    <a:pt x="384" y="0"/>
                  </a:moveTo>
                  <a:lnTo>
                    <a:pt x="0" y="3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3" name="Freeform 33">
              <a:extLst>
                <a:ext uri="{FF2B5EF4-FFF2-40B4-BE49-F238E27FC236}">
                  <a16:creationId xmlns:a16="http://schemas.microsoft.com/office/drawing/2014/main" id="{D06B699C-C395-9196-C099-CFA7C729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112"/>
              <a:ext cx="653" cy="197"/>
            </a:xfrm>
            <a:custGeom>
              <a:avLst/>
              <a:gdLst>
                <a:gd name="T0" fmla="*/ 0 w 653"/>
                <a:gd name="T1" fmla="*/ 0 h 197"/>
                <a:gd name="T2" fmla="*/ 48 w 653"/>
                <a:gd name="T3" fmla="*/ 0 h 197"/>
                <a:gd name="T4" fmla="*/ 48 w 653"/>
                <a:gd name="T5" fmla="*/ 196 h 197"/>
                <a:gd name="T6" fmla="*/ 652 w 653"/>
                <a:gd name="T7" fmla="*/ 19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3" h="197">
                  <a:moveTo>
                    <a:pt x="0" y="0"/>
                  </a:moveTo>
                  <a:lnTo>
                    <a:pt x="48" y="0"/>
                  </a:lnTo>
                  <a:lnTo>
                    <a:pt x="48" y="196"/>
                  </a:lnTo>
                  <a:lnTo>
                    <a:pt x="652" y="1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4" name="Line 34">
              <a:extLst>
                <a:ext uri="{FF2B5EF4-FFF2-40B4-BE49-F238E27FC236}">
                  <a16:creationId xmlns:a16="http://schemas.microsoft.com/office/drawing/2014/main" id="{7C7DDE43-FD83-25CD-964A-799191270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" y="1112"/>
              <a:ext cx="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55" name="Freeform 35">
              <a:extLst>
                <a:ext uri="{FF2B5EF4-FFF2-40B4-BE49-F238E27FC236}">
                  <a16:creationId xmlns:a16="http://schemas.microsoft.com/office/drawing/2014/main" id="{7320C1B4-F37C-473E-AFB1-1CFF60B3A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888"/>
              <a:ext cx="1633" cy="469"/>
            </a:xfrm>
            <a:custGeom>
              <a:avLst/>
              <a:gdLst>
                <a:gd name="T0" fmla="*/ 1516 w 1633"/>
                <a:gd name="T1" fmla="*/ 468 h 469"/>
                <a:gd name="T2" fmla="*/ 1632 w 1633"/>
                <a:gd name="T3" fmla="*/ 468 h 469"/>
                <a:gd name="T4" fmla="*/ 1632 w 1633"/>
                <a:gd name="T5" fmla="*/ 0 h 469"/>
                <a:gd name="T6" fmla="*/ 0 w 1633"/>
                <a:gd name="T7" fmla="*/ 0 h 469"/>
                <a:gd name="T8" fmla="*/ 0 w 1633"/>
                <a:gd name="T9" fmla="*/ 34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3" h="469">
                  <a:moveTo>
                    <a:pt x="1516" y="468"/>
                  </a:moveTo>
                  <a:lnTo>
                    <a:pt x="1632" y="468"/>
                  </a:lnTo>
                  <a:lnTo>
                    <a:pt x="1632" y="0"/>
                  </a:lnTo>
                  <a:lnTo>
                    <a:pt x="0" y="0"/>
                  </a:lnTo>
                  <a:lnTo>
                    <a:pt x="0" y="34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56" name="Rectangle 36">
              <a:extLst>
                <a:ext uri="{FF2B5EF4-FFF2-40B4-BE49-F238E27FC236}">
                  <a16:creationId xmlns:a16="http://schemas.microsoft.com/office/drawing/2014/main" id="{860355E7-3FE3-3A6E-A05B-D98AC42EF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283"/>
              <a:ext cx="33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6038" tIns="23812" rIns="46038" bIns="23812">
              <a:spAutoFit/>
            </a:bodyPr>
            <a:lstStyle>
              <a:lvl1pPr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2286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4572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6858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914400" algn="l" defTabSz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13716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18288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22860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2743200" defTabSz="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1200">
                  <a:latin typeface="Verdana" panose="020B0604030504040204" pitchFamily="34" charset="0"/>
                </a:rPr>
                <a:t>Issue</a:t>
              </a:r>
            </a:p>
          </p:txBody>
        </p:sp>
        <p:sp>
          <p:nvSpPr>
            <p:cNvPr id="2104357" name="Line 37">
              <a:extLst>
                <a:ext uri="{FF2B5EF4-FFF2-40B4-BE49-F238E27FC236}">
                  <a16:creationId xmlns:a16="http://schemas.microsoft.com/office/drawing/2014/main" id="{7F3A969A-30D0-8E43-ACD2-65184EB4C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364"/>
              <a:ext cx="148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4358" name="Freeform 38">
              <a:extLst>
                <a:ext uri="{FF2B5EF4-FFF2-40B4-BE49-F238E27FC236}">
                  <a16:creationId xmlns:a16="http://schemas.microsoft.com/office/drawing/2014/main" id="{7CE17C78-88DB-104D-8631-387C1207F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376"/>
              <a:ext cx="385" cy="129"/>
            </a:xfrm>
            <a:custGeom>
              <a:avLst/>
              <a:gdLst>
                <a:gd name="T0" fmla="*/ 384 w 385"/>
                <a:gd name="T1" fmla="*/ 0 h 129"/>
                <a:gd name="T2" fmla="*/ 0 w 385"/>
                <a:gd name="T3" fmla="*/ 1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5" h="129">
                  <a:moveTo>
                    <a:pt x="384" y="0"/>
                  </a:moveTo>
                  <a:lnTo>
                    <a:pt x="0" y="12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69858B-588B-DEE2-C3BD-C309450D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DD68673-753F-9607-B06F-B3209A32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5AB4A3-F558-F624-CB80-86300E78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33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266" name="Rectangle 2">
            <a:extLst>
              <a:ext uri="{FF2B5EF4-FFF2-40B4-BE49-F238E27FC236}">
                <a16:creationId xmlns:a16="http://schemas.microsoft.com/office/drawing/2014/main" id="{A210B302-9C05-4EEC-235D-CDD69EE80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54000"/>
            <a:ext cx="7937500" cy="10541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Renaming &amp; Out-of-order Issue</a:t>
            </a:r>
            <a:br>
              <a:rPr lang="en-US" altLang="en-US"/>
            </a:br>
            <a:r>
              <a:rPr lang="en-US" altLang="en-US" sz="2400" i="1"/>
              <a:t>An example</a:t>
            </a:r>
          </a:p>
        </p:txBody>
      </p:sp>
      <p:sp>
        <p:nvSpPr>
          <p:cNvPr id="2059267" name="Rectangle 3">
            <a:extLst>
              <a:ext uri="{FF2B5EF4-FFF2-40B4-BE49-F238E27FC236}">
                <a16:creationId xmlns:a16="http://schemas.microsoft.com/office/drawing/2014/main" id="{DA22C6A9-FDEC-12E8-FB64-5967E361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4945063"/>
            <a:ext cx="4191000" cy="130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buFontTx/>
              <a:buChar char="•"/>
            </a:pPr>
            <a:r>
              <a:rPr lang="en-US" altLang="en-US" i="1">
                <a:latin typeface="Verdana" panose="020B0604030504040204" pitchFamily="34" charset="0"/>
              </a:rPr>
              <a:t> When are names in sources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   replaced by data?</a:t>
            </a:r>
          </a:p>
          <a:p>
            <a:pPr algn="l" eaLnBrk="0" hangingPunct="0"/>
            <a:endParaRPr lang="en-US" altLang="en-US" i="1">
              <a:latin typeface="Verdana" panose="020B0604030504040204" pitchFamily="34" charset="0"/>
            </a:endParaRPr>
          </a:p>
          <a:p>
            <a:pPr algn="l" eaLnBrk="0" hangingPunct="0">
              <a:buFontTx/>
              <a:buChar char="•"/>
            </a:pPr>
            <a:r>
              <a:rPr lang="en-US" altLang="en-US" i="1">
                <a:latin typeface="Verdana" panose="020B0604030504040204" pitchFamily="34" charset="0"/>
              </a:rPr>
              <a:t> When can a name be reused?</a:t>
            </a:r>
          </a:p>
        </p:txBody>
      </p:sp>
      <p:sp>
        <p:nvSpPr>
          <p:cNvPr id="2059268" name="Rectangle 4">
            <a:extLst>
              <a:ext uri="{FF2B5EF4-FFF2-40B4-BE49-F238E27FC236}">
                <a16:creationId xmlns:a16="http://schemas.microsoft.com/office/drawing/2014/main" id="{1C818D52-8143-7FF5-B626-D1AE7F6EE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8" y="4754563"/>
            <a:ext cx="4125912" cy="17462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LD	F2, 	34(R2)</a:t>
            </a:r>
          </a:p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LD	F4,	45(R3)</a:t>
            </a:r>
          </a:p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3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MULTD	F6,	F4,	F2</a:t>
            </a:r>
          </a:p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4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SUBD	F8,	F2,	F2</a:t>
            </a:r>
          </a:p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5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DIVD	F4,	F2,	F8</a:t>
            </a:r>
          </a:p>
          <a:p>
            <a:pPr algn="l" eaLnBrk="0" hangingPunct="0"/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6</a:t>
            </a: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	ADDD	F10,	F6,	F4</a:t>
            </a:r>
          </a:p>
        </p:txBody>
      </p:sp>
      <p:grpSp>
        <p:nvGrpSpPr>
          <p:cNvPr id="2059269" name="Group 5">
            <a:extLst>
              <a:ext uri="{FF2B5EF4-FFF2-40B4-BE49-F238E27FC236}">
                <a16:creationId xmlns:a16="http://schemas.microsoft.com/office/drawing/2014/main" id="{F7E1C66B-EBD3-4D71-4E3F-277230F076ED}"/>
              </a:ext>
            </a:extLst>
          </p:cNvPr>
          <p:cNvGrpSpPr>
            <a:grpSpLocks/>
          </p:cNvGrpSpPr>
          <p:nvPr/>
        </p:nvGrpSpPr>
        <p:grpSpPr bwMode="auto">
          <a:xfrm>
            <a:off x="957263" y="1168400"/>
            <a:ext cx="7680325" cy="3457575"/>
            <a:chOff x="603" y="736"/>
            <a:chExt cx="4838" cy="2178"/>
          </a:xfrm>
        </p:grpSpPr>
        <p:sp>
          <p:nvSpPr>
            <p:cNvPr id="2059270" name="Rectangle 6">
              <a:extLst>
                <a:ext uri="{FF2B5EF4-FFF2-40B4-BE49-F238E27FC236}">
                  <a16:creationId xmlns:a16="http://schemas.microsoft.com/office/drawing/2014/main" id="{2A4E7DD6-3FD4-B43E-FAF0-BCF4E3395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736"/>
              <a:ext cx="1371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i="1">
                  <a:latin typeface="Verdana" panose="020B0604030504040204" pitchFamily="34" charset="0"/>
                </a:rPr>
                <a:t>Renaming table</a:t>
              </a:r>
            </a:p>
          </p:txBody>
        </p:sp>
        <p:sp>
          <p:nvSpPr>
            <p:cNvPr id="2059271" name="Rectangle 7">
              <a:extLst>
                <a:ext uri="{FF2B5EF4-FFF2-40B4-BE49-F238E27FC236}">
                  <a16:creationId xmlns:a16="http://schemas.microsoft.com/office/drawing/2014/main" id="{59DD2B52-75E5-33EE-3B3C-89C6E2805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36"/>
              <a:ext cx="1280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i="1">
                  <a:latin typeface="Verdana" panose="020B0604030504040204" pitchFamily="34" charset="0"/>
                </a:rPr>
                <a:t>Reorder buffer</a:t>
              </a:r>
            </a:p>
          </p:txBody>
        </p:sp>
        <p:sp>
          <p:nvSpPr>
            <p:cNvPr id="2059272" name="Rectangle 8">
              <a:extLst>
                <a:ext uri="{FF2B5EF4-FFF2-40B4-BE49-F238E27FC236}">
                  <a16:creationId xmlns:a16="http://schemas.microsoft.com/office/drawing/2014/main" id="{C4E2465B-84ED-C4C0-2161-45D642CE0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951"/>
              <a:ext cx="295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Ins# use exec   op  p1   src1   p2  src2</a:t>
              </a:r>
            </a:p>
          </p:txBody>
        </p:sp>
        <p:sp>
          <p:nvSpPr>
            <p:cNvPr id="2059273" name="Rectangle 9">
              <a:extLst>
                <a:ext uri="{FF2B5EF4-FFF2-40B4-BE49-F238E27FC236}">
                  <a16:creationId xmlns:a16="http://schemas.microsoft.com/office/drawing/2014/main" id="{0ED29ACA-FD07-8E59-D768-CBD5A3F07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9" y="1107"/>
              <a:ext cx="232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1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2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</p:txBody>
        </p:sp>
        <p:sp>
          <p:nvSpPr>
            <p:cNvPr id="2059274" name="Rectangle 10">
              <a:extLst>
                <a:ext uri="{FF2B5EF4-FFF2-40B4-BE49-F238E27FC236}">
                  <a16:creationId xmlns:a16="http://schemas.microsoft.com/office/drawing/2014/main" id="{05D43B9D-E6E1-87C4-2CC4-CDD13EEB5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" y="1164"/>
              <a:ext cx="2988" cy="17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75" name="Line 11">
              <a:extLst>
                <a:ext uri="{FF2B5EF4-FFF2-40B4-BE49-F238E27FC236}">
                  <a16:creationId xmlns:a16="http://schemas.microsoft.com/office/drawing/2014/main" id="{44BB0C79-5FE1-3216-555F-5EC76004A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" y="1179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76" name="Line 12">
              <a:extLst>
                <a:ext uri="{FF2B5EF4-FFF2-40B4-BE49-F238E27FC236}">
                  <a16:creationId xmlns:a16="http://schemas.microsoft.com/office/drawing/2014/main" id="{3C06D5C5-AF79-475B-6317-07F7EC87E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173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77" name="Line 13">
              <a:extLst>
                <a:ext uri="{FF2B5EF4-FFF2-40B4-BE49-F238E27FC236}">
                  <a16:creationId xmlns:a16="http://schemas.microsoft.com/office/drawing/2014/main" id="{4793FF5B-1F84-98BC-CA4B-5D7A18A39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3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78" name="Line 14">
              <a:extLst>
                <a:ext uri="{FF2B5EF4-FFF2-40B4-BE49-F238E27FC236}">
                  <a16:creationId xmlns:a16="http://schemas.microsoft.com/office/drawing/2014/main" id="{E3644FD3-181D-E6E2-DF85-661D90016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2" y="1162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79" name="Line 15">
              <a:extLst>
                <a:ext uri="{FF2B5EF4-FFF2-40B4-BE49-F238E27FC236}">
                  <a16:creationId xmlns:a16="http://schemas.microsoft.com/office/drawing/2014/main" id="{9F99E8AD-7788-89C0-3010-AD493A8F6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1163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9280" name="Group 16">
              <a:extLst>
                <a:ext uri="{FF2B5EF4-FFF2-40B4-BE49-F238E27FC236}">
                  <a16:creationId xmlns:a16="http://schemas.microsoft.com/office/drawing/2014/main" id="{7334B6D6-607C-81AB-61E8-79A812D896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9" y="1316"/>
              <a:ext cx="2976" cy="1392"/>
              <a:chOff x="2181" y="1347"/>
              <a:chExt cx="2976" cy="1392"/>
            </a:xfrm>
          </p:grpSpPr>
          <p:sp>
            <p:nvSpPr>
              <p:cNvPr id="2059281" name="Line 17">
                <a:extLst>
                  <a:ext uri="{FF2B5EF4-FFF2-40B4-BE49-F238E27FC236}">
                    <a16:creationId xmlns:a16="http://schemas.microsoft.com/office/drawing/2014/main" id="{94D0451F-422C-41B7-AA41-24D71F84D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" y="1347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2" name="Line 18">
                <a:extLst>
                  <a:ext uri="{FF2B5EF4-FFF2-40B4-BE49-F238E27FC236}">
                    <a16:creationId xmlns:a16="http://schemas.microsoft.com/office/drawing/2014/main" id="{C47B1679-D045-BB1C-082F-E9344B22C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" y="1523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3" name="Line 19">
                <a:extLst>
                  <a:ext uri="{FF2B5EF4-FFF2-40B4-BE49-F238E27FC236}">
                    <a16:creationId xmlns:a16="http://schemas.microsoft.com/office/drawing/2014/main" id="{9CE6778F-8235-BC81-7E1C-195901C6C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169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4" name="Line 20">
                <a:extLst>
                  <a:ext uri="{FF2B5EF4-FFF2-40B4-BE49-F238E27FC236}">
                    <a16:creationId xmlns:a16="http://schemas.microsoft.com/office/drawing/2014/main" id="{94CD88D3-6CA1-F4CF-D7D4-021559A10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" y="185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5" name="Line 21">
                <a:extLst>
                  <a:ext uri="{FF2B5EF4-FFF2-40B4-BE49-F238E27FC236}">
                    <a16:creationId xmlns:a16="http://schemas.microsoft.com/office/drawing/2014/main" id="{37ACB2C5-80E1-FA68-C053-60E9B39F1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" y="2035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6" name="Line 22">
                <a:extLst>
                  <a:ext uri="{FF2B5EF4-FFF2-40B4-BE49-F238E27FC236}">
                    <a16:creationId xmlns:a16="http://schemas.microsoft.com/office/drawing/2014/main" id="{AB2AE35E-4982-E2C3-880F-DC7CD00E3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" y="2195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7" name="Line 23">
                <a:extLst>
                  <a:ext uri="{FF2B5EF4-FFF2-40B4-BE49-F238E27FC236}">
                    <a16:creationId xmlns:a16="http://schemas.microsoft.com/office/drawing/2014/main" id="{D05816F5-1015-8455-50A3-AE8357E97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257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8" name="Line 24">
                <a:extLst>
                  <a:ext uri="{FF2B5EF4-FFF2-40B4-BE49-F238E27FC236}">
                    <a16:creationId xmlns:a16="http://schemas.microsoft.com/office/drawing/2014/main" id="{581EF702-F9D9-F930-F0CF-E6C469284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2739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289" name="Line 25">
                <a:extLst>
                  <a:ext uri="{FF2B5EF4-FFF2-40B4-BE49-F238E27FC236}">
                    <a16:creationId xmlns:a16="http://schemas.microsoft.com/office/drawing/2014/main" id="{3BC950A9-6483-48AD-EACD-CF9BB0414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5" y="2379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9290" name="Rectangle 26">
              <a:extLst>
                <a:ext uri="{FF2B5EF4-FFF2-40B4-BE49-F238E27FC236}">
                  <a16:creationId xmlns:a16="http://schemas.microsoft.com/office/drawing/2014/main" id="{E2736A6D-EC73-331F-DB96-9FE124573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2685"/>
              <a:ext cx="68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solidFill>
                    <a:schemeClr val="bg2"/>
                  </a:solidFill>
                  <a:latin typeface="Verdana" panose="020B0604030504040204" pitchFamily="34" charset="0"/>
                </a:rPr>
                <a:t>data / t</a:t>
              </a:r>
              <a:r>
                <a:rPr lang="en-US" altLang="en-US" sz="1800" baseline="-25000">
                  <a:solidFill>
                    <a:schemeClr val="bg2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2059291" name="Rectangle 27">
              <a:extLst>
                <a:ext uri="{FF2B5EF4-FFF2-40B4-BE49-F238E27FC236}">
                  <a16:creationId xmlns:a16="http://schemas.microsoft.com/office/drawing/2014/main" id="{AF287AEF-CA47-EE85-6B00-5414AD957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951"/>
              <a:ext cx="982" cy="1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     p    data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F1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F2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F3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F4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F5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F6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F7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F8</a:t>
              </a:r>
            </a:p>
          </p:txBody>
        </p:sp>
        <p:grpSp>
          <p:nvGrpSpPr>
            <p:cNvPr id="2059292" name="Group 28">
              <a:extLst>
                <a:ext uri="{FF2B5EF4-FFF2-40B4-BE49-F238E27FC236}">
                  <a16:creationId xmlns:a16="http://schemas.microsoft.com/office/drawing/2014/main" id="{D37E0173-3414-A0A1-64F6-2EFED8BDAB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3" y="1173"/>
              <a:ext cx="760" cy="1368"/>
              <a:chOff x="955" y="1204"/>
              <a:chExt cx="760" cy="1368"/>
            </a:xfrm>
          </p:grpSpPr>
          <p:grpSp>
            <p:nvGrpSpPr>
              <p:cNvPr id="2059293" name="Group 29">
                <a:extLst>
                  <a:ext uri="{FF2B5EF4-FFF2-40B4-BE49-F238E27FC236}">
                    <a16:creationId xmlns:a16="http://schemas.microsoft.com/office/drawing/2014/main" id="{670AB5AA-2044-560E-7CF5-D40E592D2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" y="1204"/>
                <a:ext cx="760" cy="1368"/>
                <a:chOff x="955" y="1204"/>
                <a:chExt cx="760" cy="1368"/>
              </a:xfrm>
            </p:grpSpPr>
            <p:sp>
              <p:nvSpPr>
                <p:cNvPr id="2059294" name="Rectangle 30">
                  <a:extLst>
                    <a:ext uri="{FF2B5EF4-FFF2-40B4-BE49-F238E27FC236}">
                      <a16:creationId xmlns:a16="http://schemas.microsoft.com/office/drawing/2014/main" id="{1E5903BB-ABE4-A6B2-E116-1BCB466D38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5" y="1204"/>
                  <a:ext cx="760" cy="136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295" name="Line 31">
                  <a:extLst>
                    <a:ext uri="{FF2B5EF4-FFF2-40B4-BE49-F238E27FC236}">
                      <a16:creationId xmlns:a16="http://schemas.microsoft.com/office/drawing/2014/main" id="{6D7DB643-9E5A-8411-0143-81DF0D50E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1368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296" name="Line 32">
                  <a:extLst>
                    <a:ext uri="{FF2B5EF4-FFF2-40B4-BE49-F238E27FC236}">
                      <a16:creationId xmlns:a16="http://schemas.microsoft.com/office/drawing/2014/main" id="{F6595B7F-19DA-E7AA-9C02-2FB4AB6BA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1540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297" name="Line 33">
                  <a:extLst>
                    <a:ext uri="{FF2B5EF4-FFF2-40B4-BE49-F238E27FC236}">
                      <a16:creationId xmlns:a16="http://schemas.microsoft.com/office/drawing/2014/main" id="{9A27CD98-67CA-B010-9EE9-856A564F7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1706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298" name="Line 34">
                  <a:extLst>
                    <a:ext uri="{FF2B5EF4-FFF2-40B4-BE49-F238E27FC236}">
                      <a16:creationId xmlns:a16="http://schemas.microsoft.com/office/drawing/2014/main" id="{B2C2C0F3-370C-2FEC-9115-B63DAA1785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1878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299" name="Line 35">
                  <a:extLst>
                    <a:ext uri="{FF2B5EF4-FFF2-40B4-BE49-F238E27FC236}">
                      <a16:creationId xmlns:a16="http://schemas.microsoft.com/office/drawing/2014/main" id="{6E0D89C1-A768-66B0-5F18-1EA642B910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2050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300" name="Line 36">
                  <a:extLst>
                    <a:ext uri="{FF2B5EF4-FFF2-40B4-BE49-F238E27FC236}">
                      <a16:creationId xmlns:a16="http://schemas.microsoft.com/office/drawing/2014/main" id="{8B22D280-82D9-1430-85CD-E33D7912A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7" y="2222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9301" name="Line 37">
                  <a:extLst>
                    <a:ext uri="{FF2B5EF4-FFF2-40B4-BE49-F238E27FC236}">
                      <a16:creationId xmlns:a16="http://schemas.microsoft.com/office/drawing/2014/main" id="{7A906315-7D32-78BA-B263-E7CAA18973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5" y="2401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059302" name="Line 38">
                <a:extLst>
                  <a:ext uri="{FF2B5EF4-FFF2-40B4-BE49-F238E27FC236}">
                    <a16:creationId xmlns:a16="http://schemas.microsoft.com/office/drawing/2014/main" id="{96EDB177-B590-8ECA-A601-5A07D1C82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5" y="1210"/>
                <a:ext cx="0" cy="13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9303" name="Freeform 39">
              <a:extLst>
                <a:ext uri="{FF2B5EF4-FFF2-40B4-BE49-F238E27FC236}">
                  <a16:creationId xmlns:a16="http://schemas.microsoft.com/office/drawing/2014/main" id="{5C6EC064-D118-3AE8-234D-38A6A4F1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296"/>
              <a:ext cx="1" cy="433"/>
            </a:xfrm>
            <a:custGeom>
              <a:avLst/>
              <a:gdLst>
                <a:gd name="T0" fmla="*/ 0 w 1"/>
                <a:gd name="T1" fmla="*/ 432 h 433"/>
                <a:gd name="T2" fmla="*/ 0 w 1"/>
                <a:gd name="T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33">
                  <a:moveTo>
                    <a:pt x="0" y="432"/>
                  </a:move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04" name="Freeform 40">
              <a:extLst>
                <a:ext uri="{FF2B5EF4-FFF2-40B4-BE49-F238E27FC236}">
                  <a16:creationId xmlns:a16="http://schemas.microsoft.com/office/drawing/2014/main" id="{CBD0332A-1FF2-78B9-9D11-663E8D1F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796"/>
              <a:ext cx="2427" cy="1"/>
            </a:xfrm>
            <a:custGeom>
              <a:avLst/>
              <a:gdLst>
                <a:gd name="T0" fmla="*/ 0 w 2427"/>
                <a:gd name="T1" fmla="*/ 0 h 1"/>
                <a:gd name="T2" fmla="*/ 2426 w 242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27" h="1">
                  <a:moveTo>
                    <a:pt x="0" y="0"/>
                  </a:moveTo>
                  <a:lnTo>
                    <a:pt x="2426" y="0"/>
                  </a:lnTo>
                </a:path>
              </a:pathLst>
            </a:custGeom>
            <a:noFill/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05" name="Line 41">
              <a:extLst>
                <a:ext uri="{FF2B5EF4-FFF2-40B4-BE49-F238E27FC236}">
                  <a16:creationId xmlns:a16="http://schemas.microsoft.com/office/drawing/2014/main" id="{EAFF3493-0283-F695-2EAC-4EDBF2C48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306" name="Line 42">
              <a:extLst>
                <a:ext uri="{FF2B5EF4-FFF2-40B4-BE49-F238E27FC236}">
                  <a16:creationId xmlns:a16="http://schemas.microsoft.com/office/drawing/2014/main" id="{A51C9574-5930-16E1-BF23-B44D84B87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8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9307" name="Text Box 43">
            <a:extLst>
              <a:ext uri="{FF2B5EF4-FFF2-40B4-BE49-F238E27FC236}">
                <a16:creationId xmlns:a16="http://schemas.microsoft.com/office/drawing/2014/main" id="{C4A9CE95-F23C-9B72-F3B3-9E5ED28C5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5534025"/>
            <a:ext cx="3790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 i="1">
                <a:solidFill>
                  <a:srgbClr val="FF0000"/>
                </a:solidFill>
                <a:latin typeface="Verdana" panose="020B0604030504040204" pitchFamily="34" charset="0"/>
              </a:rPr>
              <a:t>Whenever an FU produces data</a:t>
            </a:r>
          </a:p>
        </p:txBody>
      </p:sp>
      <p:sp>
        <p:nvSpPr>
          <p:cNvPr id="2059308" name="Text Box 44">
            <a:extLst>
              <a:ext uri="{FF2B5EF4-FFF2-40B4-BE49-F238E27FC236}">
                <a16:creationId xmlns:a16="http://schemas.microsoft.com/office/drawing/2014/main" id="{4830C822-EF5D-4646-E713-A3E44F2F8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538" y="6159500"/>
            <a:ext cx="424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 i="1">
                <a:solidFill>
                  <a:srgbClr val="FF0000"/>
                </a:solidFill>
                <a:latin typeface="Verdana" panose="020B0604030504040204" pitchFamily="34" charset="0"/>
              </a:rPr>
              <a:t>Whenever an instruction completes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ADFAE1-8E79-43C4-CB5F-93DA6AB2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EDE2B5-1052-427C-AA6F-DB5B462A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49935E-D928-7981-C35A-ACC8655C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34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9307" grpId="0" autoUpdateAnimBg="0"/>
      <p:bldP spid="205930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290" name="Rectangle 2">
            <a:extLst>
              <a:ext uri="{FF2B5EF4-FFF2-40B4-BE49-F238E27FC236}">
                <a16:creationId xmlns:a16="http://schemas.microsoft.com/office/drawing/2014/main" id="{5C6262BF-4241-A7F7-7067-47251B064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317500"/>
            <a:ext cx="7937500" cy="863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Data-Driven Execution</a:t>
            </a:r>
          </a:p>
        </p:txBody>
      </p:sp>
      <p:sp>
        <p:nvSpPr>
          <p:cNvPr id="2060291" name="Rectangle 3">
            <a:extLst>
              <a:ext uri="{FF2B5EF4-FFF2-40B4-BE49-F238E27FC236}">
                <a16:creationId xmlns:a16="http://schemas.microsoft.com/office/drawing/2014/main" id="{A17DAAD6-BBCD-6EB9-33AC-03752D829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312863"/>
            <a:ext cx="1544637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Renaming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table &amp;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reg file</a:t>
            </a:r>
          </a:p>
        </p:txBody>
      </p:sp>
      <p:sp>
        <p:nvSpPr>
          <p:cNvPr id="2060292" name="Rectangle 4">
            <a:extLst>
              <a:ext uri="{FF2B5EF4-FFF2-40B4-BE49-F238E27FC236}">
                <a16:creationId xmlns:a16="http://schemas.microsoft.com/office/drawing/2014/main" id="{D3B6E010-B51B-0A98-D1AF-5C180E91E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679700"/>
            <a:ext cx="12763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Reorder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buffer</a:t>
            </a:r>
          </a:p>
        </p:txBody>
      </p:sp>
      <p:sp>
        <p:nvSpPr>
          <p:cNvPr id="2060293" name="Rectangle 5">
            <a:extLst>
              <a:ext uri="{FF2B5EF4-FFF2-40B4-BE49-F238E27FC236}">
                <a16:creationId xmlns:a16="http://schemas.microsoft.com/office/drawing/2014/main" id="{E0C49E00-69F0-4921-0C16-B4B293194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1271588"/>
            <a:ext cx="1206500" cy="1054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4" name="Line 6">
            <a:extLst>
              <a:ext uri="{FF2B5EF4-FFF2-40B4-BE49-F238E27FC236}">
                <a16:creationId xmlns:a16="http://schemas.microsoft.com/office/drawing/2014/main" id="{F7C1D6FC-108E-1258-66EE-7E8157932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2925" y="1531938"/>
            <a:ext cx="1187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5" name="Line 7">
            <a:extLst>
              <a:ext uri="{FF2B5EF4-FFF2-40B4-BE49-F238E27FC236}">
                <a16:creationId xmlns:a16="http://schemas.microsoft.com/office/drawing/2014/main" id="{A691EB20-51B3-B0EF-39D1-45BF356F9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2925" y="2068513"/>
            <a:ext cx="1187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6" name="Line 8">
            <a:extLst>
              <a:ext uri="{FF2B5EF4-FFF2-40B4-BE49-F238E27FC236}">
                <a16:creationId xmlns:a16="http://schemas.microsoft.com/office/drawing/2014/main" id="{DEA3B059-C6BE-7161-10BE-6F885443D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2000" y="1281113"/>
            <a:ext cx="0" cy="1050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7" name="Rectangle 9">
            <a:extLst>
              <a:ext uri="{FF2B5EF4-FFF2-40B4-BE49-F238E27FC236}">
                <a16:creationId xmlns:a16="http://schemas.microsoft.com/office/drawing/2014/main" id="{E7A12DA4-49E8-C81D-3849-F2BF5E58D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4421188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8" name="Rectangle 10">
            <a:extLst>
              <a:ext uri="{FF2B5EF4-FFF2-40B4-BE49-F238E27FC236}">
                <a16:creationId xmlns:a16="http://schemas.microsoft.com/office/drawing/2014/main" id="{AAAADB01-CDC9-EC41-152B-5A194B57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5" y="4421188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299" name="Rectangle 11">
            <a:extLst>
              <a:ext uri="{FF2B5EF4-FFF2-40B4-BE49-F238E27FC236}">
                <a16:creationId xmlns:a16="http://schemas.microsoft.com/office/drawing/2014/main" id="{A0305BE3-B5E7-3CE2-F9F1-E2DD108AB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4421188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0" name="Rectangle 12">
            <a:extLst>
              <a:ext uri="{FF2B5EF4-FFF2-40B4-BE49-F238E27FC236}">
                <a16:creationId xmlns:a16="http://schemas.microsoft.com/office/drawing/2014/main" id="{4CFE2B53-B38E-0826-44C8-02CE46483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100" y="44307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1" name="Freeform 13">
            <a:extLst>
              <a:ext uri="{FF2B5EF4-FFF2-40B4-BE49-F238E27FC236}">
                <a16:creationId xmlns:a16="http://schemas.microsoft.com/office/drawing/2014/main" id="{B4F0DC3F-41B6-8F20-5FF2-9591AFC28BF1}"/>
              </a:ext>
            </a:extLst>
          </p:cNvPr>
          <p:cNvSpPr>
            <a:spLocks/>
          </p:cNvSpPr>
          <p:nvPr/>
        </p:nvSpPr>
        <p:spPr bwMode="auto">
          <a:xfrm>
            <a:off x="2136775" y="1657350"/>
            <a:ext cx="6642100" cy="3848100"/>
          </a:xfrm>
          <a:custGeom>
            <a:avLst/>
            <a:gdLst>
              <a:gd name="T0" fmla="*/ 0 w 4184"/>
              <a:gd name="T1" fmla="*/ 2424 h 2424"/>
              <a:gd name="T2" fmla="*/ 4184 w 4184"/>
              <a:gd name="T3" fmla="*/ 2424 h 2424"/>
              <a:gd name="T4" fmla="*/ 4184 w 4184"/>
              <a:gd name="T5" fmla="*/ 0 h 2424"/>
              <a:gd name="T6" fmla="*/ 1750 w 4184"/>
              <a:gd name="T7" fmla="*/ 4 h 2424"/>
              <a:gd name="T8" fmla="*/ 1334 w 4184"/>
              <a:gd name="T9" fmla="*/ 4 h 2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84" h="2424">
                <a:moveTo>
                  <a:pt x="0" y="2424"/>
                </a:moveTo>
                <a:lnTo>
                  <a:pt x="4184" y="2424"/>
                </a:lnTo>
                <a:lnTo>
                  <a:pt x="4184" y="0"/>
                </a:lnTo>
                <a:lnTo>
                  <a:pt x="1750" y="4"/>
                </a:lnTo>
                <a:lnTo>
                  <a:pt x="1334" y="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302" name="Line 14">
            <a:extLst>
              <a:ext uri="{FF2B5EF4-FFF2-40B4-BE49-F238E27FC236}">
                <a16:creationId xmlns:a16="http://schemas.microsoft.com/office/drawing/2014/main" id="{B1F4D6A2-683C-E533-4A92-EA76B9F9C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6775" y="4154488"/>
            <a:ext cx="3441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3" name="Freeform 15">
            <a:extLst>
              <a:ext uri="{FF2B5EF4-FFF2-40B4-BE49-F238E27FC236}">
                <a16:creationId xmlns:a16="http://schemas.microsoft.com/office/drawing/2014/main" id="{87C0C599-7711-D7BB-688F-0B1D39D4E8D4}"/>
              </a:ext>
            </a:extLst>
          </p:cNvPr>
          <p:cNvSpPr>
            <a:spLocks/>
          </p:cNvSpPr>
          <p:nvPr/>
        </p:nvSpPr>
        <p:spPr bwMode="auto">
          <a:xfrm>
            <a:off x="3609975" y="5167313"/>
            <a:ext cx="1588" cy="352425"/>
          </a:xfrm>
          <a:custGeom>
            <a:avLst/>
            <a:gdLst>
              <a:gd name="T0" fmla="*/ 0 w 1"/>
              <a:gd name="T1" fmla="*/ 0 h 222"/>
              <a:gd name="T2" fmla="*/ 0 w 1"/>
              <a:gd name="T3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304" name="Freeform 16">
            <a:extLst>
              <a:ext uri="{FF2B5EF4-FFF2-40B4-BE49-F238E27FC236}">
                <a16:creationId xmlns:a16="http://schemas.microsoft.com/office/drawing/2014/main" id="{B8744D17-5BDA-44D4-7E82-358DF337904E}"/>
              </a:ext>
            </a:extLst>
          </p:cNvPr>
          <p:cNvSpPr>
            <a:spLocks/>
          </p:cNvSpPr>
          <p:nvPr/>
        </p:nvSpPr>
        <p:spPr bwMode="auto">
          <a:xfrm>
            <a:off x="4765675" y="5157788"/>
            <a:ext cx="1588" cy="352425"/>
          </a:xfrm>
          <a:custGeom>
            <a:avLst/>
            <a:gdLst>
              <a:gd name="T0" fmla="*/ 0 w 1"/>
              <a:gd name="T1" fmla="*/ 0 h 222"/>
              <a:gd name="T2" fmla="*/ 0 w 1"/>
              <a:gd name="T3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305" name="Freeform 17">
            <a:extLst>
              <a:ext uri="{FF2B5EF4-FFF2-40B4-BE49-F238E27FC236}">
                <a16:creationId xmlns:a16="http://schemas.microsoft.com/office/drawing/2014/main" id="{C5444590-DE9F-9B2B-03A1-03444571EB08}"/>
              </a:ext>
            </a:extLst>
          </p:cNvPr>
          <p:cNvSpPr>
            <a:spLocks/>
          </p:cNvSpPr>
          <p:nvPr/>
        </p:nvSpPr>
        <p:spPr bwMode="auto">
          <a:xfrm>
            <a:off x="5934075" y="5157788"/>
            <a:ext cx="1588" cy="352425"/>
          </a:xfrm>
          <a:custGeom>
            <a:avLst/>
            <a:gdLst>
              <a:gd name="T0" fmla="*/ 0 w 1"/>
              <a:gd name="T1" fmla="*/ 0 h 222"/>
              <a:gd name="T2" fmla="*/ 0 w 1"/>
              <a:gd name="T3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306" name="Line 18">
            <a:extLst>
              <a:ext uri="{FF2B5EF4-FFF2-40B4-BE49-F238E27FC236}">
                <a16:creationId xmlns:a16="http://schemas.microsoft.com/office/drawing/2014/main" id="{88CA7380-C319-2CBC-661E-498135000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75" y="4002088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7" name="Line 19">
            <a:extLst>
              <a:ext uri="{FF2B5EF4-FFF2-40B4-BE49-F238E27FC236}">
                <a16:creationId xmlns:a16="http://schemas.microsoft.com/office/drawing/2014/main" id="{9011EEDB-534B-6453-9370-6C9CA3526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6288" y="38100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8" name="Line 20">
            <a:extLst>
              <a:ext uri="{FF2B5EF4-FFF2-40B4-BE49-F238E27FC236}">
                <a16:creationId xmlns:a16="http://schemas.microsoft.com/office/drawing/2014/main" id="{B0ABFF16-31ED-3767-11F4-4C08ECD7E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2488" y="3802063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09" name="Line 21">
            <a:extLst>
              <a:ext uri="{FF2B5EF4-FFF2-40B4-BE49-F238E27FC236}">
                <a16:creationId xmlns:a16="http://schemas.microsoft.com/office/drawing/2014/main" id="{7F528FFE-40A0-18E9-4C76-7724F1429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6775" y="41671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0" name="Line 22">
            <a:extLst>
              <a:ext uri="{FF2B5EF4-FFF2-40B4-BE49-F238E27FC236}">
                <a16:creationId xmlns:a16="http://schemas.microsoft.com/office/drawing/2014/main" id="{61712943-2E9C-0F1C-2888-1F76756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9675" y="400208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1" name="Line 23">
            <a:extLst>
              <a:ext uri="{FF2B5EF4-FFF2-40B4-BE49-F238E27FC236}">
                <a16:creationId xmlns:a16="http://schemas.microsoft.com/office/drawing/2014/main" id="{EBC96B6A-F4BE-1303-F0EA-A13198B0C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41671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2" name="Line 24">
            <a:extLst>
              <a:ext uri="{FF2B5EF4-FFF2-40B4-BE49-F238E27FC236}">
                <a16:creationId xmlns:a16="http://schemas.microsoft.com/office/drawing/2014/main" id="{277F583E-C540-2855-089E-BDE3C3D57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0775" y="400208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3" name="Line 25">
            <a:extLst>
              <a:ext uri="{FF2B5EF4-FFF2-40B4-BE49-F238E27FC236}">
                <a16:creationId xmlns:a16="http://schemas.microsoft.com/office/drawing/2014/main" id="{4EEC7907-DF84-2B6B-0575-6B4E7FDD5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3575" y="41671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4" name="Line 26">
            <a:extLst>
              <a:ext uri="{FF2B5EF4-FFF2-40B4-BE49-F238E27FC236}">
                <a16:creationId xmlns:a16="http://schemas.microsoft.com/office/drawing/2014/main" id="{CC5BABCB-A02E-1A88-D11F-F85AD519A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6475" y="400208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5" name="Line 27">
            <a:extLst>
              <a:ext uri="{FF2B5EF4-FFF2-40B4-BE49-F238E27FC236}">
                <a16:creationId xmlns:a16="http://schemas.microsoft.com/office/drawing/2014/main" id="{AC372659-A44B-CFA6-A6B4-FC6FC4C25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175" y="41671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16" name="Line 28">
            <a:extLst>
              <a:ext uri="{FF2B5EF4-FFF2-40B4-BE49-F238E27FC236}">
                <a16:creationId xmlns:a16="http://schemas.microsoft.com/office/drawing/2014/main" id="{1871753B-4274-DD51-5127-14C589F3D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075" y="400208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60317" name="Group 29">
            <a:extLst>
              <a:ext uri="{FF2B5EF4-FFF2-40B4-BE49-F238E27FC236}">
                <a16:creationId xmlns:a16="http://schemas.microsoft.com/office/drawing/2014/main" id="{AEC2EE07-F05B-E512-C5FD-2C27128CC30A}"/>
              </a:ext>
            </a:extLst>
          </p:cNvPr>
          <p:cNvGrpSpPr>
            <a:grpSpLocks/>
          </p:cNvGrpSpPr>
          <p:nvPr/>
        </p:nvGrpSpPr>
        <p:grpSpPr bwMode="auto">
          <a:xfrm>
            <a:off x="5899150" y="1670050"/>
            <a:ext cx="1303338" cy="760413"/>
            <a:chOff x="3482" y="656"/>
            <a:chExt cx="821" cy="887"/>
          </a:xfrm>
        </p:grpSpPr>
        <p:sp>
          <p:nvSpPr>
            <p:cNvPr id="2060318" name="Line 30">
              <a:extLst>
                <a:ext uri="{FF2B5EF4-FFF2-40B4-BE49-F238E27FC236}">
                  <a16:creationId xmlns:a16="http://schemas.microsoft.com/office/drawing/2014/main" id="{2BE15FD7-FD67-8EDA-397F-7F2270A26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" y="656"/>
              <a:ext cx="0" cy="8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319" name="Line 31">
              <a:extLst>
                <a:ext uri="{FF2B5EF4-FFF2-40B4-BE49-F238E27FC236}">
                  <a16:creationId xmlns:a16="http://schemas.microsoft.com/office/drawing/2014/main" id="{B5917A07-B575-C11E-CD8D-D90BD007A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3" y="657"/>
              <a:ext cx="0" cy="8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60320" name="Rectangle 32">
            <a:extLst>
              <a:ext uri="{FF2B5EF4-FFF2-40B4-BE49-F238E27FC236}">
                <a16:creationId xmlns:a16="http://schemas.microsoft.com/office/drawing/2014/main" id="{31739BA3-9299-596D-8D31-B19FAAF8F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471988"/>
            <a:ext cx="727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Load</a:t>
            </a:r>
          </a:p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 Unit</a:t>
            </a:r>
          </a:p>
        </p:txBody>
      </p:sp>
      <p:sp>
        <p:nvSpPr>
          <p:cNvPr id="2060321" name="Rectangle 33">
            <a:extLst>
              <a:ext uri="{FF2B5EF4-FFF2-40B4-BE49-F238E27FC236}">
                <a16:creationId xmlns:a16="http://schemas.microsoft.com/office/drawing/2014/main" id="{C0E97CF8-1D96-6A60-D736-AC69E271C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4589463"/>
            <a:ext cx="4794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FU</a:t>
            </a:r>
          </a:p>
        </p:txBody>
      </p:sp>
      <p:sp>
        <p:nvSpPr>
          <p:cNvPr id="2060322" name="Rectangle 34">
            <a:extLst>
              <a:ext uri="{FF2B5EF4-FFF2-40B4-BE49-F238E27FC236}">
                <a16:creationId xmlns:a16="http://schemas.microsoft.com/office/drawing/2014/main" id="{DD6EB269-24E1-91BC-DFEA-474294DB9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4602163"/>
            <a:ext cx="4794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FU</a:t>
            </a:r>
          </a:p>
        </p:txBody>
      </p:sp>
      <p:sp>
        <p:nvSpPr>
          <p:cNvPr id="2060323" name="Rectangle 35">
            <a:extLst>
              <a:ext uri="{FF2B5EF4-FFF2-40B4-BE49-F238E27FC236}">
                <a16:creationId xmlns:a16="http://schemas.microsoft.com/office/drawing/2014/main" id="{EA2605F5-7B6C-DA3D-57E8-7FCC1912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4475163"/>
            <a:ext cx="798512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Store</a:t>
            </a:r>
          </a:p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 Unit</a:t>
            </a:r>
          </a:p>
        </p:txBody>
      </p:sp>
      <p:sp>
        <p:nvSpPr>
          <p:cNvPr id="2060324" name="Rectangle 36">
            <a:extLst>
              <a:ext uri="{FF2B5EF4-FFF2-40B4-BE49-F238E27FC236}">
                <a16:creationId xmlns:a16="http://schemas.microsoft.com/office/drawing/2014/main" id="{E07296EB-A0D2-4EBE-112D-0C9783ACB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88" y="5168900"/>
            <a:ext cx="177641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latin typeface="Verdana" panose="020B0604030504040204" pitchFamily="34" charset="0"/>
              </a:rPr>
              <a:t>&lt; t, result &gt;</a:t>
            </a:r>
          </a:p>
        </p:txBody>
      </p:sp>
      <p:sp>
        <p:nvSpPr>
          <p:cNvPr id="2060325" name="Rectangle 37">
            <a:extLst>
              <a:ext uri="{FF2B5EF4-FFF2-40B4-BE49-F238E27FC236}">
                <a16:creationId xmlns:a16="http://schemas.microsoft.com/office/drawing/2014/main" id="{C29C074B-B7AF-AE2D-5D93-CB76E5F7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2392363"/>
            <a:ext cx="4611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600">
                <a:latin typeface="Verdana" panose="020B0604030504040204" pitchFamily="34" charset="0"/>
              </a:rPr>
              <a:t>Ins#  use  exec   op    p1    src1   p2   src2</a:t>
            </a:r>
          </a:p>
        </p:txBody>
      </p:sp>
      <p:sp>
        <p:nvSpPr>
          <p:cNvPr id="2060326" name="Rectangle 38">
            <a:extLst>
              <a:ext uri="{FF2B5EF4-FFF2-40B4-BE49-F238E27FC236}">
                <a16:creationId xmlns:a16="http://schemas.microsoft.com/office/drawing/2014/main" id="{E65F07CF-9C36-6E28-DB2F-5998CB933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2374900"/>
            <a:ext cx="368300" cy="146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1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2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n</a:t>
            </a:r>
          </a:p>
        </p:txBody>
      </p:sp>
      <p:sp>
        <p:nvSpPr>
          <p:cNvPr id="2060327" name="Rectangle 39">
            <a:extLst>
              <a:ext uri="{FF2B5EF4-FFF2-40B4-BE49-F238E27FC236}">
                <a16:creationId xmlns:a16="http://schemas.microsoft.com/office/drawing/2014/main" id="{684376E1-9095-B16D-7978-D43D6F8D7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2465388"/>
            <a:ext cx="4743450" cy="13160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28" name="Line 40">
            <a:extLst>
              <a:ext uri="{FF2B5EF4-FFF2-40B4-BE49-F238E27FC236}">
                <a16:creationId xmlns:a16="http://schemas.microsoft.com/office/drawing/2014/main" id="{1D8DD4E9-43BF-9CCC-FAEF-CD681B8D3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706688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29" name="Line 41">
            <a:extLst>
              <a:ext uri="{FF2B5EF4-FFF2-40B4-BE49-F238E27FC236}">
                <a16:creationId xmlns:a16="http://schemas.microsoft.com/office/drawing/2014/main" id="{6B242866-5298-E48F-512A-FE8C1E3AF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986088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0" name="Line 42">
            <a:extLst>
              <a:ext uri="{FF2B5EF4-FFF2-40B4-BE49-F238E27FC236}">
                <a16:creationId xmlns:a16="http://schemas.microsoft.com/office/drawing/2014/main" id="{DA83949F-470A-1EE8-220B-EFFB864CC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75" y="3252788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1" name="Line 43">
            <a:extLst>
              <a:ext uri="{FF2B5EF4-FFF2-40B4-BE49-F238E27FC236}">
                <a16:creationId xmlns:a16="http://schemas.microsoft.com/office/drawing/2014/main" id="{088EEF4F-8EF6-1675-1E36-86CEFD01D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3506788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2" name="Line 44">
            <a:extLst>
              <a:ext uri="{FF2B5EF4-FFF2-40B4-BE49-F238E27FC236}">
                <a16:creationId xmlns:a16="http://schemas.microsoft.com/office/drawing/2014/main" id="{549D338C-149F-8227-3F3D-5503F36AE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163" y="2478088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3" name="Line 45">
            <a:extLst>
              <a:ext uri="{FF2B5EF4-FFF2-40B4-BE49-F238E27FC236}">
                <a16:creationId xmlns:a16="http://schemas.microsoft.com/office/drawing/2014/main" id="{A9F5CE63-B9F3-96A7-3FE9-9B4E315E9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0363" y="2473325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4" name="Line 46">
            <a:extLst>
              <a:ext uri="{FF2B5EF4-FFF2-40B4-BE49-F238E27FC236}">
                <a16:creationId xmlns:a16="http://schemas.microsoft.com/office/drawing/2014/main" id="{F47CDDEA-DCF9-AB82-8C08-6E3F6A06C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4475" y="2468563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5" name="Line 47">
            <a:extLst>
              <a:ext uri="{FF2B5EF4-FFF2-40B4-BE49-F238E27FC236}">
                <a16:creationId xmlns:a16="http://schemas.microsoft.com/office/drawing/2014/main" id="{70603D06-DD6D-2A48-066B-021B8B364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5950" y="2471738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6" name="Line 48">
            <a:extLst>
              <a:ext uri="{FF2B5EF4-FFF2-40B4-BE49-F238E27FC236}">
                <a16:creationId xmlns:a16="http://schemas.microsoft.com/office/drawing/2014/main" id="{E79C97EE-8FE4-2422-8959-272BF7FBD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1813" y="2462213"/>
            <a:ext cx="0" cy="1287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7" name="Line 49">
            <a:extLst>
              <a:ext uri="{FF2B5EF4-FFF2-40B4-BE49-F238E27FC236}">
                <a16:creationId xmlns:a16="http://schemas.microsoft.com/office/drawing/2014/main" id="{0AF0A687-5FCC-024C-ADE4-826F1722B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2479675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8" name="Line 50">
            <a:extLst>
              <a:ext uri="{FF2B5EF4-FFF2-40B4-BE49-F238E27FC236}">
                <a16:creationId xmlns:a16="http://schemas.microsoft.com/office/drawing/2014/main" id="{0F10E2F1-65E5-6DE7-651D-7A3978BF8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2468563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339" name="Rectangle 51">
            <a:extLst>
              <a:ext uri="{FF2B5EF4-FFF2-40B4-BE49-F238E27FC236}">
                <a16:creationId xmlns:a16="http://schemas.microsoft.com/office/drawing/2014/main" id="{35E43AB9-C12D-E724-1CE6-F09DC1C84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5621338"/>
            <a:ext cx="7250112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buFontTx/>
              <a:buChar char="•"/>
            </a:pPr>
            <a:r>
              <a:rPr lang="en-US" altLang="en-US">
                <a:latin typeface="Verdana" panose="020B0604030504040204" pitchFamily="34" charset="0"/>
              </a:rPr>
              <a:t> Instruction template (i.e., tag t) is allocated by the </a:t>
            </a:r>
          </a:p>
          <a:p>
            <a:pPr algn="l" eaLnBrk="0" hangingPunct="0"/>
            <a:r>
              <a:rPr lang="en-US" altLang="en-US">
                <a:latin typeface="Verdana" panose="020B0604030504040204" pitchFamily="34" charset="0"/>
              </a:rPr>
              <a:t>  Decode stage, which also stores the tag in the reg file</a:t>
            </a:r>
          </a:p>
          <a:p>
            <a:pPr algn="l" eaLnBrk="0" hangingPunct="0">
              <a:buFontTx/>
              <a:buChar char="•"/>
            </a:pPr>
            <a:r>
              <a:rPr lang="en-US" altLang="en-US">
                <a:latin typeface="Verdana" panose="020B0604030504040204" pitchFamily="34" charset="0"/>
              </a:rPr>
              <a:t> When an instruction completes, its tag is deallocated</a:t>
            </a:r>
          </a:p>
        </p:txBody>
      </p:sp>
      <p:sp>
        <p:nvSpPr>
          <p:cNvPr id="2060340" name="Text Box 52">
            <a:extLst>
              <a:ext uri="{FF2B5EF4-FFF2-40B4-BE49-F238E27FC236}">
                <a16:creationId xmlns:a16="http://schemas.microsoft.com/office/drawing/2014/main" id="{18C71942-E2C2-B3AA-DFA8-1E508033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992563"/>
            <a:ext cx="2249488" cy="1320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Replacing the 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tag by its value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is an expensive 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operation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8FAACA0-7603-61B1-F87C-6DB78B1D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2CAB8B-BF3A-CB4F-AB44-2000147D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6D0639-90E6-A9B3-831F-FF2D2FAB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35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3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314" name="Rectangle 2">
            <a:extLst>
              <a:ext uri="{FF2B5EF4-FFF2-40B4-BE49-F238E27FC236}">
                <a16:creationId xmlns:a16="http://schemas.microsoft.com/office/drawing/2014/main" id="{F27E4879-8607-D80C-614C-2D0DF4FE9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Dataflow execution</a:t>
            </a:r>
          </a:p>
        </p:txBody>
      </p:sp>
      <p:sp>
        <p:nvSpPr>
          <p:cNvPr id="2061315" name="Rectangle 3">
            <a:extLst>
              <a:ext uri="{FF2B5EF4-FFF2-40B4-BE49-F238E27FC236}">
                <a16:creationId xmlns:a16="http://schemas.microsoft.com/office/drawing/2014/main" id="{02E4AC16-2ED2-3B80-88AF-2A05A441A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5334000"/>
            <a:ext cx="790575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Instruction slot is candidate for execution when: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It holds a valid instruction (“use” bit is set)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It has not already started execution (“exec” bit is clear)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Both operands are availble (p1 and p2 are set)</a:t>
            </a:r>
          </a:p>
        </p:txBody>
      </p:sp>
      <p:sp>
        <p:nvSpPr>
          <p:cNvPr id="2061316" name="Rectangle 4">
            <a:extLst>
              <a:ext uri="{FF2B5EF4-FFF2-40B4-BE49-F238E27FC236}">
                <a16:creationId xmlns:a16="http://schemas.microsoft.com/office/drawing/2014/main" id="{6C61C4CD-91DA-E6AD-60EA-D9BD772AB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963" y="4557713"/>
            <a:ext cx="24114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Reorder buffer</a:t>
            </a:r>
          </a:p>
        </p:txBody>
      </p:sp>
      <p:sp>
        <p:nvSpPr>
          <p:cNvPr id="2061317" name="Rectangle 5">
            <a:extLst>
              <a:ext uri="{FF2B5EF4-FFF2-40B4-BE49-F238E27FC236}">
                <a16:creationId xmlns:a16="http://schemas.microsoft.com/office/drawing/2014/main" id="{535181AA-79EC-B90F-F023-C1F69F550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1925638"/>
            <a:ext cx="368300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1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2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n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latinLnBrk="1" hangingPunct="0"/>
            <a:endParaRPr lang="en-US" altLang="en-US" sz="1800" i="1">
              <a:latin typeface="Verdana" panose="020B0604030504040204" pitchFamily="34" charset="0"/>
            </a:endParaRPr>
          </a:p>
        </p:txBody>
      </p:sp>
      <p:grpSp>
        <p:nvGrpSpPr>
          <p:cNvPr id="2061318" name="Group 6">
            <a:extLst>
              <a:ext uri="{FF2B5EF4-FFF2-40B4-BE49-F238E27FC236}">
                <a16:creationId xmlns:a16="http://schemas.microsoft.com/office/drawing/2014/main" id="{A77E66D2-0356-61DE-F329-A9C3CA28E7AC}"/>
              </a:ext>
            </a:extLst>
          </p:cNvPr>
          <p:cNvGrpSpPr>
            <a:grpSpLocks/>
          </p:cNvGrpSpPr>
          <p:nvPr/>
        </p:nvGrpSpPr>
        <p:grpSpPr bwMode="auto">
          <a:xfrm>
            <a:off x="782638" y="1333500"/>
            <a:ext cx="6810375" cy="3381375"/>
            <a:chOff x="469" y="992"/>
            <a:chExt cx="4290" cy="2130"/>
          </a:xfrm>
        </p:grpSpPr>
        <p:sp>
          <p:nvSpPr>
            <p:cNvPr id="2061319" name="Rectangle 7">
              <a:extLst>
                <a:ext uri="{FF2B5EF4-FFF2-40B4-BE49-F238E27FC236}">
                  <a16:creationId xmlns:a16="http://schemas.microsoft.com/office/drawing/2014/main" id="{E2D8E771-CAC3-6A44-F3C2-966AE7FB4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" y="1568"/>
              <a:ext cx="3016" cy="1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0" name="Line 8">
              <a:extLst>
                <a:ext uri="{FF2B5EF4-FFF2-40B4-BE49-F238E27FC236}">
                  <a16:creationId xmlns:a16="http://schemas.microsoft.com/office/drawing/2014/main" id="{53CBBE89-A70A-650B-7DF5-690CCC740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5" y="1644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1" name="Line 9">
              <a:extLst>
                <a:ext uri="{FF2B5EF4-FFF2-40B4-BE49-F238E27FC236}">
                  <a16:creationId xmlns:a16="http://schemas.microsoft.com/office/drawing/2014/main" id="{E41C8D22-C896-71BD-3301-0CA730A56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4" y="2669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2" name="Rectangle 10">
              <a:extLst>
                <a:ext uri="{FF2B5EF4-FFF2-40B4-BE49-F238E27FC236}">
                  <a16:creationId xmlns:a16="http://schemas.microsoft.com/office/drawing/2014/main" id="{38F6B5E6-975D-B3EC-75C5-A622A23F1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1514"/>
              <a:ext cx="927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ptr</a:t>
              </a:r>
              <a:r>
                <a:rPr lang="en-US" altLang="en-US" baseline="-25000">
                  <a:latin typeface="Verdana" panose="020B0604030504040204" pitchFamily="34" charset="0"/>
                </a:rPr>
                <a:t>2</a:t>
              </a:r>
              <a:r>
                <a:rPr lang="en-US" altLang="en-US">
                  <a:latin typeface="Verdana" panose="020B0604030504040204" pitchFamily="34" charset="0"/>
                </a:rPr>
                <a:t> 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next to 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deallocate</a:t>
              </a:r>
            </a:p>
          </p:txBody>
        </p:sp>
        <p:sp>
          <p:nvSpPr>
            <p:cNvPr id="2061323" name="Rectangle 11">
              <a:extLst>
                <a:ext uri="{FF2B5EF4-FFF2-40B4-BE49-F238E27FC236}">
                  <a16:creationId xmlns:a16="http://schemas.microsoft.com/office/drawing/2014/main" id="{E0597B89-836D-C301-40BE-7CB667B71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2490"/>
              <a:ext cx="987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	prt</a:t>
              </a:r>
              <a:r>
                <a:rPr lang="en-US" altLang="en-US" baseline="-25000">
                  <a:latin typeface="Verdana" panose="020B0604030504040204" pitchFamily="34" charset="0"/>
                </a:rPr>
                <a:t>1</a:t>
              </a:r>
              <a:endParaRPr lang="en-US" altLang="en-US">
                <a:latin typeface="Verdana" panose="020B0604030504040204" pitchFamily="34" charset="0"/>
              </a:endParaRP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next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available</a:t>
              </a:r>
            </a:p>
          </p:txBody>
        </p:sp>
        <p:sp>
          <p:nvSpPr>
            <p:cNvPr id="2061324" name="Rectangle 12">
              <a:extLst>
                <a:ext uri="{FF2B5EF4-FFF2-40B4-BE49-F238E27FC236}">
                  <a16:creationId xmlns:a16="http://schemas.microsoft.com/office/drawing/2014/main" id="{2C220D76-B360-44F8-0AA2-E5FF899E8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" y="992"/>
              <a:ext cx="295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Ins#   use exec   op   p1     src1   p2    src2</a:t>
              </a:r>
            </a:p>
          </p:txBody>
        </p:sp>
        <p:sp>
          <p:nvSpPr>
            <p:cNvPr id="2061325" name="Line 13">
              <a:extLst>
                <a:ext uri="{FF2B5EF4-FFF2-40B4-BE49-F238E27FC236}">
                  <a16:creationId xmlns:a16="http://schemas.microsoft.com/office/drawing/2014/main" id="{1B1E2C7E-BEFF-588E-D387-E0B6F129E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" y="1245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6" name="Line 14">
              <a:extLst>
                <a:ext uri="{FF2B5EF4-FFF2-40B4-BE49-F238E27FC236}">
                  <a16:creationId xmlns:a16="http://schemas.microsoft.com/office/drawing/2014/main" id="{8F63A325-6AB8-913F-8232-E3D04FD89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3" y="1239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7" name="Line 15">
              <a:extLst>
                <a:ext uri="{FF2B5EF4-FFF2-40B4-BE49-F238E27FC236}">
                  <a16:creationId xmlns:a16="http://schemas.microsoft.com/office/drawing/2014/main" id="{26ADF93A-123D-5FE0-437F-1B33FDFF1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8" name="Line 16">
              <a:extLst>
                <a:ext uri="{FF2B5EF4-FFF2-40B4-BE49-F238E27FC236}">
                  <a16:creationId xmlns:a16="http://schemas.microsoft.com/office/drawing/2014/main" id="{832876E3-C987-074B-F9D9-1189DCC95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9" y="1228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29" name="Line 17">
              <a:extLst>
                <a:ext uri="{FF2B5EF4-FFF2-40B4-BE49-F238E27FC236}">
                  <a16:creationId xmlns:a16="http://schemas.microsoft.com/office/drawing/2014/main" id="{6F05E208-3F25-0B5A-130E-C7E63CE94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1229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30" name="Line 18">
              <a:extLst>
                <a:ext uri="{FF2B5EF4-FFF2-40B4-BE49-F238E27FC236}">
                  <a16:creationId xmlns:a16="http://schemas.microsoft.com/office/drawing/2014/main" id="{924EB296-2D9D-F7EA-1163-2EC72CA85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331" name="Line 19">
              <a:extLst>
                <a:ext uri="{FF2B5EF4-FFF2-40B4-BE49-F238E27FC236}">
                  <a16:creationId xmlns:a16="http://schemas.microsoft.com/office/drawing/2014/main" id="{3E7E6ACE-BBDB-0FBB-2E26-CB2B3F518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61332" name="Group 20">
              <a:extLst>
                <a:ext uri="{FF2B5EF4-FFF2-40B4-BE49-F238E27FC236}">
                  <a16:creationId xmlns:a16="http://schemas.microsoft.com/office/drawing/2014/main" id="{8009ED2C-270F-6CA8-2A0B-DF9F77D0F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1382"/>
              <a:ext cx="3010" cy="1392"/>
              <a:chOff x="1736" y="1382"/>
              <a:chExt cx="3010" cy="1392"/>
            </a:xfrm>
          </p:grpSpPr>
          <p:sp>
            <p:nvSpPr>
              <p:cNvPr id="2061333" name="Line 21">
                <a:extLst>
                  <a:ext uri="{FF2B5EF4-FFF2-40B4-BE49-F238E27FC236}">
                    <a16:creationId xmlns:a16="http://schemas.microsoft.com/office/drawing/2014/main" id="{C9473076-4C80-A26C-6038-62FC5FF5A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382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4" name="Line 22">
                <a:extLst>
                  <a:ext uri="{FF2B5EF4-FFF2-40B4-BE49-F238E27FC236}">
                    <a16:creationId xmlns:a16="http://schemas.microsoft.com/office/drawing/2014/main" id="{E3EBE1F4-5F63-8102-E24B-611547EC12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558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5" name="Line 23">
                <a:extLst>
                  <a:ext uri="{FF2B5EF4-FFF2-40B4-BE49-F238E27FC236}">
                    <a16:creationId xmlns:a16="http://schemas.microsoft.com/office/drawing/2014/main" id="{F760B945-A72A-2437-C53A-C903719F5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172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6" name="Line 24">
                <a:extLst>
                  <a:ext uri="{FF2B5EF4-FFF2-40B4-BE49-F238E27FC236}">
                    <a16:creationId xmlns:a16="http://schemas.microsoft.com/office/drawing/2014/main" id="{71DA1FD8-19E0-856C-81AD-1BA7C6723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88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7" name="Line 25">
                <a:extLst>
                  <a:ext uri="{FF2B5EF4-FFF2-40B4-BE49-F238E27FC236}">
                    <a16:creationId xmlns:a16="http://schemas.microsoft.com/office/drawing/2014/main" id="{E552C197-B781-B1F6-5D4C-CCD379B32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070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8" name="Line 26">
                <a:extLst>
                  <a:ext uri="{FF2B5EF4-FFF2-40B4-BE49-F238E27FC236}">
                    <a16:creationId xmlns:a16="http://schemas.microsoft.com/office/drawing/2014/main" id="{9C775DC5-17B1-C7F8-36BA-6DB97583B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230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39" name="Line 27">
                <a:extLst>
                  <a:ext uri="{FF2B5EF4-FFF2-40B4-BE49-F238E27FC236}">
                    <a16:creationId xmlns:a16="http://schemas.microsoft.com/office/drawing/2014/main" id="{B1309B18-7F1F-071E-D72F-FECB80E3C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260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40" name="Line 28">
                <a:extLst>
                  <a:ext uri="{FF2B5EF4-FFF2-40B4-BE49-F238E27FC236}">
                    <a16:creationId xmlns:a16="http://schemas.microsoft.com/office/drawing/2014/main" id="{C8F56A83-F30A-6A52-26B4-D39739C82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2774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1341" name="Line 29">
                <a:extLst>
                  <a:ext uri="{FF2B5EF4-FFF2-40B4-BE49-F238E27FC236}">
                    <a16:creationId xmlns:a16="http://schemas.microsoft.com/office/drawing/2014/main" id="{2C38C9D8-D883-37BD-F581-69DD07A92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2414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61342" name="Rectangle 30">
              <a:extLst>
                <a:ext uri="{FF2B5EF4-FFF2-40B4-BE49-F238E27FC236}">
                  <a16:creationId xmlns:a16="http://schemas.microsoft.com/office/drawing/2014/main" id="{6514BC53-7543-155E-8840-78590F1EF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1230"/>
              <a:ext cx="3022" cy="17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751DE3E-F224-2F84-A573-A0DF48EE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3C9FE8F-2A21-A3AA-6006-57C20ADB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5619C24-494D-4791-B936-8CFBBF89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36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346" name="Rectangle 2">
            <a:extLst>
              <a:ext uri="{FF2B5EF4-FFF2-40B4-BE49-F238E27FC236}">
                <a16:creationId xmlns:a16="http://schemas.microsoft.com/office/drawing/2014/main" id="{C7691259-E537-48F2-5702-6EF56610D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Simplifying Allocation/Deallocation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439F22-FED7-992D-4738-F6115C35F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05347" name="Rectangle 3">
            <a:extLst>
              <a:ext uri="{FF2B5EF4-FFF2-40B4-BE49-F238E27FC236}">
                <a16:creationId xmlns:a16="http://schemas.microsoft.com/office/drawing/2014/main" id="{D7CC21C3-5B5C-909F-B546-ED0FDA87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5334000"/>
            <a:ext cx="8226425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Instruction buffer is managed circularly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“exec” bit is set when instruction begins execution 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When an instruction completes its “use” bit is marked free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ptr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is incremented only if the “use” bit is marked free</a:t>
            </a:r>
          </a:p>
        </p:txBody>
      </p:sp>
      <p:sp>
        <p:nvSpPr>
          <p:cNvPr id="2105348" name="Rectangle 4">
            <a:extLst>
              <a:ext uri="{FF2B5EF4-FFF2-40B4-BE49-F238E27FC236}">
                <a16:creationId xmlns:a16="http://schemas.microsoft.com/office/drawing/2014/main" id="{11279853-7854-420F-DF31-95A124C9B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963" y="4557713"/>
            <a:ext cx="24114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Reorder buffer</a:t>
            </a:r>
          </a:p>
        </p:txBody>
      </p:sp>
      <p:sp>
        <p:nvSpPr>
          <p:cNvPr id="2105349" name="Rectangle 5">
            <a:extLst>
              <a:ext uri="{FF2B5EF4-FFF2-40B4-BE49-F238E27FC236}">
                <a16:creationId xmlns:a16="http://schemas.microsoft.com/office/drawing/2014/main" id="{F4EA9533-146F-7360-25EB-1EF6067BB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1925638"/>
            <a:ext cx="368300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1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2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.</a:t>
            </a: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endParaRPr lang="en-US" altLang="en-US" sz="1800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1800" i="1">
                <a:latin typeface="Verdana" panose="020B0604030504040204" pitchFamily="34" charset="0"/>
              </a:rPr>
              <a:t>t</a:t>
            </a:r>
            <a:r>
              <a:rPr lang="en-US" altLang="en-US" sz="1800" i="1" baseline="-25000">
                <a:latin typeface="Verdana" panose="020B0604030504040204" pitchFamily="34" charset="0"/>
              </a:rPr>
              <a:t>n</a:t>
            </a:r>
            <a:endParaRPr lang="en-US" altLang="en-US" sz="1800" i="1">
              <a:latin typeface="Verdana" panose="020B0604030504040204" pitchFamily="34" charset="0"/>
            </a:endParaRPr>
          </a:p>
          <a:p>
            <a:pPr algn="l" eaLnBrk="0" latinLnBrk="1" hangingPunct="0"/>
            <a:endParaRPr lang="en-US" altLang="en-US" sz="1800" i="1">
              <a:latin typeface="Verdana" panose="020B0604030504040204" pitchFamily="34" charset="0"/>
            </a:endParaRPr>
          </a:p>
        </p:txBody>
      </p:sp>
      <p:grpSp>
        <p:nvGrpSpPr>
          <p:cNvPr id="2105350" name="Group 6">
            <a:extLst>
              <a:ext uri="{FF2B5EF4-FFF2-40B4-BE49-F238E27FC236}">
                <a16:creationId xmlns:a16="http://schemas.microsoft.com/office/drawing/2014/main" id="{4CE5E377-0B7E-5436-572C-38AB991A1EB2}"/>
              </a:ext>
            </a:extLst>
          </p:cNvPr>
          <p:cNvGrpSpPr>
            <a:grpSpLocks/>
          </p:cNvGrpSpPr>
          <p:nvPr/>
        </p:nvGrpSpPr>
        <p:grpSpPr bwMode="auto">
          <a:xfrm>
            <a:off x="782638" y="1333500"/>
            <a:ext cx="6810375" cy="3381375"/>
            <a:chOff x="469" y="992"/>
            <a:chExt cx="4290" cy="2130"/>
          </a:xfrm>
        </p:grpSpPr>
        <p:sp>
          <p:nvSpPr>
            <p:cNvPr id="2105351" name="Rectangle 7">
              <a:extLst>
                <a:ext uri="{FF2B5EF4-FFF2-40B4-BE49-F238E27FC236}">
                  <a16:creationId xmlns:a16="http://schemas.microsoft.com/office/drawing/2014/main" id="{1618C9E5-8A4B-C122-B30E-2B5E67D31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" y="1568"/>
              <a:ext cx="3016" cy="1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52" name="Line 8">
              <a:extLst>
                <a:ext uri="{FF2B5EF4-FFF2-40B4-BE49-F238E27FC236}">
                  <a16:creationId xmlns:a16="http://schemas.microsoft.com/office/drawing/2014/main" id="{C1966445-0202-A5D8-23E8-5BE09002B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5" y="1644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53" name="Line 9">
              <a:extLst>
                <a:ext uri="{FF2B5EF4-FFF2-40B4-BE49-F238E27FC236}">
                  <a16:creationId xmlns:a16="http://schemas.microsoft.com/office/drawing/2014/main" id="{CD09E8CF-420D-AA49-3B99-D364B5F59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4" y="2669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54" name="Rectangle 10">
              <a:extLst>
                <a:ext uri="{FF2B5EF4-FFF2-40B4-BE49-F238E27FC236}">
                  <a16:creationId xmlns:a16="http://schemas.microsoft.com/office/drawing/2014/main" id="{17CB77C8-7B02-C781-06BC-ED95ADAD9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1514"/>
              <a:ext cx="927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ptr</a:t>
              </a:r>
              <a:r>
                <a:rPr lang="en-US" altLang="en-US" baseline="-25000">
                  <a:latin typeface="Verdana" panose="020B0604030504040204" pitchFamily="34" charset="0"/>
                </a:rPr>
                <a:t>2</a:t>
              </a:r>
              <a:r>
                <a:rPr lang="en-US" altLang="en-US">
                  <a:latin typeface="Verdana" panose="020B0604030504040204" pitchFamily="34" charset="0"/>
                </a:rPr>
                <a:t> 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next to 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deallocate</a:t>
              </a:r>
            </a:p>
          </p:txBody>
        </p:sp>
        <p:sp>
          <p:nvSpPr>
            <p:cNvPr id="2105355" name="Rectangle 11">
              <a:extLst>
                <a:ext uri="{FF2B5EF4-FFF2-40B4-BE49-F238E27FC236}">
                  <a16:creationId xmlns:a16="http://schemas.microsoft.com/office/drawing/2014/main" id="{DE2AC8B7-958B-1437-3A34-2B40359FC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2490"/>
              <a:ext cx="987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	prt</a:t>
              </a:r>
              <a:r>
                <a:rPr lang="en-US" altLang="en-US" baseline="-25000">
                  <a:latin typeface="Verdana" panose="020B0604030504040204" pitchFamily="34" charset="0"/>
                </a:rPr>
                <a:t>1</a:t>
              </a:r>
              <a:endParaRPr lang="en-US" altLang="en-US">
                <a:latin typeface="Verdana" panose="020B0604030504040204" pitchFamily="34" charset="0"/>
              </a:endParaRP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next</a:t>
              </a:r>
            </a:p>
            <a:p>
              <a:pPr algn="r" eaLnBrk="0" hangingPunct="0"/>
              <a:r>
                <a:rPr lang="en-US" altLang="en-US">
                  <a:latin typeface="Verdana" panose="020B0604030504040204" pitchFamily="34" charset="0"/>
                </a:rPr>
                <a:t>available</a:t>
              </a:r>
            </a:p>
          </p:txBody>
        </p:sp>
        <p:sp>
          <p:nvSpPr>
            <p:cNvPr id="2105356" name="Rectangle 12">
              <a:extLst>
                <a:ext uri="{FF2B5EF4-FFF2-40B4-BE49-F238E27FC236}">
                  <a16:creationId xmlns:a16="http://schemas.microsoft.com/office/drawing/2014/main" id="{7A3838FA-5176-1213-91A5-A70352745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" y="992"/>
              <a:ext cx="295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Ins#   use exec   op   p1     src1   p2    src2</a:t>
              </a:r>
            </a:p>
          </p:txBody>
        </p:sp>
        <p:sp>
          <p:nvSpPr>
            <p:cNvPr id="2105357" name="Line 13">
              <a:extLst>
                <a:ext uri="{FF2B5EF4-FFF2-40B4-BE49-F238E27FC236}">
                  <a16:creationId xmlns:a16="http://schemas.microsoft.com/office/drawing/2014/main" id="{28EE015F-C389-1280-9063-E417947D9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" y="1245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58" name="Line 14">
              <a:extLst>
                <a:ext uri="{FF2B5EF4-FFF2-40B4-BE49-F238E27FC236}">
                  <a16:creationId xmlns:a16="http://schemas.microsoft.com/office/drawing/2014/main" id="{C42D4F39-B928-D0A6-2028-49EE64839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3" y="1239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59" name="Line 15">
              <a:extLst>
                <a:ext uri="{FF2B5EF4-FFF2-40B4-BE49-F238E27FC236}">
                  <a16:creationId xmlns:a16="http://schemas.microsoft.com/office/drawing/2014/main" id="{5A4047E4-395D-20E0-1A23-F85E26282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60" name="Line 16">
              <a:extLst>
                <a:ext uri="{FF2B5EF4-FFF2-40B4-BE49-F238E27FC236}">
                  <a16:creationId xmlns:a16="http://schemas.microsoft.com/office/drawing/2014/main" id="{F05979FF-1EB8-B5F5-D892-00ADF9FFA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9" y="1228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61" name="Line 17">
              <a:extLst>
                <a:ext uri="{FF2B5EF4-FFF2-40B4-BE49-F238E27FC236}">
                  <a16:creationId xmlns:a16="http://schemas.microsoft.com/office/drawing/2014/main" id="{79ED6115-F3EC-61C5-DB6E-5CA8E53B3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1229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62" name="Line 18">
              <a:extLst>
                <a:ext uri="{FF2B5EF4-FFF2-40B4-BE49-F238E27FC236}">
                  <a16:creationId xmlns:a16="http://schemas.microsoft.com/office/drawing/2014/main" id="{9802472A-3BD6-9E8A-A309-4D8CB4876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363" name="Line 19">
              <a:extLst>
                <a:ext uri="{FF2B5EF4-FFF2-40B4-BE49-F238E27FC236}">
                  <a16:creationId xmlns:a16="http://schemas.microsoft.com/office/drawing/2014/main" id="{ED86A10D-D712-7180-74D9-3070735E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32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05364" name="Group 20">
              <a:extLst>
                <a:ext uri="{FF2B5EF4-FFF2-40B4-BE49-F238E27FC236}">
                  <a16:creationId xmlns:a16="http://schemas.microsoft.com/office/drawing/2014/main" id="{6E526185-25E5-0D86-F527-06052D758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1382"/>
              <a:ext cx="3010" cy="1392"/>
              <a:chOff x="1736" y="1382"/>
              <a:chExt cx="3010" cy="1392"/>
            </a:xfrm>
          </p:grpSpPr>
          <p:sp>
            <p:nvSpPr>
              <p:cNvPr id="2105365" name="Line 21">
                <a:extLst>
                  <a:ext uri="{FF2B5EF4-FFF2-40B4-BE49-F238E27FC236}">
                    <a16:creationId xmlns:a16="http://schemas.microsoft.com/office/drawing/2014/main" id="{0D9DD85D-37E3-D272-D0EB-E318290E7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382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66" name="Line 22">
                <a:extLst>
                  <a:ext uri="{FF2B5EF4-FFF2-40B4-BE49-F238E27FC236}">
                    <a16:creationId xmlns:a16="http://schemas.microsoft.com/office/drawing/2014/main" id="{939A1D8C-3FD9-0974-50E6-2797D9CC0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558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67" name="Line 23">
                <a:extLst>
                  <a:ext uri="{FF2B5EF4-FFF2-40B4-BE49-F238E27FC236}">
                    <a16:creationId xmlns:a16="http://schemas.microsoft.com/office/drawing/2014/main" id="{26D64D75-BB66-5B65-D4DB-828BE47D7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172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68" name="Line 24">
                <a:extLst>
                  <a:ext uri="{FF2B5EF4-FFF2-40B4-BE49-F238E27FC236}">
                    <a16:creationId xmlns:a16="http://schemas.microsoft.com/office/drawing/2014/main" id="{AC20E803-5C12-AACB-A12F-340FFFBFA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188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69" name="Line 25">
                <a:extLst>
                  <a:ext uri="{FF2B5EF4-FFF2-40B4-BE49-F238E27FC236}">
                    <a16:creationId xmlns:a16="http://schemas.microsoft.com/office/drawing/2014/main" id="{BFFDF6B7-8A35-1A55-A9BF-AEDCE1112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070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70" name="Line 26">
                <a:extLst>
                  <a:ext uri="{FF2B5EF4-FFF2-40B4-BE49-F238E27FC236}">
                    <a16:creationId xmlns:a16="http://schemas.microsoft.com/office/drawing/2014/main" id="{B5868093-F0C4-61AC-EF83-136C4624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230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71" name="Line 27">
                <a:extLst>
                  <a:ext uri="{FF2B5EF4-FFF2-40B4-BE49-F238E27FC236}">
                    <a16:creationId xmlns:a16="http://schemas.microsoft.com/office/drawing/2014/main" id="{7F5BF1E6-4305-F9E6-E944-44CAE3435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2606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72" name="Line 28">
                <a:extLst>
                  <a:ext uri="{FF2B5EF4-FFF2-40B4-BE49-F238E27FC236}">
                    <a16:creationId xmlns:a16="http://schemas.microsoft.com/office/drawing/2014/main" id="{8F77DDD2-6823-8C82-17A6-E0D3A0F64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6" y="2774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5373" name="Line 29">
                <a:extLst>
                  <a:ext uri="{FF2B5EF4-FFF2-40B4-BE49-F238E27FC236}">
                    <a16:creationId xmlns:a16="http://schemas.microsoft.com/office/drawing/2014/main" id="{E61C9764-B4CC-3D02-66CF-159A3883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2414"/>
                <a:ext cx="29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5374" name="Rectangle 30">
              <a:extLst>
                <a:ext uri="{FF2B5EF4-FFF2-40B4-BE49-F238E27FC236}">
                  <a16:creationId xmlns:a16="http://schemas.microsoft.com/office/drawing/2014/main" id="{50DCA467-6BE6-897A-5438-834B07913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1230"/>
              <a:ext cx="3022" cy="17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B7075A7-4F0E-B550-F836-6575992B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933350D-3355-F82A-31D8-A372C0D1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85032D-307F-2417-D068-C7ADB659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37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389" name="Rectangle 21">
            <a:extLst>
              <a:ext uri="{FF2B5EF4-FFF2-40B4-BE49-F238E27FC236}">
                <a16:creationId xmlns:a16="http://schemas.microsoft.com/office/drawing/2014/main" id="{2F66B7EE-BCA7-4538-0831-EE709DB5C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IBM 360/91 Floating Point Unit</a:t>
            </a:r>
            <a:br>
              <a:rPr lang="en-US" altLang="en-US"/>
            </a:br>
            <a:r>
              <a:rPr lang="en-US" altLang="en-US" sz="2400" i="1"/>
              <a:t>R. M. Tomasulo, 1967</a:t>
            </a:r>
          </a:p>
        </p:txBody>
      </p:sp>
      <p:grpSp>
        <p:nvGrpSpPr>
          <p:cNvPr id="2106370" name="Group 2">
            <a:extLst>
              <a:ext uri="{FF2B5EF4-FFF2-40B4-BE49-F238E27FC236}">
                <a16:creationId xmlns:a16="http://schemas.microsoft.com/office/drawing/2014/main" id="{9C61DEC6-620C-7AA0-E2A4-9DDF61ACECF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1276350"/>
            <a:ext cx="990600" cy="952500"/>
            <a:chOff x="3932" y="756"/>
            <a:chExt cx="624" cy="600"/>
          </a:xfrm>
        </p:grpSpPr>
        <p:sp>
          <p:nvSpPr>
            <p:cNvPr id="2106371" name="Rectangle 3">
              <a:extLst>
                <a:ext uri="{FF2B5EF4-FFF2-40B4-BE49-F238E27FC236}">
                  <a16:creationId xmlns:a16="http://schemas.microsoft.com/office/drawing/2014/main" id="{1F1668D0-06C3-3055-731A-08377E88C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756"/>
              <a:ext cx="624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2" name="Line 4">
              <a:extLst>
                <a:ext uri="{FF2B5EF4-FFF2-40B4-BE49-F238E27FC236}">
                  <a16:creationId xmlns:a16="http://schemas.microsoft.com/office/drawing/2014/main" id="{69E24E96-2B1A-8719-3B08-1C8C379E5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8" y="756"/>
              <a:ext cx="0" cy="5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3" name="Line 5">
              <a:extLst>
                <a:ext uri="{FF2B5EF4-FFF2-40B4-BE49-F238E27FC236}">
                  <a16:creationId xmlns:a16="http://schemas.microsoft.com/office/drawing/2014/main" id="{ACDFF529-E247-3AA3-26DB-3164D983A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931"/>
              <a:ext cx="60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4" name="Line 6">
              <a:extLst>
                <a:ext uri="{FF2B5EF4-FFF2-40B4-BE49-F238E27FC236}">
                  <a16:creationId xmlns:a16="http://schemas.microsoft.com/office/drawing/2014/main" id="{3250CF9F-6703-CB53-1B53-81C6075F4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1083"/>
              <a:ext cx="60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5" name="Line 7">
              <a:extLst>
                <a:ext uri="{FF2B5EF4-FFF2-40B4-BE49-F238E27FC236}">
                  <a16:creationId xmlns:a16="http://schemas.microsoft.com/office/drawing/2014/main" id="{C62811D6-A3D9-6EC6-234E-B2E0CDCD5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" y="1235"/>
              <a:ext cx="60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06376" name="Group 8">
            <a:extLst>
              <a:ext uri="{FF2B5EF4-FFF2-40B4-BE49-F238E27FC236}">
                <a16:creationId xmlns:a16="http://schemas.microsoft.com/office/drawing/2014/main" id="{57E119D4-60A6-E05B-ED7C-2EF4A3BC7F6D}"/>
              </a:ext>
            </a:extLst>
          </p:cNvPr>
          <p:cNvGrpSpPr>
            <a:grpSpLocks/>
          </p:cNvGrpSpPr>
          <p:nvPr/>
        </p:nvGrpSpPr>
        <p:grpSpPr bwMode="auto">
          <a:xfrm>
            <a:off x="5086350" y="3613150"/>
            <a:ext cx="1905000" cy="520700"/>
            <a:chOff x="3204" y="2276"/>
            <a:chExt cx="1200" cy="328"/>
          </a:xfrm>
        </p:grpSpPr>
        <p:sp>
          <p:nvSpPr>
            <p:cNvPr id="2106377" name="Rectangle 9">
              <a:extLst>
                <a:ext uri="{FF2B5EF4-FFF2-40B4-BE49-F238E27FC236}">
                  <a16:creationId xmlns:a16="http://schemas.microsoft.com/office/drawing/2014/main" id="{B5F9F593-7AF6-BA47-5625-0EC48B382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" y="2276"/>
              <a:ext cx="1200" cy="3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8" name="Line 10">
              <a:extLst>
                <a:ext uri="{FF2B5EF4-FFF2-40B4-BE49-F238E27FC236}">
                  <a16:creationId xmlns:a16="http://schemas.microsoft.com/office/drawing/2014/main" id="{7F1E62E7-B4EC-368A-C555-F08B52564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" y="2284"/>
              <a:ext cx="0" cy="3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79" name="Line 11">
              <a:extLst>
                <a:ext uri="{FF2B5EF4-FFF2-40B4-BE49-F238E27FC236}">
                  <a16:creationId xmlns:a16="http://schemas.microsoft.com/office/drawing/2014/main" id="{6D905D3D-A4ED-7E6F-368B-072BB0C03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2459"/>
              <a:ext cx="117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0" name="Line 12">
              <a:extLst>
                <a:ext uri="{FF2B5EF4-FFF2-40B4-BE49-F238E27FC236}">
                  <a16:creationId xmlns:a16="http://schemas.microsoft.com/office/drawing/2014/main" id="{E6C4FE85-E0B4-E352-951E-14035A770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2276"/>
              <a:ext cx="0" cy="3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1" name="Line 13">
              <a:extLst>
                <a:ext uri="{FF2B5EF4-FFF2-40B4-BE49-F238E27FC236}">
                  <a16:creationId xmlns:a16="http://schemas.microsoft.com/office/drawing/2014/main" id="{2714511C-0082-14B3-C90B-1EFA9D855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2292"/>
              <a:ext cx="0" cy="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06382" name="Group 14">
            <a:extLst>
              <a:ext uri="{FF2B5EF4-FFF2-40B4-BE49-F238E27FC236}">
                <a16:creationId xmlns:a16="http://schemas.microsoft.com/office/drawing/2014/main" id="{7CAB41AD-894A-1544-2D4A-1681767870A4}"/>
              </a:ext>
            </a:extLst>
          </p:cNvPr>
          <p:cNvGrpSpPr>
            <a:grpSpLocks/>
          </p:cNvGrpSpPr>
          <p:nvPr/>
        </p:nvGrpSpPr>
        <p:grpSpPr bwMode="auto">
          <a:xfrm>
            <a:off x="2519363" y="3346450"/>
            <a:ext cx="1893887" cy="812800"/>
            <a:chOff x="1587" y="2108"/>
            <a:chExt cx="1193" cy="512"/>
          </a:xfrm>
        </p:grpSpPr>
        <p:sp>
          <p:nvSpPr>
            <p:cNvPr id="2106383" name="Rectangle 15">
              <a:extLst>
                <a:ext uri="{FF2B5EF4-FFF2-40B4-BE49-F238E27FC236}">
                  <a16:creationId xmlns:a16="http://schemas.microsoft.com/office/drawing/2014/main" id="{0C3352A5-4A75-1FB9-F2A7-00D1363F2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2108"/>
              <a:ext cx="1192" cy="50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4" name="Line 16">
              <a:extLst>
                <a:ext uri="{FF2B5EF4-FFF2-40B4-BE49-F238E27FC236}">
                  <a16:creationId xmlns:a16="http://schemas.microsoft.com/office/drawing/2014/main" id="{AA9236CE-87C3-A401-5C75-01FCBA878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4" y="2116"/>
              <a:ext cx="0" cy="4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5" name="Line 17">
              <a:extLst>
                <a:ext uri="{FF2B5EF4-FFF2-40B4-BE49-F238E27FC236}">
                  <a16:creationId xmlns:a16="http://schemas.microsoft.com/office/drawing/2014/main" id="{DFC451FF-A1AE-EC3B-123D-3FEF0BBEB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" y="2291"/>
              <a:ext cx="117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6" name="Line 18">
              <a:extLst>
                <a:ext uri="{FF2B5EF4-FFF2-40B4-BE49-F238E27FC236}">
                  <a16:creationId xmlns:a16="http://schemas.microsoft.com/office/drawing/2014/main" id="{7E2CAA82-0E70-30AC-E41F-E33C5CBC6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2451"/>
              <a:ext cx="118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7" name="Line 19">
              <a:extLst>
                <a:ext uri="{FF2B5EF4-FFF2-40B4-BE49-F238E27FC236}">
                  <a16:creationId xmlns:a16="http://schemas.microsoft.com/office/drawing/2014/main" id="{F6E7242A-66E3-6C06-F2E4-0357EBC7F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6" y="2124"/>
              <a:ext cx="0" cy="4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388" name="Line 20">
              <a:extLst>
                <a:ext uri="{FF2B5EF4-FFF2-40B4-BE49-F238E27FC236}">
                  <a16:creationId xmlns:a16="http://schemas.microsoft.com/office/drawing/2014/main" id="{BD54DEF1-9597-A0C9-B2CF-0E2314413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4" y="2116"/>
              <a:ext cx="0" cy="4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06390" name="Group 22">
            <a:extLst>
              <a:ext uri="{FF2B5EF4-FFF2-40B4-BE49-F238E27FC236}">
                <a16:creationId xmlns:a16="http://schemas.microsoft.com/office/drawing/2014/main" id="{06C63D5F-A405-8222-6476-B5E9ADFB2BEE}"/>
              </a:ext>
            </a:extLst>
          </p:cNvPr>
          <p:cNvGrpSpPr>
            <a:grpSpLocks/>
          </p:cNvGrpSpPr>
          <p:nvPr/>
        </p:nvGrpSpPr>
        <p:grpSpPr bwMode="auto">
          <a:xfrm>
            <a:off x="4818063" y="3613150"/>
            <a:ext cx="2192337" cy="1524000"/>
            <a:chOff x="3035" y="2276"/>
            <a:chExt cx="1381" cy="960"/>
          </a:xfrm>
        </p:grpSpPr>
        <p:sp>
          <p:nvSpPr>
            <p:cNvPr id="2106391" name="Freeform 23">
              <a:extLst>
                <a:ext uri="{FF2B5EF4-FFF2-40B4-BE49-F238E27FC236}">
                  <a16:creationId xmlns:a16="http://schemas.microsoft.com/office/drawing/2014/main" id="{96CF30BA-65C0-122C-B83D-D7F1A832B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2659"/>
              <a:ext cx="1201" cy="413"/>
            </a:xfrm>
            <a:custGeom>
              <a:avLst/>
              <a:gdLst>
                <a:gd name="T0" fmla="*/ 1200 w 1201"/>
                <a:gd name="T1" fmla="*/ 0 h 413"/>
                <a:gd name="T2" fmla="*/ 700 w 1201"/>
                <a:gd name="T3" fmla="*/ 0 h 413"/>
                <a:gd name="T4" fmla="*/ 600 w 1201"/>
                <a:gd name="T5" fmla="*/ 82 h 413"/>
                <a:gd name="T6" fmla="*/ 500 w 1201"/>
                <a:gd name="T7" fmla="*/ 0 h 413"/>
                <a:gd name="T8" fmla="*/ 0 w 1201"/>
                <a:gd name="T9" fmla="*/ 0 h 413"/>
                <a:gd name="T10" fmla="*/ 300 w 1201"/>
                <a:gd name="T11" fmla="*/ 412 h 413"/>
                <a:gd name="T12" fmla="*/ 900 w 1201"/>
                <a:gd name="T13" fmla="*/ 412 h 413"/>
                <a:gd name="T14" fmla="*/ 1200 w 1201"/>
                <a:gd name="T15" fmla="*/ 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1" h="413">
                  <a:moveTo>
                    <a:pt x="1200" y="0"/>
                  </a:moveTo>
                  <a:lnTo>
                    <a:pt x="700" y="0"/>
                  </a:lnTo>
                  <a:lnTo>
                    <a:pt x="600" y="82"/>
                  </a:lnTo>
                  <a:lnTo>
                    <a:pt x="500" y="0"/>
                  </a:lnTo>
                  <a:lnTo>
                    <a:pt x="0" y="0"/>
                  </a:lnTo>
                  <a:lnTo>
                    <a:pt x="300" y="412"/>
                  </a:lnTo>
                  <a:lnTo>
                    <a:pt x="900" y="412"/>
                  </a:lnTo>
                  <a:lnTo>
                    <a:pt x="120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392" name="Rectangle 24">
              <a:extLst>
                <a:ext uri="{FF2B5EF4-FFF2-40B4-BE49-F238E27FC236}">
                  <a16:creationId xmlns:a16="http://schemas.microsoft.com/office/drawing/2014/main" id="{531B66FB-1E4D-1CFE-09F9-78DA45556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2793"/>
              <a:ext cx="35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Mult</a:t>
              </a:r>
            </a:p>
          </p:txBody>
        </p:sp>
        <p:sp>
          <p:nvSpPr>
            <p:cNvPr id="2106393" name="Rectangle 25">
              <a:extLst>
                <a:ext uri="{FF2B5EF4-FFF2-40B4-BE49-F238E27FC236}">
                  <a16:creationId xmlns:a16="http://schemas.microsoft.com/office/drawing/2014/main" id="{BBA6FA02-9C42-5DB3-3F07-52820203A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116"/>
              <a:ext cx="584" cy="1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06394" name="Group 26">
              <a:extLst>
                <a:ext uri="{FF2B5EF4-FFF2-40B4-BE49-F238E27FC236}">
                  <a16:creationId xmlns:a16="http://schemas.microsoft.com/office/drawing/2014/main" id="{94B316AC-76A4-9D61-0332-BAD10E375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1" y="2281"/>
              <a:ext cx="1234" cy="198"/>
              <a:chOff x="3161" y="2281"/>
              <a:chExt cx="1234" cy="198"/>
            </a:xfrm>
          </p:grpSpPr>
          <p:sp>
            <p:nvSpPr>
              <p:cNvPr id="2106395" name="Rectangle 27">
                <a:extLst>
                  <a:ext uri="{FF2B5EF4-FFF2-40B4-BE49-F238E27FC236}">
                    <a16:creationId xmlns:a16="http://schemas.microsoft.com/office/drawing/2014/main" id="{CB525CE3-3D68-9816-3114-73C6464B9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1" y="2281"/>
                <a:ext cx="26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400">
                    <a:solidFill>
                      <a:srgbClr val="FFCC66"/>
                    </a:solidFill>
                    <a:latin typeface="Verdana" panose="020B0604030504040204" pitchFamily="34" charset="0"/>
                  </a:rPr>
                  <a:t>  p</a:t>
                </a:r>
              </a:p>
            </p:txBody>
          </p:sp>
          <p:sp>
            <p:nvSpPr>
              <p:cNvPr id="2106396" name="Rectangle 28">
                <a:extLst>
                  <a:ext uri="{FF2B5EF4-FFF2-40B4-BE49-F238E27FC236}">
                    <a16:creationId xmlns:a16="http://schemas.microsoft.com/office/drawing/2014/main" id="{3CF24B8D-46BF-FDA3-5E7F-32400DEE1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" y="2281"/>
                <a:ext cx="36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400">
                    <a:solidFill>
                      <a:srgbClr val="FFCC66"/>
                    </a:solidFill>
                    <a:latin typeface="Verdana" panose="020B0604030504040204" pitchFamily="34" charset="0"/>
                  </a:rPr>
                  <a:t>data</a:t>
                </a:r>
              </a:p>
            </p:txBody>
          </p:sp>
          <p:sp>
            <p:nvSpPr>
              <p:cNvPr id="2106397" name="Rectangle 29">
                <a:extLst>
                  <a:ext uri="{FF2B5EF4-FFF2-40B4-BE49-F238E27FC236}">
                    <a16:creationId xmlns:a16="http://schemas.microsoft.com/office/drawing/2014/main" id="{401A82CB-3961-FBEF-1E28-F3E816680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9" y="2281"/>
                <a:ext cx="223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400">
                    <a:latin typeface="Verdana" panose="020B0604030504040204" pitchFamily="34" charset="0"/>
                  </a:rPr>
                  <a:t> </a:t>
                </a:r>
                <a:r>
                  <a:rPr lang="en-US" altLang="en-US" sz="1400">
                    <a:solidFill>
                      <a:srgbClr val="FFCC66"/>
                    </a:solidFill>
                    <a:latin typeface="Verdana" panose="020B0604030504040204" pitchFamily="34" charset="0"/>
                  </a:rPr>
                  <a:t>p</a:t>
                </a:r>
              </a:p>
            </p:txBody>
          </p:sp>
          <p:sp>
            <p:nvSpPr>
              <p:cNvPr id="2106398" name="Rectangle 30">
                <a:extLst>
                  <a:ext uri="{FF2B5EF4-FFF2-40B4-BE49-F238E27FC236}">
                    <a16:creationId xmlns:a16="http://schemas.microsoft.com/office/drawing/2014/main" id="{549D95A6-1DBC-BFC2-9399-83A31D9ED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2289"/>
                <a:ext cx="36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400">
                    <a:solidFill>
                      <a:srgbClr val="FFCC66"/>
                    </a:solidFill>
                    <a:latin typeface="Verdana" panose="020B0604030504040204" pitchFamily="34" charset="0"/>
                  </a:rPr>
                  <a:t>data</a:t>
                </a:r>
              </a:p>
            </p:txBody>
          </p:sp>
        </p:grpSp>
        <p:sp>
          <p:nvSpPr>
            <p:cNvPr id="2106399" name="Rectangle 31">
              <a:extLst>
                <a:ext uri="{FF2B5EF4-FFF2-40B4-BE49-F238E27FC236}">
                  <a16:creationId xmlns:a16="http://schemas.microsoft.com/office/drawing/2014/main" id="{7FCE582F-0303-5DAA-F1BA-332C8F335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" y="2276"/>
              <a:ext cx="195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1</a:t>
              </a:r>
            </a:p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2</a:t>
              </a:r>
            </a:p>
            <a:p>
              <a:pPr algn="l" eaLnBrk="0" hangingPunct="0"/>
              <a:endParaRPr lang="en-US" altLang="en-US" sz="1600">
                <a:latin typeface="Verdana" panose="020B0604030504040204" pitchFamily="34" charset="0"/>
              </a:endParaRPr>
            </a:p>
            <a:p>
              <a:pPr algn="l" eaLnBrk="0" latinLnBrk="1" hangingPunct="0"/>
              <a:endParaRPr lang="en-US" altLang="en-US" sz="1600">
                <a:latin typeface="Verdana" panose="020B0604030504040204" pitchFamily="34" charset="0"/>
              </a:endParaRPr>
            </a:p>
          </p:txBody>
        </p:sp>
      </p:grpSp>
      <p:grpSp>
        <p:nvGrpSpPr>
          <p:cNvPr id="2106400" name="Group 32">
            <a:extLst>
              <a:ext uri="{FF2B5EF4-FFF2-40B4-BE49-F238E27FC236}">
                <a16:creationId xmlns:a16="http://schemas.microsoft.com/office/drawing/2014/main" id="{FE99ED2A-2C16-123B-ED0E-7C92E2F41E10}"/>
              </a:ext>
            </a:extLst>
          </p:cNvPr>
          <p:cNvGrpSpPr>
            <a:grpSpLocks/>
          </p:cNvGrpSpPr>
          <p:nvPr/>
        </p:nvGrpSpPr>
        <p:grpSpPr bwMode="auto">
          <a:xfrm>
            <a:off x="6186488" y="1271588"/>
            <a:ext cx="993775" cy="314325"/>
            <a:chOff x="3897" y="753"/>
            <a:chExt cx="626" cy="198"/>
          </a:xfrm>
        </p:grpSpPr>
        <p:sp>
          <p:nvSpPr>
            <p:cNvPr id="2106401" name="Rectangle 33">
              <a:extLst>
                <a:ext uri="{FF2B5EF4-FFF2-40B4-BE49-F238E27FC236}">
                  <a16:creationId xmlns:a16="http://schemas.microsoft.com/office/drawing/2014/main" id="{62A5A89E-C942-A0D4-3F26-0DF4E6E0C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753"/>
              <a:ext cx="22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 </a:t>
              </a:r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sp>
          <p:nvSpPr>
            <p:cNvPr id="2106402" name="Rectangle 34">
              <a:extLst>
                <a:ext uri="{FF2B5EF4-FFF2-40B4-BE49-F238E27FC236}">
                  <a16:creationId xmlns:a16="http://schemas.microsoft.com/office/drawing/2014/main" id="{4B480CD7-5FB5-1859-BF23-79C320CDE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" y="761"/>
              <a:ext cx="3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data</a:t>
              </a:r>
            </a:p>
          </p:txBody>
        </p:sp>
      </p:grpSp>
      <p:grpSp>
        <p:nvGrpSpPr>
          <p:cNvPr id="2106403" name="Group 35">
            <a:extLst>
              <a:ext uri="{FF2B5EF4-FFF2-40B4-BE49-F238E27FC236}">
                <a16:creationId xmlns:a16="http://schemas.microsoft.com/office/drawing/2014/main" id="{D7F809D9-D443-F1A2-F14B-DBA442FEE089}"/>
              </a:ext>
            </a:extLst>
          </p:cNvPr>
          <p:cNvGrpSpPr>
            <a:grpSpLocks/>
          </p:cNvGrpSpPr>
          <p:nvPr/>
        </p:nvGrpSpPr>
        <p:grpSpPr bwMode="auto">
          <a:xfrm>
            <a:off x="1439863" y="1246188"/>
            <a:ext cx="2276475" cy="1390650"/>
            <a:chOff x="907" y="785"/>
            <a:chExt cx="1434" cy="876"/>
          </a:xfrm>
        </p:grpSpPr>
        <p:sp>
          <p:nvSpPr>
            <p:cNvPr id="2106404" name="Rectangle 36">
              <a:extLst>
                <a:ext uri="{FF2B5EF4-FFF2-40B4-BE49-F238E27FC236}">
                  <a16:creationId xmlns:a16="http://schemas.microsoft.com/office/drawing/2014/main" id="{D486FC2B-8B54-D64E-AD86-84955BAA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801"/>
              <a:ext cx="185" cy="8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1</a:t>
              </a:r>
            </a:p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2</a:t>
              </a:r>
            </a:p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3</a:t>
              </a:r>
            </a:p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4</a:t>
              </a:r>
            </a:p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5</a:t>
              </a:r>
            </a:p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6</a:t>
              </a:r>
            </a:p>
          </p:txBody>
        </p:sp>
        <p:grpSp>
          <p:nvGrpSpPr>
            <p:cNvPr id="2106405" name="Group 37">
              <a:extLst>
                <a:ext uri="{FF2B5EF4-FFF2-40B4-BE49-F238E27FC236}">
                  <a16:creationId xmlns:a16="http://schemas.microsoft.com/office/drawing/2014/main" id="{547F40C7-9729-5AF6-451A-03AF4A032D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8" y="810"/>
              <a:ext cx="448" cy="810"/>
              <a:chOff x="1108" y="764"/>
              <a:chExt cx="408" cy="880"/>
            </a:xfrm>
          </p:grpSpPr>
          <p:sp>
            <p:nvSpPr>
              <p:cNvPr id="2106406" name="Rectangle 38">
                <a:extLst>
                  <a:ext uri="{FF2B5EF4-FFF2-40B4-BE49-F238E27FC236}">
                    <a16:creationId xmlns:a16="http://schemas.microsoft.com/office/drawing/2014/main" id="{CC9FBAC2-3CFE-DF77-7F15-9067B66D2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764"/>
                <a:ext cx="408" cy="8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07" name="Line 39">
                <a:extLst>
                  <a:ext uri="{FF2B5EF4-FFF2-40B4-BE49-F238E27FC236}">
                    <a16:creationId xmlns:a16="http://schemas.microsoft.com/office/drawing/2014/main" id="{CAFA613F-153D-1278-6333-0687CAE25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" y="907"/>
                <a:ext cx="4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08" name="Line 40">
                <a:extLst>
                  <a:ext uri="{FF2B5EF4-FFF2-40B4-BE49-F238E27FC236}">
                    <a16:creationId xmlns:a16="http://schemas.microsoft.com/office/drawing/2014/main" id="{FEC1E211-EDCE-2BE2-A23A-995D56260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" y="1056"/>
                <a:ext cx="4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09" name="Line 41">
                <a:extLst>
                  <a:ext uri="{FF2B5EF4-FFF2-40B4-BE49-F238E27FC236}">
                    <a16:creationId xmlns:a16="http://schemas.microsoft.com/office/drawing/2014/main" id="{970A807F-EE69-655C-D12B-B3E4F5A75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" y="1204"/>
                <a:ext cx="4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10" name="Line 42">
                <a:extLst>
                  <a:ext uri="{FF2B5EF4-FFF2-40B4-BE49-F238E27FC236}">
                    <a16:creationId xmlns:a16="http://schemas.microsoft.com/office/drawing/2014/main" id="{BB38E5AA-B598-5530-D916-B20628620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" y="1355"/>
                <a:ext cx="4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11" name="Line 43">
                <a:extLst>
                  <a:ext uri="{FF2B5EF4-FFF2-40B4-BE49-F238E27FC236}">
                    <a16:creationId xmlns:a16="http://schemas.microsoft.com/office/drawing/2014/main" id="{129F467F-D675-3931-BA5E-B39FE40F6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" y="1506"/>
                <a:ext cx="4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6412" name="Rectangle 44">
              <a:extLst>
                <a:ext uri="{FF2B5EF4-FFF2-40B4-BE49-F238E27FC236}">
                  <a16:creationId xmlns:a16="http://schemas.microsoft.com/office/drawing/2014/main" id="{FD353BE2-BAAF-DCEF-3B53-B3CD6ED35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785"/>
              <a:ext cx="3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data</a:t>
              </a:r>
            </a:p>
          </p:txBody>
        </p:sp>
        <p:sp>
          <p:nvSpPr>
            <p:cNvPr id="2106413" name="Rectangle 45">
              <a:extLst>
                <a:ext uri="{FF2B5EF4-FFF2-40B4-BE49-F238E27FC236}">
                  <a16:creationId xmlns:a16="http://schemas.microsoft.com/office/drawing/2014/main" id="{55B15D11-D6F0-305B-2AA0-BF6B2598F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3" y="794"/>
              <a:ext cx="778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load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buffers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(from 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memory)</a:t>
              </a:r>
            </a:p>
          </p:txBody>
        </p:sp>
      </p:grpSp>
      <p:sp>
        <p:nvSpPr>
          <p:cNvPr id="2106414" name="Rectangle 46">
            <a:extLst>
              <a:ext uri="{FF2B5EF4-FFF2-40B4-BE49-F238E27FC236}">
                <a16:creationId xmlns:a16="http://schemas.microsoft.com/office/drawing/2014/main" id="{FEB0A3AD-790A-EB01-A575-204282B7A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1263650"/>
            <a:ext cx="3095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600">
                <a:latin typeface="Verdana" panose="020B0604030504040204" pitchFamily="34" charset="0"/>
              </a:rPr>
              <a:t>1</a:t>
            </a:r>
          </a:p>
          <a:p>
            <a:pPr algn="l" eaLnBrk="0" hangingPunct="0"/>
            <a:r>
              <a:rPr lang="en-US" altLang="en-US" sz="1600">
                <a:latin typeface="Verdana" panose="020B0604030504040204" pitchFamily="34" charset="0"/>
              </a:rPr>
              <a:t>2</a:t>
            </a:r>
          </a:p>
          <a:p>
            <a:pPr algn="l" eaLnBrk="0" hangingPunct="0"/>
            <a:r>
              <a:rPr lang="en-US" altLang="en-US" sz="1600">
                <a:latin typeface="Verdana" panose="020B0604030504040204" pitchFamily="34" charset="0"/>
              </a:rPr>
              <a:t>3</a:t>
            </a:r>
          </a:p>
          <a:p>
            <a:pPr algn="l" eaLnBrk="0" hangingPunct="0"/>
            <a:r>
              <a:rPr lang="en-US" altLang="en-US" sz="1600"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2106415" name="Line 47">
            <a:extLst>
              <a:ext uri="{FF2B5EF4-FFF2-40B4-BE49-F238E27FC236}">
                <a16:creationId xmlns:a16="http://schemas.microsoft.com/office/drawing/2014/main" id="{A442124B-F5D9-9E6E-441E-777CAC69C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9650" y="5180013"/>
            <a:ext cx="0" cy="24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16" name="Line 48">
            <a:extLst>
              <a:ext uri="{FF2B5EF4-FFF2-40B4-BE49-F238E27FC236}">
                <a16:creationId xmlns:a16="http://schemas.microsoft.com/office/drawing/2014/main" id="{89C71F19-58A6-4FE7-9E8D-C234ABAF3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4550" y="2571750"/>
            <a:ext cx="0" cy="285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17" name="Line 49">
            <a:extLst>
              <a:ext uri="{FF2B5EF4-FFF2-40B4-BE49-F238E27FC236}">
                <a16:creationId xmlns:a16="http://schemas.microsoft.com/office/drawing/2014/main" id="{A99ABCCD-8330-72C1-00C1-2BA172165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1550" y="5154613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06418" name="Group 50">
            <a:extLst>
              <a:ext uri="{FF2B5EF4-FFF2-40B4-BE49-F238E27FC236}">
                <a16:creationId xmlns:a16="http://schemas.microsoft.com/office/drawing/2014/main" id="{32414554-A531-BFB9-521D-12049679A860}"/>
              </a:ext>
            </a:extLst>
          </p:cNvPr>
          <p:cNvGrpSpPr>
            <a:grpSpLocks/>
          </p:cNvGrpSpPr>
          <p:nvPr/>
        </p:nvGrpSpPr>
        <p:grpSpPr bwMode="auto">
          <a:xfrm>
            <a:off x="2239963" y="3333750"/>
            <a:ext cx="2192337" cy="1790700"/>
            <a:chOff x="1411" y="2100"/>
            <a:chExt cx="1381" cy="1128"/>
          </a:xfrm>
        </p:grpSpPr>
        <p:sp>
          <p:nvSpPr>
            <p:cNvPr id="2106419" name="Freeform 51">
              <a:extLst>
                <a:ext uri="{FF2B5EF4-FFF2-40B4-BE49-F238E27FC236}">
                  <a16:creationId xmlns:a16="http://schemas.microsoft.com/office/drawing/2014/main" id="{31E61C67-EF22-017E-CDC1-585C2851A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651"/>
              <a:ext cx="1201" cy="413"/>
            </a:xfrm>
            <a:custGeom>
              <a:avLst/>
              <a:gdLst>
                <a:gd name="T0" fmla="*/ 1200 w 1201"/>
                <a:gd name="T1" fmla="*/ 0 h 413"/>
                <a:gd name="T2" fmla="*/ 700 w 1201"/>
                <a:gd name="T3" fmla="*/ 0 h 413"/>
                <a:gd name="T4" fmla="*/ 600 w 1201"/>
                <a:gd name="T5" fmla="*/ 82 h 413"/>
                <a:gd name="T6" fmla="*/ 500 w 1201"/>
                <a:gd name="T7" fmla="*/ 0 h 413"/>
                <a:gd name="T8" fmla="*/ 0 w 1201"/>
                <a:gd name="T9" fmla="*/ 0 h 413"/>
                <a:gd name="T10" fmla="*/ 300 w 1201"/>
                <a:gd name="T11" fmla="*/ 412 h 413"/>
                <a:gd name="T12" fmla="*/ 900 w 1201"/>
                <a:gd name="T13" fmla="*/ 412 h 413"/>
                <a:gd name="T14" fmla="*/ 1200 w 1201"/>
                <a:gd name="T15" fmla="*/ 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1" h="413">
                  <a:moveTo>
                    <a:pt x="1200" y="0"/>
                  </a:moveTo>
                  <a:lnTo>
                    <a:pt x="700" y="0"/>
                  </a:lnTo>
                  <a:lnTo>
                    <a:pt x="600" y="82"/>
                  </a:lnTo>
                  <a:lnTo>
                    <a:pt x="500" y="0"/>
                  </a:lnTo>
                  <a:lnTo>
                    <a:pt x="0" y="0"/>
                  </a:lnTo>
                  <a:lnTo>
                    <a:pt x="300" y="412"/>
                  </a:lnTo>
                  <a:lnTo>
                    <a:pt x="900" y="412"/>
                  </a:lnTo>
                  <a:lnTo>
                    <a:pt x="120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420" name="Rectangle 52">
              <a:extLst>
                <a:ext uri="{FF2B5EF4-FFF2-40B4-BE49-F238E27FC236}">
                  <a16:creationId xmlns:a16="http://schemas.microsoft.com/office/drawing/2014/main" id="{4712105A-FAB9-25E6-C864-13B35E1EF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" y="2785"/>
              <a:ext cx="44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Adder</a:t>
              </a:r>
            </a:p>
          </p:txBody>
        </p:sp>
        <p:sp>
          <p:nvSpPr>
            <p:cNvPr id="2106421" name="Rectangle 53">
              <a:extLst>
                <a:ext uri="{FF2B5EF4-FFF2-40B4-BE49-F238E27FC236}">
                  <a16:creationId xmlns:a16="http://schemas.microsoft.com/office/drawing/2014/main" id="{24B28EDB-2243-66B5-33FF-238BD5FBB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3108"/>
              <a:ext cx="584" cy="1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22" name="Rectangle 54">
              <a:extLst>
                <a:ext uri="{FF2B5EF4-FFF2-40B4-BE49-F238E27FC236}">
                  <a16:creationId xmlns:a16="http://schemas.microsoft.com/office/drawing/2014/main" id="{8E58F43B-A154-5842-F674-0BB684E69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113"/>
              <a:ext cx="2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  </a:t>
              </a:r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sp>
          <p:nvSpPr>
            <p:cNvPr id="2106423" name="Rectangle 55">
              <a:extLst>
                <a:ext uri="{FF2B5EF4-FFF2-40B4-BE49-F238E27FC236}">
                  <a16:creationId xmlns:a16="http://schemas.microsoft.com/office/drawing/2014/main" id="{06DF3B7F-9838-AF2D-8ADD-E0A680185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" y="2113"/>
              <a:ext cx="3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data</a:t>
              </a:r>
            </a:p>
          </p:txBody>
        </p:sp>
        <p:sp>
          <p:nvSpPr>
            <p:cNvPr id="2106424" name="Rectangle 56">
              <a:extLst>
                <a:ext uri="{FF2B5EF4-FFF2-40B4-BE49-F238E27FC236}">
                  <a16:creationId xmlns:a16="http://schemas.microsoft.com/office/drawing/2014/main" id="{3165F048-362B-98F2-2E3F-852AEF179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2113"/>
              <a:ext cx="22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 p</a:t>
              </a:r>
            </a:p>
          </p:txBody>
        </p:sp>
        <p:sp>
          <p:nvSpPr>
            <p:cNvPr id="2106425" name="Rectangle 57">
              <a:extLst>
                <a:ext uri="{FF2B5EF4-FFF2-40B4-BE49-F238E27FC236}">
                  <a16:creationId xmlns:a16="http://schemas.microsoft.com/office/drawing/2014/main" id="{7014C256-D9BF-19F4-8B3D-AA096EE96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2121"/>
              <a:ext cx="3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data</a:t>
              </a:r>
            </a:p>
          </p:txBody>
        </p:sp>
        <p:sp>
          <p:nvSpPr>
            <p:cNvPr id="2106426" name="Rectangle 58">
              <a:extLst>
                <a:ext uri="{FF2B5EF4-FFF2-40B4-BE49-F238E27FC236}">
                  <a16:creationId xmlns:a16="http://schemas.microsoft.com/office/drawing/2014/main" id="{B762E5EE-E4A4-6D2A-B9A6-946B46684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1" y="2100"/>
              <a:ext cx="195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1</a:t>
              </a:r>
            </a:p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2</a:t>
              </a:r>
            </a:p>
            <a:p>
              <a:pPr algn="l" eaLnBrk="0" hangingPunct="0"/>
              <a:r>
                <a:rPr lang="en-US" altLang="en-US" sz="1600">
                  <a:latin typeface="Verdana" panose="020B0604030504040204" pitchFamily="34" charset="0"/>
                </a:rPr>
                <a:t>3</a:t>
              </a:r>
            </a:p>
            <a:p>
              <a:pPr algn="l"/>
              <a:endParaRPr lang="en-US" altLang="en-US" sz="1600">
                <a:latin typeface="Verdana" panose="020B0604030504040204" pitchFamily="34" charset="0"/>
              </a:endParaRPr>
            </a:p>
          </p:txBody>
        </p:sp>
      </p:grpSp>
      <p:sp>
        <p:nvSpPr>
          <p:cNvPr id="2106427" name="Line 59">
            <a:extLst>
              <a:ext uri="{FF2B5EF4-FFF2-40B4-BE49-F238E27FC236}">
                <a16:creationId xmlns:a16="http://schemas.microsoft.com/office/drawing/2014/main" id="{1BFD990A-0C01-832B-32F4-86BB73FCC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3050" y="2806700"/>
            <a:ext cx="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28" name="Line 60">
            <a:extLst>
              <a:ext uri="{FF2B5EF4-FFF2-40B4-BE49-F238E27FC236}">
                <a16:creationId xmlns:a16="http://schemas.microsoft.com/office/drawing/2014/main" id="{9CE8A2DE-5B7A-64DA-85B0-1F5C4C3CA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279400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29" name="Line 61">
            <a:extLst>
              <a:ext uri="{FF2B5EF4-FFF2-40B4-BE49-F238E27FC236}">
                <a16:creationId xmlns:a16="http://schemas.microsoft.com/office/drawing/2014/main" id="{D87050C6-1CB0-A9F5-426D-48733056B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8950" y="2260600"/>
            <a:ext cx="0" cy="132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30" name="Line 62">
            <a:extLst>
              <a:ext uri="{FF2B5EF4-FFF2-40B4-BE49-F238E27FC236}">
                <a16:creationId xmlns:a16="http://schemas.microsoft.com/office/drawing/2014/main" id="{534DB0B9-CA4E-023E-A6A3-DACFBAF1D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650" y="2601913"/>
            <a:ext cx="0" cy="725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31" name="Line 63">
            <a:extLst>
              <a:ext uri="{FF2B5EF4-FFF2-40B4-BE49-F238E27FC236}">
                <a16:creationId xmlns:a16="http://schemas.microsoft.com/office/drawing/2014/main" id="{86CD9703-8C3B-4889-9EEC-DBDE07B9B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259715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32" name="Line 64">
            <a:extLst>
              <a:ext uri="{FF2B5EF4-FFF2-40B4-BE49-F238E27FC236}">
                <a16:creationId xmlns:a16="http://schemas.microsoft.com/office/drawing/2014/main" id="{8DDFF54B-9ECE-D9A5-8CA9-B16A50382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1450" y="259715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33" name="Rectangle 65">
            <a:extLst>
              <a:ext uri="{FF2B5EF4-FFF2-40B4-BE49-F238E27FC236}">
                <a16:creationId xmlns:a16="http://schemas.microsoft.com/office/drawing/2014/main" id="{97E48D39-3FB3-5DB1-F30E-6F0EC5A1C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1282700"/>
            <a:ext cx="1092200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Floating</a:t>
            </a:r>
          </a:p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Point</a:t>
            </a:r>
          </a:p>
          <a:p>
            <a:pPr algn="l" eaLnBrk="0" hangingPunct="0"/>
            <a:r>
              <a:rPr lang="en-US" altLang="en-US" sz="1800">
                <a:latin typeface="Verdana" panose="020B0604030504040204" pitchFamily="34" charset="0"/>
              </a:rPr>
              <a:t>Reg</a:t>
            </a:r>
          </a:p>
        </p:txBody>
      </p:sp>
      <p:sp>
        <p:nvSpPr>
          <p:cNvPr id="2106434" name="Rectangle 66">
            <a:extLst>
              <a:ext uri="{FF2B5EF4-FFF2-40B4-BE49-F238E27FC236}">
                <a16:creationId xmlns:a16="http://schemas.microsoft.com/office/drawing/2014/main" id="{18236458-8EA4-D917-8A9A-FC8E99CA4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49938"/>
            <a:ext cx="16478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eaLnBrk="0" hangingPunct="0"/>
            <a:r>
              <a:rPr lang="en-US" altLang="en-US" sz="1800">
                <a:latin typeface="Verdana" panose="020B0604030504040204" pitchFamily="34" charset="0"/>
              </a:rPr>
              <a:t>store buffers</a:t>
            </a:r>
          </a:p>
          <a:p>
            <a:pPr algn="r" eaLnBrk="0" hangingPunct="0"/>
            <a:r>
              <a:rPr lang="en-US" altLang="en-US" sz="1800">
                <a:latin typeface="Verdana" panose="020B0604030504040204" pitchFamily="34" charset="0"/>
              </a:rPr>
              <a:t>(to memory)</a:t>
            </a:r>
          </a:p>
        </p:txBody>
      </p:sp>
      <p:sp>
        <p:nvSpPr>
          <p:cNvPr id="2106435" name="Oval 67">
            <a:extLst>
              <a:ext uri="{FF2B5EF4-FFF2-40B4-BE49-F238E27FC236}">
                <a16:creationId xmlns:a16="http://schemas.microsoft.com/office/drawing/2014/main" id="{5B016121-03B9-2A83-6E50-A99FB805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0" y="2762250"/>
            <a:ext cx="19050" cy="190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06436" name="Group 68">
            <a:extLst>
              <a:ext uri="{FF2B5EF4-FFF2-40B4-BE49-F238E27FC236}">
                <a16:creationId xmlns:a16="http://schemas.microsoft.com/office/drawing/2014/main" id="{EF06743D-CCDF-FDAA-D071-2C1AB0B733AC}"/>
              </a:ext>
            </a:extLst>
          </p:cNvPr>
          <p:cNvGrpSpPr>
            <a:grpSpLocks/>
          </p:cNvGrpSpPr>
          <p:nvPr/>
        </p:nvGrpSpPr>
        <p:grpSpPr bwMode="auto">
          <a:xfrm>
            <a:off x="4132263" y="1268413"/>
            <a:ext cx="1069975" cy="1163637"/>
            <a:chOff x="2531" y="719"/>
            <a:chExt cx="674" cy="733"/>
          </a:xfrm>
        </p:grpSpPr>
        <p:sp>
          <p:nvSpPr>
            <p:cNvPr id="2106437" name="Rectangle 69">
              <a:extLst>
                <a:ext uri="{FF2B5EF4-FFF2-40B4-BE49-F238E27FC236}">
                  <a16:creationId xmlns:a16="http://schemas.microsoft.com/office/drawing/2014/main" id="{6F5CA1BF-F862-1CF9-FD22-B1BC94E7C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" y="759"/>
              <a:ext cx="624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38" name="Line 70">
              <a:extLst>
                <a:ext uri="{FF2B5EF4-FFF2-40B4-BE49-F238E27FC236}">
                  <a16:creationId xmlns:a16="http://schemas.microsoft.com/office/drawing/2014/main" id="{0560446B-405D-E92E-4CF5-915A24FFE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978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39" name="Line 71">
              <a:extLst>
                <a:ext uri="{FF2B5EF4-FFF2-40B4-BE49-F238E27FC236}">
                  <a16:creationId xmlns:a16="http://schemas.microsoft.com/office/drawing/2014/main" id="{C26E5A79-0B6F-EBB9-8D38-2EB21AF60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074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40" name="Line 72">
              <a:extLst>
                <a:ext uri="{FF2B5EF4-FFF2-40B4-BE49-F238E27FC236}">
                  <a16:creationId xmlns:a16="http://schemas.microsoft.com/office/drawing/2014/main" id="{839369B9-1BCB-0B05-F836-0F9C446BE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186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41" name="Line 73">
              <a:extLst>
                <a:ext uri="{FF2B5EF4-FFF2-40B4-BE49-F238E27FC236}">
                  <a16:creationId xmlns:a16="http://schemas.microsoft.com/office/drawing/2014/main" id="{E7C6958B-0CD3-F0A6-FEE7-4CC11211F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1298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42" name="Line 74">
              <a:extLst>
                <a:ext uri="{FF2B5EF4-FFF2-40B4-BE49-F238E27FC236}">
                  <a16:creationId xmlns:a16="http://schemas.microsoft.com/office/drawing/2014/main" id="{7D353D59-2B81-77C7-6C06-79695C784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866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443" name="Rectangle 75">
              <a:extLst>
                <a:ext uri="{FF2B5EF4-FFF2-40B4-BE49-F238E27FC236}">
                  <a16:creationId xmlns:a16="http://schemas.microsoft.com/office/drawing/2014/main" id="{FFAC276A-6923-704D-C2F8-9D8D53D2F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" y="1166"/>
              <a:ext cx="32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4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2106444" name="Rectangle 76">
              <a:extLst>
                <a:ext uri="{FF2B5EF4-FFF2-40B4-BE49-F238E27FC236}">
                  <a16:creationId xmlns:a16="http://schemas.microsoft.com/office/drawing/2014/main" id="{E10326C3-2BF2-5D7D-D207-E5A9AC1C3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719"/>
              <a:ext cx="67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200">
                  <a:latin typeface="Verdana" panose="020B0604030504040204" pitchFamily="34" charset="0"/>
                </a:rPr>
                <a:t>instructions</a:t>
              </a:r>
            </a:p>
          </p:txBody>
        </p:sp>
      </p:grpSp>
      <p:sp>
        <p:nvSpPr>
          <p:cNvPr id="2106445" name="Freeform 77">
            <a:extLst>
              <a:ext uri="{FF2B5EF4-FFF2-40B4-BE49-F238E27FC236}">
                <a16:creationId xmlns:a16="http://schemas.microsoft.com/office/drawing/2014/main" id="{1530F8DC-B3FB-AA91-ABE8-3D1BB8D3BBA0}"/>
              </a:ext>
            </a:extLst>
          </p:cNvPr>
          <p:cNvSpPr>
            <a:spLocks/>
          </p:cNvSpPr>
          <p:nvPr/>
        </p:nvSpPr>
        <p:spPr bwMode="auto">
          <a:xfrm>
            <a:off x="2108200" y="2578100"/>
            <a:ext cx="5373688" cy="2871788"/>
          </a:xfrm>
          <a:custGeom>
            <a:avLst/>
            <a:gdLst>
              <a:gd name="T0" fmla="*/ 0 w 3385"/>
              <a:gd name="T1" fmla="*/ 1808 h 1809"/>
              <a:gd name="T2" fmla="*/ 3384 w 3385"/>
              <a:gd name="T3" fmla="*/ 1808 h 1809"/>
              <a:gd name="T4" fmla="*/ 3384 w 3385"/>
              <a:gd name="T5" fmla="*/ 0 h 1809"/>
              <a:gd name="T6" fmla="*/ 568 w 3385"/>
              <a:gd name="T7" fmla="*/ 0 h 1809"/>
              <a:gd name="T8" fmla="*/ 568 w 3385"/>
              <a:gd name="T9" fmla="*/ 480 h 1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85" h="1809">
                <a:moveTo>
                  <a:pt x="0" y="1808"/>
                </a:moveTo>
                <a:lnTo>
                  <a:pt x="3384" y="1808"/>
                </a:lnTo>
                <a:lnTo>
                  <a:pt x="3384" y="0"/>
                </a:lnTo>
                <a:lnTo>
                  <a:pt x="568" y="0"/>
                </a:lnTo>
                <a:lnTo>
                  <a:pt x="568" y="4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6446" name="Line 78">
            <a:extLst>
              <a:ext uri="{FF2B5EF4-FFF2-40B4-BE49-F238E27FC236}">
                <a16:creationId xmlns:a16="http://schemas.microsoft.com/office/drawing/2014/main" id="{B7196042-8D76-7E26-2B56-3B85B8A08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88" y="5491163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47" name="Freeform 79">
            <a:extLst>
              <a:ext uri="{FF2B5EF4-FFF2-40B4-BE49-F238E27FC236}">
                <a16:creationId xmlns:a16="http://schemas.microsoft.com/office/drawing/2014/main" id="{A42EE92D-DADA-9828-CCE5-3DBBA861DCFC}"/>
              </a:ext>
            </a:extLst>
          </p:cNvPr>
          <p:cNvSpPr>
            <a:spLocks/>
          </p:cNvSpPr>
          <p:nvPr/>
        </p:nvSpPr>
        <p:spPr bwMode="auto">
          <a:xfrm>
            <a:off x="2286000" y="2781300"/>
            <a:ext cx="4560888" cy="2986088"/>
          </a:xfrm>
          <a:custGeom>
            <a:avLst/>
            <a:gdLst>
              <a:gd name="T0" fmla="*/ 2872 w 2873"/>
              <a:gd name="T1" fmla="*/ 0 h 1881"/>
              <a:gd name="T2" fmla="*/ 0 w 2873"/>
              <a:gd name="T3" fmla="*/ 0 h 1881"/>
              <a:gd name="T4" fmla="*/ 0 w 2873"/>
              <a:gd name="T5" fmla="*/ 1880 h 18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73" h="1881">
                <a:moveTo>
                  <a:pt x="2872" y="0"/>
                </a:moveTo>
                <a:lnTo>
                  <a:pt x="0" y="0"/>
                </a:lnTo>
                <a:lnTo>
                  <a:pt x="0" y="188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6448" name="Oval 80">
            <a:extLst>
              <a:ext uri="{FF2B5EF4-FFF2-40B4-BE49-F238E27FC236}">
                <a16:creationId xmlns:a16="http://schemas.microsoft.com/office/drawing/2014/main" id="{465559A6-57C4-04FB-1AFC-72F6E765B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400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49" name="Oval 81">
            <a:extLst>
              <a:ext uri="{FF2B5EF4-FFF2-40B4-BE49-F238E27FC236}">
                <a16:creationId xmlns:a16="http://schemas.microsoft.com/office/drawing/2014/main" id="{22860138-6F4C-ABFF-038A-C4C59414C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5527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0" name="Oval 82">
            <a:extLst>
              <a:ext uri="{FF2B5EF4-FFF2-40B4-BE49-F238E27FC236}">
                <a16:creationId xmlns:a16="http://schemas.microsoft.com/office/drawing/2014/main" id="{AF7A27FC-7B97-402E-D1F7-08366BB93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5527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1" name="Oval 83">
            <a:extLst>
              <a:ext uri="{FF2B5EF4-FFF2-40B4-BE49-F238E27FC236}">
                <a16:creationId xmlns:a16="http://schemas.microsoft.com/office/drawing/2014/main" id="{3A8298CB-3D80-AC87-5E3D-84D8659A5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25527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2" name="Oval 84">
            <a:extLst>
              <a:ext uri="{FF2B5EF4-FFF2-40B4-BE49-F238E27FC236}">
                <a16:creationId xmlns:a16="http://schemas.microsoft.com/office/drawing/2014/main" id="{4D428E3C-5951-B12F-C7D9-6E7F7E3E0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546735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3" name="Oval 85">
            <a:extLst>
              <a:ext uri="{FF2B5EF4-FFF2-40B4-BE49-F238E27FC236}">
                <a16:creationId xmlns:a16="http://schemas.microsoft.com/office/drawing/2014/main" id="{AAA13E11-9777-8A8F-4F32-9AE861CC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600" y="27559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4" name="Oval 86">
            <a:extLst>
              <a:ext uri="{FF2B5EF4-FFF2-40B4-BE49-F238E27FC236}">
                <a16:creationId xmlns:a16="http://schemas.microsoft.com/office/drawing/2014/main" id="{B90B5000-969F-A409-E3B8-968D1AEED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2787650"/>
            <a:ext cx="19050" cy="190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5" name="Oval 87">
            <a:extLst>
              <a:ext uri="{FF2B5EF4-FFF2-40B4-BE49-F238E27FC236}">
                <a16:creationId xmlns:a16="http://schemas.microsoft.com/office/drawing/2014/main" id="{889EB607-616E-BDEB-3110-EE9070EE5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2774950"/>
            <a:ext cx="19050" cy="190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6" name="Rectangle 88">
            <a:extLst>
              <a:ext uri="{FF2B5EF4-FFF2-40B4-BE49-F238E27FC236}">
                <a16:creationId xmlns:a16="http://schemas.microsoft.com/office/drawing/2014/main" id="{6B2C8D06-4517-11A4-DE16-D5EAC0A88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5634038"/>
            <a:ext cx="5881687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Common bus ensures that  data is made available immediately to all the instructions waiting for it</a:t>
            </a:r>
          </a:p>
        </p:txBody>
      </p:sp>
      <p:sp>
        <p:nvSpPr>
          <p:cNvPr id="2106457" name="Rectangle 89">
            <a:extLst>
              <a:ext uri="{FF2B5EF4-FFF2-40B4-BE49-F238E27FC236}">
                <a16:creationId xmlns:a16="http://schemas.microsoft.com/office/drawing/2014/main" id="{A508A9B3-5D86-84E3-C92B-540FFC4AD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3055938"/>
            <a:ext cx="1616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distribute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instruction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templates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by 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functional</a:t>
            </a:r>
          </a:p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units</a:t>
            </a:r>
          </a:p>
        </p:txBody>
      </p:sp>
      <p:sp>
        <p:nvSpPr>
          <p:cNvPr id="2106458" name="Rectangle 90">
            <a:extLst>
              <a:ext uri="{FF2B5EF4-FFF2-40B4-BE49-F238E27FC236}">
                <a16:creationId xmlns:a16="http://schemas.microsoft.com/office/drawing/2014/main" id="{70975603-E61A-27F6-7FBA-27D20DC5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5741988"/>
            <a:ext cx="27495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59" name="Line 91">
            <a:extLst>
              <a:ext uri="{FF2B5EF4-FFF2-40B4-BE49-F238E27FC236}">
                <a16:creationId xmlns:a16="http://schemas.microsoft.com/office/drawing/2014/main" id="{1F6A7F06-BC4E-5E86-E46D-71C4A9219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2797175"/>
            <a:ext cx="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6460" name="Rectangle 92">
            <a:extLst>
              <a:ext uri="{FF2B5EF4-FFF2-40B4-BE49-F238E27FC236}">
                <a16:creationId xmlns:a16="http://schemas.microsoft.com/office/drawing/2014/main" id="{7C939006-262E-F3CE-45FD-A27B042F3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105400"/>
            <a:ext cx="17764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latin typeface="Verdana" panose="020B0604030504040204" pitchFamily="34" charset="0"/>
              </a:rPr>
              <a:t>&lt; t, result &gt;</a:t>
            </a:r>
          </a:p>
        </p:txBody>
      </p:sp>
      <p:grpSp>
        <p:nvGrpSpPr>
          <p:cNvPr id="2106461" name="Group 93">
            <a:extLst>
              <a:ext uri="{FF2B5EF4-FFF2-40B4-BE49-F238E27FC236}">
                <a16:creationId xmlns:a16="http://schemas.microsoft.com/office/drawing/2014/main" id="{472A49EE-8FA0-20B6-D7F8-6AE514CB7F15}"/>
              </a:ext>
            </a:extLst>
          </p:cNvPr>
          <p:cNvGrpSpPr>
            <a:grpSpLocks/>
          </p:cNvGrpSpPr>
          <p:nvPr/>
        </p:nvGrpSpPr>
        <p:grpSpPr bwMode="auto">
          <a:xfrm>
            <a:off x="1708150" y="5748338"/>
            <a:ext cx="1039813" cy="766762"/>
            <a:chOff x="1076" y="3621"/>
            <a:chExt cx="655" cy="483"/>
          </a:xfrm>
        </p:grpSpPr>
        <p:grpSp>
          <p:nvGrpSpPr>
            <p:cNvPr id="2106462" name="Group 94">
              <a:extLst>
                <a:ext uri="{FF2B5EF4-FFF2-40B4-BE49-F238E27FC236}">
                  <a16:creationId xmlns:a16="http://schemas.microsoft.com/office/drawing/2014/main" id="{673F499F-A272-A836-31D2-EA664189D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5" y="3636"/>
              <a:ext cx="616" cy="468"/>
              <a:chOff x="1115" y="3636"/>
              <a:chExt cx="616" cy="468"/>
            </a:xfrm>
          </p:grpSpPr>
          <p:sp>
            <p:nvSpPr>
              <p:cNvPr id="2106463" name="Rectangle 95">
                <a:extLst>
                  <a:ext uri="{FF2B5EF4-FFF2-40B4-BE49-F238E27FC236}">
                    <a16:creationId xmlns:a16="http://schemas.microsoft.com/office/drawing/2014/main" id="{BE52B4F8-493E-F25F-D50C-1509DFD04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" y="3636"/>
                <a:ext cx="616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64" name="Line 96">
                <a:extLst>
                  <a:ext uri="{FF2B5EF4-FFF2-40B4-BE49-F238E27FC236}">
                    <a16:creationId xmlns:a16="http://schemas.microsoft.com/office/drawing/2014/main" id="{45EF53B5-51B5-41B0-93D1-DB23A96B8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7" y="3636"/>
                <a:ext cx="0" cy="45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65" name="Line 97">
                <a:extLst>
                  <a:ext uri="{FF2B5EF4-FFF2-40B4-BE49-F238E27FC236}">
                    <a16:creationId xmlns:a16="http://schemas.microsoft.com/office/drawing/2014/main" id="{0BF382F2-DEAD-D22C-EB68-30A78631F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8" y="3799"/>
                <a:ext cx="60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6466" name="Line 98">
                <a:extLst>
                  <a:ext uri="{FF2B5EF4-FFF2-40B4-BE49-F238E27FC236}">
                    <a16:creationId xmlns:a16="http://schemas.microsoft.com/office/drawing/2014/main" id="{9D064E35-9FA9-9E75-6F30-5DEA7F634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8" y="3951"/>
                <a:ext cx="609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6467" name="Rectangle 99">
              <a:extLst>
                <a:ext uri="{FF2B5EF4-FFF2-40B4-BE49-F238E27FC236}">
                  <a16:creationId xmlns:a16="http://schemas.microsoft.com/office/drawing/2014/main" id="{7AC982D7-C825-3C51-EC82-920873C55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621"/>
              <a:ext cx="22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latin typeface="Verdana" panose="020B0604030504040204" pitchFamily="34" charset="0"/>
                </a:rPr>
                <a:t> </a:t>
              </a:r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sp>
          <p:nvSpPr>
            <p:cNvPr id="2106468" name="Rectangle 100">
              <a:extLst>
                <a:ext uri="{FF2B5EF4-FFF2-40B4-BE49-F238E27FC236}">
                  <a16:creationId xmlns:a16="http://schemas.microsoft.com/office/drawing/2014/main" id="{E51E91AB-63F6-C509-32A2-73FD31765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0" y="3629"/>
              <a:ext cx="3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400">
                  <a:solidFill>
                    <a:srgbClr val="FFCC66"/>
                  </a:solidFill>
                  <a:latin typeface="Verdana" panose="020B0604030504040204" pitchFamily="34" charset="0"/>
                </a:rPr>
                <a:t>data</a:t>
              </a:r>
            </a:p>
          </p:txBody>
        </p:sp>
      </p:grpSp>
      <p:sp>
        <p:nvSpPr>
          <p:cNvPr id="2106469" name="Freeform 101">
            <a:extLst>
              <a:ext uri="{FF2B5EF4-FFF2-40B4-BE49-F238E27FC236}">
                <a16:creationId xmlns:a16="http://schemas.microsoft.com/office/drawing/2014/main" id="{B1F4B317-7297-C622-0166-F4147CC26887}"/>
              </a:ext>
            </a:extLst>
          </p:cNvPr>
          <p:cNvSpPr>
            <a:spLocks/>
          </p:cNvSpPr>
          <p:nvPr/>
        </p:nvSpPr>
        <p:spPr bwMode="auto">
          <a:xfrm>
            <a:off x="7226300" y="1689100"/>
            <a:ext cx="266700" cy="889000"/>
          </a:xfrm>
          <a:custGeom>
            <a:avLst/>
            <a:gdLst>
              <a:gd name="T0" fmla="*/ 0 w 168"/>
              <a:gd name="T1" fmla="*/ 0 h 560"/>
              <a:gd name="T2" fmla="*/ 168 w 168"/>
              <a:gd name="T3" fmla="*/ 0 h 560"/>
              <a:gd name="T4" fmla="*/ 168 w 168"/>
              <a:gd name="T5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8" h="560">
                <a:moveTo>
                  <a:pt x="0" y="0"/>
                </a:moveTo>
                <a:lnTo>
                  <a:pt x="168" y="0"/>
                </a:lnTo>
                <a:lnTo>
                  <a:pt x="168" y="56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B0A87C7-A671-830E-EA17-9CE2AB64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52038C-5704-7098-D6B0-3A6EA8FA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1F3169-B159-DB04-1ECE-DD840AA0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38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362" name="Rectangle 2">
            <a:extLst>
              <a:ext uri="{FF2B5EF4-FFF2-40B4-BE49-F238E27FC236}">
                <a16:creationId xmlns:a16="http://schemas.microsoft.com/office/drawing/2014/main" id="{100B64AF-C43B-42C7-FBF1-DFCC4CAC0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Effectiveness?</a:t>
            </a:r>
          </a:p>
        </p:txBody>
      </p:sp>
      <p:sp>
        <p:nvSpPr>
          <p:cNvPr id="2063363" name="Rectangle 3">
            <a:extLst>
              <a:ext uri="{FF2B5EF4-FFF2-40B4-BE49-F238E27FC236}">
                <a16:creationId xmlns:a16="http://schemas.microsoft.com/office/drawing/2014/main" id="{727EE38A-47DD-4B1B-92BF-D9DA61658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338262"/>
            <a:ext cx="8156575" cy="447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Renaming and Out-of-order execution was first</a:t>
            </a: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implemented in 1969 in IBM 360/91 but did not show up in the subsequent models until mid-Nineties.</a:t>
            </a:r>
          </a:p>
          <a:p>
            <a:pPr algn="l" eaLnBrk="0" hangingPunct="0"/>
            <a:endParaRPr lang="en-US" altLang="en-US" sz="2400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dirty="0">
                <a:latin typeface="Verdana" panose="020B0604030504040204" pitchFamily="34" charset="0"/>
              </a:rPr>
              <a:t>			</a:t>
            </a:r>
            <a:r>
              <a:rPr lang="en-US" altLang="en-US" sz="2400" i="1" dirty="0">
                <a:latin typeface="Verdana" panose="020B0604030504040204" pitchFamily="34" charset="0"/>
              </a:rPr>
              <a:t>Why ?</a:t>
            </a:r>
          </a:p>
          <a:p>
            <a:pPr algn="l" eaLnBrk="0" hangingPunct="0"/>
            <a:endParaRPr lang="en-US" altLang="en-US" sz="2400" i="1" dirty="0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 i="1" dirty="0">
                <a:latin typeface="Verdana" panose="020B0604030504040204" pitchFamily="34" charset="0"/>
              </a:rPr>
              <a:t>Reasons</a:t>
            </a:r>
          </a:p>
          <a:p>
            <a:pPr lvl="2" algn="l" eaLnBrk="0" hangingPunct="0"/>
            <a:r>
              <a:rPr lang="en-US" altLang="en-US" sz="2400" dirty="0">
                <a:latin typeface="Verdana" panose="020B0604030504040204" pitchFamily="34" charset="0"/>
              </a:rPr>
              <a:t>1. Exceptions not precise!</a:t>
            </a:r>
          </a:p>
          <a:p>
            <a:pPr lvl="2" algn="l" eaLnBrk="0" hangingPunct="0"/>
            <a:r>
              <a:rPr lang="en-US" altLang="en-US" sz="2400" dirty="0">
                <a:latin typeface="Verdana" panose="020B0604030504040204" pitchFamily="34" charset="0"/>
              </a:rPr>
              <a:t>2. Effective on a very small class of programs</a:t>
            </a:r>
          </a:p>
          <a:p>
            <a:pPr lvl="2" algn="l" eaLnBrk="0" hangingPunct="0"/>
            <a:endParaRPr lang="en-US" altLang="en-US" sz="2400" dirty="0">
              <a:latin typeface="Verdana" panose="020B0604030504040204" pitchFamily="34" charset="0"/>
            </a:endParaRPr>
          </a:p>
          <a:p>
            <a:pPr lvl="2" algn="l" eaLnBrk="0" hangingPunct="0"/>
            <a:r>
              <a:rPr lang="en-US" altLang="en-US" sz="2400" dirty="0">
                <a:latin typeface="Verdana" panose="020B0604030504040204" pitchFamily="34" charset="0"/>
              </a:rPr>
              <a:t>	One more problem needed to be solved</a:t>
            </a:r>
          </a:p>
        </p:txBody>
      </p:sp>
      <p:sp>
        <p:nvSpPr>
          <p:cNvPr id="2063364" name="Line 4">
            <a:extLst>
              <a:ext uri="{FF2B5EF4-FFF2-40B4-BE49-F238E27FC236}">
                <a16:creationId xmlns:a16="http://schemas.microsoft.com/office/drawing/2014/main" id="{EBA2D44B-E643-BDD3-737F-B729C2DFC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6451600"/>
            <a:ext cx="3670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3365" name="Text Box 5">
            <a:extLst>
              <a:ext uri="{FF2B5EF4-FFF2-40B4-BE49-F238E27FC236}">
                <a16:creationId xmlns:a16="http://schemas.microsoft.com/office/drawing/2014/main" id="{C330AD8C-74E9-0704-859A-C83FE077A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5956300"/>
            <a:ext cx="276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i="1">
                <a:solidFill>
                  <a:srgbClr val="FF0000"/>
                </a:solidFill>
                <a:latin typeface="Verdana" panose="020B0604030504040204" pitchFamily="34" charset="0"/>
              </a:rPr>
              <a:t>Control transfers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30C4F54-F5CA-B59B-07C7-500DD8C1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44BB74-3D79-5243-E3B9-C358419A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B959468-2546-BAA4-861B-FAAE0CDB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39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336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386" name="Rectangle 2">
            <a:extLst>
              <a:ext uri="{FF2B5EF4-FFF2-40B4-BE49-F238E27FC236}">
                <a16:creationId xmlns:a16="http://schemas.microsoft.com/office/drawing/2014/main" id="{D3E3AF76-3252-F4B1-44F4-F010F48CF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Precise Interrupts</a:t>
            </a:r>
          </a:p>
        </p:txBody>
      </p:sp>
      <p:sp>
        <p:nvSpPr>
          <p:cNvPr id="2064387" name="Rectangle 3">
            <a:extLst>
              <a:ext uri="{FF2B5EF4-FFF2-40B4-BE49-F238E27FC236}">
                <a16:creationId xmlns:a16="http://schemas.microsoft.com/office/drawing/2014/main" id="{F5A97282-27BA-A52A-214C-F756C99D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725613"/>
            <a:ext cx="800735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It must appear as if an interrupt is taken between two instructions</a:t>
            </a:r>
            <a:r>
              <a:rPr lang="en-US" altLang="en-US" sz="2400">
                <a:latin typeface="Verdana" panose="020B0604030504040204" pitchFamily="34" charset="0"/>
              </a:rPr>
              <a:t>  (say I</a:t>
            </a:r>
            <a:r>
              <a:rPr lang="en-US" altLang="en-US" sz="2400" baseline="-25000">
                <a:latin typeface="Verdana" panose="020B0604030504040204" pitchFamily="34" charset="0"/>
              </a:rPr>
              <a:t>i</a:t>
            </a:r>
            <a:r>
              <a:rPr lang="en-US" altLang="en-US" sz="2400">
                <a:latin typeface="Verdana" panose="020B0604030504040204" pitchFamily="34" charset="0"/>
              </a:rPr>
              <a:t> and I</a:t>
            </a:r>
            <a:r>
              <a:rPr lang="en-US" altLang="en-US" sz="2400" baseline="-25000">
                <a:latin typeface="Verdana" panose="020B0604030504040204" pitchFamily="34" charset="0"/>
              </a:rPr>
              <a:t>i+1</a:t>
            </a:r>
            <a:r>
              <a:rPr lang="en-US" altLang="en-US" sz="2400">
                <a:latin typeface="Verdana" panose="020B0604030504040204" pitchFamily="34" charset="0"/>
              </a:rPr>
              <a:t>)</a:t>
            </a:r>
          </a:p>
          <a:p>
            <a:pPr algn="l" eaLnBrk="0" hangingPunct="0"/>
            <a:endParaRPr lang="en-US" altLang="en-US" sz="2400">
              <a:latin typeface="Verdana" panose="020B0604030504040204" pitchFamily="34" charset="0"/>
            </a:endParaRP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the effect of all instructions up to and including I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is</a:t>
            </a:r>
          </a:p>
          <a:p>
            <a:pPr lvl="1"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 totally complete</a:t>
            </a:r>
          </a:p>
          <a:p>
            <a:pPr lvl="1"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no effect of any instruction after I</a:t>
            </a:r>
            <a:r>
              <a:rPr lang="en-US" altLang="en-US" baseline="-25000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has taken place</a:t>
            </a:r>
          </a:p>
          <a:p>
            <a:pPr lvl="1" algn="l" eaLnBrk="0" hangingPunct="0"/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The interrupt handler either aborts the program or </a:t>
            </a:r>
          </a:p>
          <a:p>
            <a:pPr algn="l" eaLnBrk="0" hangingPunct="0"/>
            <a:r>
              <a:rPr lang="en-US" altLang="en-US" sz="2400">
                <a:latin typeface="Verdana" panose="020B0604030504040204" pitchFamily="34" charset="0"/>
              </a:rPr>
              <a:t>restarts it at I</a:t>
            </a:r>
            <a:r>
              <a:rPr lang="en-US" altLang="en-US" sz="2400" baseline="-25000">
                <a:latin typeface="Verdana" panose="020B0604030504040204" pitchFamily="34" charset="0"/>
              </a:rPr>
              <a:t>i+1 </a:t>
            </a:r>
            <a:r>
              <a:rPr lang="en-US" altLang="en-US" sz="2400">
                <a:latin typeface="Verdana" panose="020B0604030504040204" pitchFamily="34" charset="0"/>
              </a:rPr>
              <a:t>.</a:t>
            </a:r>
            <a:endParaRPr lang="en-US" altLang="en-US" sz="2400" i="1">
              <a:latin typeface="Verdana" panose="020B060403050404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E2300BB-6D79-DCF4-A0C1-EDA16062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7916F8-506B-B867-42C7-F55B547B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6B9469-A7C1-C880-A965-6BE7E667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40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410" name="Rectangle 2">
            <a:extLst>
              <a:ext uri="{FF2B5EF4-FFF2-40B4-BE49-F238E27FC236}">
                <a16:creationId xmlns:a16="http://schemas.microsoft.com/office/drawing/2014/main" id="{9C40D322-F67F-E81B-F977-2424DD873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Effect on Interrupts</a:t>
            </a:r>
            <a:br>
              <a:rPr lang="en-US" altLang="en-US" sz="2400"/>
            </a:br>
            <a:r>
              <a:rPr lang="en-US" altLang="en-US" sz="2400" i="1"/>
              <a:t>Out-of-order Completion</a:t>
            </a:r>
          </a:p>
        </p:txBody>
      </p:sp>
      <p:sp>
        <p:nvSpPr>
          <p:cNvPr id="2065411" name="Rectangle 3">
            <a:extLst>
              <a:ext uri="{FF2B5EF4-FFF2-40B4-BE49-F238E27FC236}">
                <a16:creationId xmlns:a16="http://schemas.microsoft.com/office/drawing/2014/main" id="{3F452BF7-5AE6-9B70-6BDA-2E16B749A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38" y="1485900"/>
            <a:ext cx="50038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DIVD		f6, 	f6,	f4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LD		f2,	45(r3)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3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MULTD		f0,	f2,	f4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4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DIVD		f8,	f6,	f2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5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SUBD		f10,	f0,	f6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</a:t>
            </a:r>
            <a:r>
              <a:rPr lang="en-US" altLang="en-US" i="1" baseline="-25000">
                <a:solidFill>
                  <a:srgbClr val="56127A"/>
                </a:solidFill>
                <a:latin typeface="Verdana" panose="020B0604030504040204" pitchFamily="34" charset="0"/>
              </a:rPr>
              <a:t>6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	ADDD		f6,	f8,	f2</a:t>
            </a:r>
          </a:p>
        </p:txBody>
      </p:sp>
      <p:sp>
        <p:nvSpPr>
          <p:cNvPr id="2065412" name="Rectangle 4">
            <a:extLst>
              <a:ext uri="{FF2B5EF4-FFF2-40B4-BE49-F238E27FC236}">
                <a16:creationId xmlns:a16="http://schemas.microsoft.com/office/drawing/2014/main" id="{D851A65C-E25D-4393-C4A2-7F8FFA34F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3760788"/>
            <a:ext cx="825341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out-of-order comp	</a:t>
            </a:r>
            <a:r>
              <a:rPr lang="en-US" altLang="en-US">
                <a:latin typeface="Verdana" panose="020B0604030504040204" pitchFamily="34" charset="0"/>
              </a:rPr>
              <a:t>1   2   </a:t>
            </a:r>
            <a:r>
              <a:rPr lang="en-US" altLang="en-US" u="sng">
                <a:latin typeface="Verdana" panose="020B0604030504040204" pitchFamily="34" charset="0"/>
              </a:rPr>
              <a:t>2</a:t>
            </a:r>
            <a:r>
              <a:rPr lang="en-US" altLang="en-US">
                <a:latin typeface="Verdana" panose="020B0604030504040204" pitchFamily="34" charset="0"/>
              </a:rPr>
              <a:t>   3   </a:t>
            </a:r>
            <a:r>
              <a:rPr lang="en-US" altLang="en-US" u="sng">
                <a:latin typeface="Verdana" panose="020B0604030504040204" pitchFamily="34" charset="0"/>
              </a:rPr>
              <a:t>1</a:t>
            </a:r>
            <a:r>
              <a:rPr lang="en-US" altLang="en-US">
                <a:latin typeface="Verdana" panose="020B0604030504040204" pitchFamily="34" charset="0"/>
              </a:rPr>
              <a:t>   4   </a:t>
            </a:r>
            <a:r>
              <a:rPr lang="en-US" altLang="en-US" u="sng">
                <a:latin typeface="Verdana" panose="020B0604030504040204" pitchFamily="34" charset="0"/>
              </a:rPr>
              <a:t>3</a:t>
            </a:r>
            <a:r>
              <a:rPr lang="en-US" altLang="en-US">
                <a:latin typeface="Verdana" panose="020B0604030504040204" pitchFamily="34" charset="0"/>
              </a:rPr>
              <a:t>   5   </a:t>
            </a:r>
            <a:r>
              <a:rPr lang="en-US" altLang="en-US" u="sng">
                <a:latin typeface="Verdana" panose="020B0604030504040204" pitchFamily="34" charset="0"/>
              </a:rPr>
              <a:t>5</a:t>
            </a:r>
            <a:r>
              <a:rPr lang="en-US" altLang="en-US">
                <a:latin typeface="Verdana" panose="020B0604030504040204" pitchFamily="34" charset="0"/>
              </a:rPr>
              <a:t>   </a:t>
            </a:r>
            <a:r>
              <a:rPr lang="en-US" altLang="en-US" u="sng">
                <a:latin typeface="Verdana" panose="020B0604030504040204" pitchFamily="34" charset="0"/>
              </a:rPr>
              <a:t>4</a:t>
            </a:r>
            <a:r>
              <a:rPr lang="en-US" altLang="en-US">
                <a:latin typeface="Verdana" panose="020B0604030504040204" pitchFamily="34" charset="0"/>
              </a:rPr>
              <a:t>   6   </a:t>
            </a:r>
            <a:r>
              <a:rPr lang="en-US" altLang="en-US" u="sng">
                <a:latin typeface="Verdana" panose="020B0604030504040204" pitchFamily="34" charset="0"/>
              </a:rPr>
              <a:t>6</a:t>
            </a:r>
          </a:p>
          <a:p>
            <a:pPr algn="l" eaLnBrk="0" hangingPunct="0"/>
            <a:r>
              <a:rPr lang="en-US" altLang="en-US" sz="2400" i="1">
                <a:solidFill>
                  <a:srgbClr val="56127A"/>
                </a:solidFill>
                <a:latin typeface="Verdana" panose="020B0604030504040204" pitchFamily="34" charset="0"/>
              </a:rPr>
              <a:t>				       </a:t>
            </a:r>
            <a:r>
              <a:rPr lang="en-US" altLang="en-US" i="1">
                <a:latin typeface="Verdana" panose="020B0604030504040204" pitchFamily="34" charset="0"/>
              </a:rPr>
              <a:t>restore f2 	   restore f10</a:t>
            </a:r>
            <a:endParaRPr lang="en-US" altLang="en-US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>
                <a:latin typeface="Verdana" panose="020B0604030504040204" pitchFamily="34" charset="0"/>
              </a:rPr>
              <a:t>Consider interrupts</a:t>
            </a:r>
          </a:p>
          <a:p>
            <a:pPr algn="l" eaLnBrk="0" hangingPunct="0"/>
            <a:endParaRPr lang="en-US" altLang="en-US" i="1"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Precise interrupts are difficult to implement at high speed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	- want to start execution of later instructions before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	  exception checks finished on earlier instructions</a:t>
            </a:r>
          </a:p>
        </p:txBody>
      </p:sp>
      <p:grpSp>
        <p:nvGrpSpPr>
          <p:cNvPr id="2065413" name="Group 5">
            <a:extLst>
              <a:ext uri="{FF2B5EF4-FFF2-40B4-BE49-F238E27FC236}">
                <a16:creationId xmlns:a16="http://schemas.microsoft.com/office/drawing/2014/main" id="{E34F47A8-4585-7353-40D5-B45B707392B6}"/>
              </a:ext>
            </a:extLst>
          </p:cNvPr>
          <p:cNvGrpSpPr>
            <a:grpSpLocks/>
          </p:cNvGrpSpPr>
          <p:nvPr/>
        </p:nvGrpSpPr>
        <p:grpSpPr bwMode="auto">
          <a:xfrm>
            <a:off x="3438525" y="4103688"/>
            <a:ext cx="3532188" cy="704850"/>
            <a:chOff x="2248" y="2596"/>
            <a:chExt cx="2225" cy="444"/>
          </a:xfrm>
        </p:grpSpPr>
        <p:sp>
          <p:nvSpPr>
            <p:cNvPr id="2065414" name="Freeform 6">
              <a:extLst>
                <a:ext uri="{FF2B5EF4-FFF2-40B4-BE49-F238E27FC236}">
                  <a16:creationId xmlns:a16="http://schemas.microsoft.com/office/drawing/2014/main" id="{9F9EEE51-892D-3B37-BF37-C94011133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2596"/>
              <a:ext cx="854" cy="392"/>
            </a:xfrm>
            <a:custGeom>
              <a:avLst/>
              <a:gdLst>
                <a:gd name="T0" fmla="*/ 0 w 854"/>
                <a:gd name="T1" fmla="*/ 391 h 392"/>
                <a:gd name="T2" fmla="*/ 853 w 854"/>
                <a:gd name="T3" fmla="*/ 391 h 392"/>
                <a:gd name="T4" fmla="*/ 853 w 854"/>
                <a:gd name="T5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4" h="392">
                  <a:moveTo>
                    <a:pt x="0" y="391"/>
                  </a:moveTo>
                  <a:lnTo>
                    <a:pt x="853" y="391"/>
                  </a:lnTo>
                  <a:lnTo>
                    <a:pt x="853" y="0"/>
                  </a:lnTo>
                </a:path>
              </a:pathLst>
            </a:custGeom>
            <a:noFill/>
            <a:ln w="12700" cap="rnd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15" name="Freeform 7">
              <a:extLst>
                <a:ext uri="{FF2B5EF4-FFF2-40B4-BE49-F238E27FC236}">
                  <a16:creationId xmlns:a16="http://schemas.microsoft.com/office/drawing/2014/main" id="{22A92FFC-8028-15E9-0A20-9825BE2AA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648"/>
              <a:ext cx="2225" cy="392"/>
            </a:xfrm>
            <a:custGeom>
              <a:avLst/>
              <a:gdLst>
                <a:gd name="T0" fmla="*/ 0 w 2225"/>
                <a:gd name="T1" fmla="*/ 391 h 392"/>
                <a:gd name="T2" fmla="*/ 2224 w 2225"/>
                <a:gd name="T3" fmla="*/ 391 h 392"/>
                <a:gd name="T4" fmla="*/ 2224 w 2225"/>
                <a:gd name="T5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392">
                  <a:moveTo>
                    <a:pt x="0" y="391"/>
                  </a:moveTo>
                  <a:lnTo>
                    <a:pt x="2224" y="391"/>
                  </a:lnTo>
                  <a:lnTo>
                    <a:pt x="2224" y="0"/>
                  </a:lnTo>
                </a:path>
              </a:pathLst>
            </a:custGeom>
            <a:noFill/>
            <a:ln w="12700" cap="rnd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BAFBFB-2ACD-FB5B-ABDE-5FAC3157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25D2CA3-915A-A491-A0F9-BB01F26E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8C1A44F-291C-A2AA-9578-983F33EB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41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82" name="Rectangle 2">
            <a:extLst>
              <a:ext uri="{FF2B5EF4-FFF2-40B4-BE49-F238E27FC236}">
                <a16:creationId xmlns:a16="http://schemas.microsoft.com/office/drawing/2014/main" id="{67287104-A2F4-4C33-60F1-FB9171BA3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In-Order Commit for Precise Exceptions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F21686-03A4-3E45-15D5-E0DD2D53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68483" name="Text Box 3">
            <a:extLst>
              <a:ext uri="{FF2B5EF4-FFF2-40B4-BE49-F238E27FC236}">
                <a16:creationId xmlns:a16="http://schemas.microsoft.com/office/drawing/2014/main" id="{245D05A8-34EC-6366-A589-1A846C15B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4127500"/>
            <a:ext cx="8305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Instructions fetched and decoded into instruction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reorder buffer in-order</a:t>
            </a:r>
          </a:p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Execution is out-of-order ( 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out-of-order completion)</a:t>
            </a:r>
          </a:p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</a:t>
            </a:r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Commit 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(write-back to architectural state, i.e., regfile &amp;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memory, is in-order</a:t>
            </a:r>
          </a:p>
        </p:txBody>
      </p:sp>
      <p:sp>
        <p:nvSpPr>
          <p:cNvPr id="2068484" name="Text Box 4">
            <a:extLst>
              <a:ext uri="{FF2B5EF4-FFF2-40B4-BE49-F238E27FC236}">
                <a16:creationId xmlns:a16="http://schemas.microsoft.com/office/drawing/2014/main" id="{1908D2ED-A457-0278-365D-A94E7A51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5842000"/>
            <a:ext cx="7848600" cy="708025"/>
          </a:xfrm>
          <a:prstGeom prst="rect">
            <a:avLst/>
          </a:prstGeom>
          <a:noFill/>
          <a:ln w="63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i="1">
                <a:latin typeface="Verdana" panose="020B0604030504040204" pitchFamily="34" charset="0"/>
              </a:rPr>
              <a:t>Temporary storage needed to hold results before commit             (shadow registers and store buffers)</a:t>
            </a:r>
          </a:p>
        </p:txBody>
      </p:sp>
      <p:sp>
        <p:nvSpPr>
          <p:cNvPr id="2068485" name="Rectangle 5">
            <a:extLst>
              <a:ext uri="{FF2B5EF4-FFF2-40B4-BE49-F238E27FC236}">
                <a16:creationId xmlns:a16="http://schemas.microsoft.com/office/drawing/2014/main" id="{BDF5E1D5-461A-6D79-5DB8-D4412831A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76400"/>
            <a:ext cx="990600" cy="76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Fetch</a:t>
            </a:r>
          </a:p>
        </p:txBody>
      </p:sp>
      <p:sp>
        <p:nvSpPr>
          <p:cNvPr id="2068486" name="Rectangle 6">
            <a:extLst>
              <a:ext uri="{FF2B5EF4-FFF2-40B4-BE49-F238E27FC236}">
                <a16:creationId xmlns:a16="http://schemas.microsoft.com/office/drawing/2014/main" id="{B3A3D05C-3A06-8F93-608E-C9A18A5FD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676400"/>
            <a:ext cx="1219200" cy="76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Decode</a:t>
            </a:r>
          </a:p>
        </p:txBody>
      </p:sp>
      <p:sp>
        <p:nvSpPr>
          <p:cNvPr id="2068487" name="Rectangle 7">
            <a:extLst>
              <a:ext uri="{FF2B5EF4-FFF2-40B4-BE49-F238E27FC236}">
                <a16:creationId xmlns:a16="http://schemas.microsoft.com/office/drawing/2014/main" id="{AE417FFA-EDF3-4568-FD0A-92C5C8E86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95600"/>
            <a:ext cx="1219200" cy="5048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Execute</a:t>
            </a:r>
          </a:p>
        </p:txBody>
      </p:sp>
      <p:sp>
        <p:nvSpPr>
          <p:cNvPr id="2068488" name="Rectangle 8">
            <a:extLst>
              <a:ext uri="{FF2B5EF4-FFF2-40B4-BE49-F238E27FC236}">
                <a16:creationId xmlns:a16="http://schemas.microsoft.com/office/drawing/2014/main" id="{AF40BEAB-0643-D045-0227-062FAF53D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600200"/>
            <a:ext cx="1295400" cy="76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Commit</a:t>
            </a:r>
          </a:p>
        </p:txBody>
      </p:sp>
      <p:sp>
        <p:nvSpPr>
          <p:cNvPr id="2068489" name="Line 9">
            <a:extLst>
              <a:ext uri="{FF2B5EF4-FFF2-40B4-BE49-F238E27FC236}">
                <a16:creationId xmlns:a16="http://schemas.microsoft.com/office/drawing/2014/main" id="{94CC79D7-2AA7-6DB1-FDC5-D3E1B9696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98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0" name="Line 10">
            <a:extLst>
              <a:ext uri="{FF2B5EF4-FFF2-40B4-BE49-F238E27FC236}">
                <a16:creationId xmlns:a16="http://schemas.microsoft.com/office/drawing/2014/main" id="{9ED407FD-48E5-731D-5BD8-A1171DAF8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0574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1" name="Rectangle 11">
            <a:extLst>
              <a:ext uri="{FF2B5EF4-FFF2-40B4-BE49-F238E27FC236}">
                <a16:creationId xmlns:a16="http://schemas.microsoft.com/office/drawing/2014/main" id="{F74F7BD4-D5A9-8271-79B2-FFF787888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676400"/>
            <a:ext cx="23622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Reorder Buffer</a:t>
            </a:r>
          </a:p>
        </p:txBody>
      </p:sp>
      <p:sp>
        <p:nvSpPr>
          <p:cNvPr id="2068492" name="Line 12">
            <a:extLst>
              <a:ext uri="{FF2B5EF4-FFF2-40B4-BE49-F238E27FC236}">
                <a16:creationId xmlns:a16="http://schemas.microsoft.com/office/drawing/2014/main" id="{CF2DB2E7-24DB-9112-564D-A3B2A891A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057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3" name="Text Box 13">
            <a:extLst>
              <a:ext uri="{FF2B5EF4-FFF2-40B4-BE49-F238E27FC236}">
                <a16:creationId xmlns:a16="http://schemas.microsoft.com/office/drawing/2014/main" id="{912A5D67-D14E-7F23-0527-4DFF99EBA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03325"/>
            <a:ext cx="1246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In-order</a:t>
            </a:r>
          </a:p>
        </p:txBody>
      </p:sp>
      <p:sp>
        <p:nvSpPr>
          <p:cNvPr id="2068494" name="Text Box 14">
            <a:extLst>
              <a:ext uri="{FF2B5EF4-FFF2-40B4-BE49-F238E27FC236}">
                <a16:creationId xmlns:a16="http://schemas.microsoft.com/office/drawing/2014/main" id="{6FECA447-A2DA-7C56-9DE1-D9A82410C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203325"/>
            <a:ext cx="1246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In-order</a:t>
            </a:r>
          </a:p>
        </p:txBody>
      </p:sp>
      <p:sp>
        <p:nvSpPr>
          <p:cNvPr id="2068495" name="Line 15">
            <a:extLst>
              <a:ext uri="{FF2B5EF4-FFF2-40B4-BE49-F238E27FC236}">
                <a16:creationId xmlns:a16="http://schemas.microsoft.com/office/drawing/2014/main" id="{F0211D18-EA47-69CB-F104-3FB652B9D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3622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6" name="Line 16">
            <a:extLst>
              <a:ext uri="{FF2B5EF4-FFF2-40B4-BE49-F238E27FC236}">
                <a16:creationId xmlns:a16="http://schemas.microsoft.com/office/drawing/2014/main" id="{1082AFBB-BA3E-E63C-2B72-E007B0908B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3622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7" name="Line 17">
            <a:extLst>
              <a:ext uri="{FF2B5EF4-FFF2-40B4-BE49-F238E27FC236}">
                <a16:creationId xmlns:a16="http://schemas.microsoft.com/office/drawing/2014/main" id="{E0855122-F69A-E17F-DFEE-6C184819C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0574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8" name="Line 18">
            <a:extLst>
              <a:ext uri="{FF2B5EF4-FFF2-40B4-BE49-F238E27FC236}">
                <a16:creationId xmlns:a16="http://schemas.microsoft.com/office/drawing/2014/main" id="{F9E7F1FC-867B-CA47-271E-9B71C612F2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2438400"/>
            <a:ext cx="60960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499" name="Line 19">
            <a:extLst>
              <a:ext uri="{FF2B5EF4-FFF2-40B4-BE49-F238E27FC236}">
                <a16:creationId xmlns:a16="http://schemas.microsoft.com/office/drawing/2014/main" id="{DBAC6F16-211E-DF2A-375F-B7663A125B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2362200"/>
            <a:ext cx="31242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500" name="Line 20">
            <a:extLst>
              <a:ext uri="{FF2B5EF4-FFF2-40B4-BE49-F238E27FC236}">
                <a16:creationId xmlns:a16="http://schemas.microsoft.com/office/drawing/2014/main" id="{EF1EA857-9273-9915-FF0A-B962F59D1A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2438400"/>
            <a:ext cx="4800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501" name="Text Box 21">
            <a:extLst>
              <a:ext uri="{FF2B5EF4-FFF2-40B4-BE49-F238E27FC236}">
                <a16:creationId xmlns:a16="http://schemas.microsoft.com/office/drawing/2014/main" id="{F7A21505-BC76-0EF7-BA94-2882E64AB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203325"/>
            <a:ext cx="1798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Out-of-order</a:t>
            </a:r>
          </a:p>
        </p:txBody>
      </p:sp>
      <p:sp>
        <p:nvSpPr>
          <p:cNvPr id="2068502" name="Text Box 22">
            <a:extLst>
              <a:ext uri="{FF2B5EF4-FFF2-40B4-BE49-F238E27FC236}">
                <a16:creationId xmlns:a16="http://schemas.microsoft.com/office/drawing/2014/main" id="{787F94B8-70AC-C35D-02A5-0516E65D1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743200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Kill</a:t>
            </a:r>
          </a:p>
        </p:txBody>
      </p:sp>
      <p:sp>
        <p:nvSpPr>
          <p:cNvPr id="2068503" name="Text Box 23">
            <a:extLst>
              <a:ext uri="{FF2B5EF4-FFF2-40B4-BE49-F238E27FC236}">
                <a16:creationId xmlns:a16="http://schemas.microsoft.com/office/drawing/2014/main" id="{7C412709-D88A-9D4F-CC78-6CDD54F6A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438400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Kill</a:t>
            </a:r>
          </a:p>
        </p:txBody>
      </p:sp>
      <p:sp>
        <p:nvSpPr>
          <p:cNvPr id="2068504" name="Text Box 24">
            <a:extLst>
              <a:ext uri="{FF2B5EF4-FFF2-40B4-BE49-F238E27FC236}">
                <a16:creationId xmlns:a16="http://schemas.microsoft.com/office/drawing/2014/main" id="{46AC1B5D-EEEC-0654-C527-5A46548B1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362200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Kill</a:t>
            </a:r>
          </a:p>
        </p:txBody>
      </p:sp>
      <p:sp>
        <p:nvSpPr>
          <p:cNvPr id="2068505" name="AutoShape 25">
            <a:extLst>
              <a:ext uri="{FF2B5EF4-FFF2-40B4-BE49-F238E27FC236}">
                <a16:creationId xmlns:a16="http://schemas.microsoft.com/office/drawing/2014/main" id="{4F591B91-9887-3E27-93BB-E8C2BB2D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819400"/>
            <a:ext cx="2133600" cy="1219200"/>
          </a:xfrm>
          <a:prstGeom prst="irregularSeal1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Exception?</a:t>
            </a:r>
          </a:p>
        </p:txBody>
      </p:sp>
      <p:sp>
        <p:nvSpPr>
          <p:cNvPr id="2068506" name="Freeform 26">
            <a:extLst>
              <a:ext uri="{FF2B5EF4-FFF2-40B4-BE49-F238E27FC236}">
                <a16:creationId xmlns:a16="http://schemas.microsoft.com/office/drawing/2014/main" id="{F0B1282E-BE2D-0BF0-2AF2-67BA096CFA09}"/>
              </a:ext>
            </a:extLst>
          </p:cNvPr>
          <p:cNvSpPr>
            <a:spLocks/>
          </p:cNvSpPr>
          <p:nvPr/>
        </p:nvSpPr>
        <p:spPr bwMode="auto">
          <a:xfrm>
            <a:off x="685800" y="2514600"/>
            <a:ext cx="5876925" cy="1358900"/>
          </a:xfrm>
          <a:custGeom>
            <a:avLst/>
            <a:gdLst>
              <a:gd name="T0" fmla="*/ 3702 w 3702"/>
              <a:gd name="T1" fmla="*/ 785 h 856"/>
              <a:gd name="T2" fmla="*/ 2577 w 3702"/>
              <a:gd name="T3" fmla="*/ 812 h 856"/>
              <a:gd name="T4" fmla="*/ 911 w 3702"/>
              <a:gd name="T5" fmla="*/ 796 h 856"/>
              <a:gd name="T6" fmla="*/ 471 w 3702"/>
              <a:gd name="T7" fmla="*/ 728 h 856"/>
              <a:gd name="T8" fmla="*/ 409 w 3702"/>
              <a:gd name="T9" fmla="*/ 696 h 856"/>
              <a:gd name="T10" fmla="*/ 335 w 3702"/>
              <a:gd name="T11" fmla="*/ 623 h 856"/>
              <a:gd name="T12" fmla="*/ 299 w 3702"/>
              <a:gd name="T13" fmla="*/ 560 h 856"/>
              <a:gd name="T14" fmla="*/ 273 w 3702"/>
              <a:gd name="T15" fmla="*/ 492 h 856"/>
              <a:gd name="T16" fmla="*/ 252 w 3702"/>
              <a:gd name="T17" fmla="*/ 477 h 856"/>
              <a:gd name="T18" fmla="*/ 220 w 3702"/>
              <a:gd name="T19" fmla="*/ 440 h 856"/>
              <a:gd name="T20" fmla="*/ 126 w 3702"/>
              <a:gd name="T21" fmla="*/ 335 h 856"/>
              <a:gd name="T22" fmla="*/ 94 w 3702"/>
              <a:gd name="T23" fmla="*/ 293 h 856"/>
              <a:gd name="T24" fmla="*/ 74 w 3702"/>
              <a:gd name="T25" fmla="*/ 251 h 856"/>
              <a:gd name="T26" fmla="*/ 53 w 3702"/>
              <a:gd name="T27" fmla="*/ 209 h 856"/>
              <a:gd name="T28" fmla="*/ 16 w 3702"/>
              <a:gd name="T29" fmla="*/ 115 h 856"/>
              <a:gd name="T30" fmla="*/ 0 w 3702"/>
              <a:gd name="T31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702" h="856">
                <a:moveTo>
                  <a:pt x="3702" y="785"/>
                </a:moveTo>
                <a:cubicBezTo>
                  <a:pt x="3331" y="824"/>
                  <a:pt x="2947" y="809"/>
                  <a:pt x="2577" y="812"/>
                </a:cubicBezTo>
                <a:cubicBezTo>
                  <a:pt x="2028" y="856"/>
                  <a:pt x="1463" y="840"/>
                  <a:pt x="911" y="796"/>
                </a:cubicBezTo>
                <a:cubicBezTo>
                  <a:pt x="767" y="771"/>
                  <a:pt x="611" y="772"/>
                  <a:pt x="471" y="728"/>
                </a:cubicBezTo>
                <a:cubicBezTo>
                  <a:pt x="445" y="707"/>
                  <a:pt x="444" y="703"/>
                  <a:pt x="409" y="696"/>
                </a:cubicBezTo>
                <a:cubicBezTo>
                  <a:pt x="383" y="673"/>
                  <a:pt x="353" y="654"/>
                  <a:pt x="335" y="623"/>
                </a:cubicBezTo>
                <a:cubicBezTo>
                  <a:pt x="286" y="539"/>
                  <a:pt x="337" y="613"/>
                  <a:pt x="299" y="560"/>
                </a:cubicBezTo>
                <a:cubicBezTo>
                  <a:pt x="295" y="549"/>
                  <a:pt x="278" y="499"/>
                  <a:pt x="273" y="492"/>
                </a:cubicBezTo>
                <a:cubicBezTo>
                  <a:pt x="268" y="485"/>
                  <a:pt x="258" y="483"/>
                  <a:pt x="252" y="477"/>
                </a:cubicBezTo>
                <a:cubicBezTo>
                  <a:pt x="240" y="466"/>
                  <a:pt x="230" y="453"/>
                  <a:pt x="220" y="440"/>
                </a:cubicBezTo>
                <a:cubicBezTo>
                  <a:pt x="191" y="405"/>
                  <a:pt x="152" y="370"/>
                  <a:pt x="126" y="335"/>
                </a:cubicBezTo>
                <a:cubicBezTo>
                  <a:pt x="94" y="292"/>
                  <a:pt x="117" y="316"/>
                  <a:pt x="94" y="293"/>
                </a:cubicBezTo>
                <a:cubicBezTo>
                  <a:pt x="82" y="257"/>
                  <a:pt x="91" y="270"/>
                  <a:pt x="74" y="251"/>
                </a:cubicBezTo>
                <a:cubicBezTo>
                  <a:pt x="67" y="235"/>
                  <a:pt x="65" y="222"/>
                  <a:pt x="53" y="209"/>
                </a:cubicBezTo>
                <a:cubicBezTo>
                  <a:pt x="40" y="178"/>
                  <a:pt x="39" y="141"/>
                  <a:pt x="16" y="115"/>
                </a:cubicBezTo>
                <a:cubicBezTo>
                  <a:pt x="8" y="71"/>
                  <a:pt x="0" y="46"/>
                  <a:pt x="0" y="0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507" name="Text Box 27">
            <a:extLst>
              <a:ext uri="{FF2B5EF4-FFF2-40B4-BE49-F238E27FC236}">
                <a16:creationId xmlns:a16="http://schemas.microsoft.com/office/drawing/2014/main" id="{1CAED2B7-EA77-6204-C2AE-D2E9EECE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76600"/>
            <a:ext cx="2389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Inject handler PC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160D516-153C-E12E-C25D-61C8AB5C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B033EF3-22A9-34DE-F11F-4013870F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DC60598-44A9-A61D-DE8C-71BF6BB6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42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506" name="Rectangle 2">
            <a:extLst>
              <a:ext uri="{FF2B5EF4-FFF2-40B4-BE49-F238E27FC236}">
                <a16:creationId xmlns:a16="http://schemas.microsoft.com/office/drawing/2014/main" id="{7BD2FF44-D8D6-9032-F576-5043A8FEF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Extensions for Precise Exceptions</a:t>
            </a:r>
          </a:p>
        </p:txBody>
      </p:sp>
      <p:sp>
        <p:nvSpPr>
          <p:cNvPr id="2069507" name="Rectangle 3">
            <a:extLst>
              <a:ext uri="{FF2B5EF4-FFF2-40B4-BE49-F238E27FC236}">
                <a16:creationId xmlns:a16="http://schemas.microsoft.com/office/drawing/2014/main" id="{DD629FA4-9696-EE8B-A027-130BE9CEE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4292600"/>
            <a:ext cx="24114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400" i="1">
                <a:latin typeface="Verdana" panose="020B0604030504040204" pitchFamily="34" charset="0"/>
              </a:rPr>
              <a:t>Reorder buffer</a:t>
            </a:r>
          </a:p>
        </p:txBody>
      </p:sp>
      <p:sp>
        <p:nvSpPr>
          <p:cNvPr id="2069508" name="Line 4">
            <a:extLst>
              <a:ext uri="{FF2B5EF4-FFF2-40B4-BE49-F238E27FC236}">
                <a16:creationId xmlns:a16="http://schemas.microsoft.com/office/drawing/2014/main" id="{5669754F-E0B3-D352-416C-9FAC61DA0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2120900"/>
            <a:ext cx="444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9509" name="Line 5">
            <a:extLst>
              <a:ext uri="{FF2B5EF4-FFF2-40B4-BE49-F238E27FC236}">
                <a16:creationId xmlns:a16="http://schemas.microsoft.com/office/drawing/2014/main" id="{BD509CD3-657F-CFB4-D0DC-9C1C8A8B2D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3416300"/>
            <a:ext cx="444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9510" name="Rectangle 6">
            <a:extLst>
              <a:ext uri="{FF2B5EF4-FFF2-40B4-BE49-F238E27FC236}">
                <a16:creationId xmlns:a16="http://schemas.microsoft.com/office/drawing/2014/main" id="{982DD113-C568-FF48-927C-8DDBBB55B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0838"/>
            <a:ext cx="2351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9511" name="Rectangle 7">
            <a:extLst>
              <a:ext uri="{FF2B5EF4-FFF2-40B4-BE49-F238E27FC236}">
                <a16:creationId xmlns:a16="http://schemas.microsoft.com/office/drawing/2014/main" id="{B3D4CE82-94C2-D60F-A144-FFE5B0C51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8" y="1968500"/>
            <a:ext cx="1131887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ptr</a:t>
            </a:r>
            <a:r>
              <a:rPr lang="en-US" altLang="en-US" baseline="-25000">
                <a:latin typeface="Verdana" panose="020B0604030504040204" pitchFamily="34" charset="0"/>
              </a:rPr>
              <a:t>2</a:t>
            </a:r>
            <a:endParaRPr lang="en-US" altLang="en-US">
              <a:latin typeface="Verdana" panose="020B0604030504040204" pitchFamily="34" charset="0"/>
            </a:endParaRPr>
          </a:p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next to</a:t>
            </a:r>
          </a:p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commit</a:t>
            </a:r>
          </a:p>
        </p:txBody>
      </p:sp>
      <p:sp>
        <p:nvSpPr>
          <p:cNvPr id="2069512" name="Rectangle 8">
            <a:extLst>
              <a:ext uri="{FF2B5EF4-FFF2-40B4-BE49-F238E27FC236}">
                <a16:creationId xmlns:a16="http://schemas.microsoft.com/office/drawing/2014/main" id="{F8F34B95-14CB-6E7F-7CDE-4E5644D23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3286125"/>
            <a:ext cx="13081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ptr</a:t>
            </a:r>
            <a:r>
              <a:rPr lang="en-US" altLang="en-US" baseline="-25000">
                <a:latin typeface="Verdana" panose="020B0604030504040204" pitchFamily="34" charset="0"/>
              </a:rPr>
              <a:t>1</a:t>
            </a:r>
            <a:endParaRPr lang="en-US" altLang="en-US">
              <a:latin typeface="Verdana" panose="020B0604030504040204" pitchFamily="34" charset="0"/>
            </a:endParaRPr>
          </a:p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next</a:t>
            </a:r>
          </a:p>
          <a:p>
            <a:pPr algn="r" eaLnBrk="0" hangingPunct="0"/>
            <a:r>
              <a:rPr lang="en-US" altLang="en-US">
                <a:latin typeface="Verdana" panose="020B0604030504040204" pitchFamily="34" charset="0"/>
              </a:rPr>
              <a:t>available</a:t>
            </a:r>
          </a:p>
        </p:txBody>
      </p:sp>
      <p:sp>
        <p:nvSpPr>
          <p:cNvPr id="2069513" name="Rectangle 9">
            <a:extLst>
              <a:ext uri="{FF2B5EF4-FFF2-40B4-BE49-F238E27FC236}">
                <a16:creationId xmlns:a16="http://schemas.microsoft.com/office/drawing/2014/main" id="{741459EC-38EB-5996-888C-07B7C2E47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4876800"/>
            <a:ext cx="8307388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add &lt;pd, dest, data, cause&gt; fields in the instruction template</a:t>
            </a:r>
          </a:p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commit instructions to reg file and memory in program 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 order </a:t>
            </a:r>
            <a:r>
              <a:rPr lang="en-US" altLang="en-US">
                <a:solidFill>
                  <a:srgbClr val="56127A"/>
                </a:solidFill>
                <a:latin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buffers can be maintained circularly</a:t>
            </a:r>
          </a:p>
          <a:p>
            <a:pPr algn="l" eaLnBrk="0" hangingPunct="0">
              <a:buFontTx/>
              <a:buChar char="•"/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 on exception, clear reorder buffer by resetting ptr</a:t>
            </a:r>
            <a:r>
              <a:rPr lang="en-US" altLang="en-US" sz="2800" baseline="-25000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=ptr</a:t>
            </a:r>
            <a:r>
              <a:rPr lang="en-US" altLang="en-US" sz="2800" baseline="-25000">
                <a:solidFill>
                  <a:srgbClr val="56127A"/>
                </a:solidFill>
                <a:latin typeface="Verdana" panose="020B0604030504040204" pitchFamily="34" charset="0"/>
              </a:rPr>
              <a:t>2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	(stores must wait for commit before updating memory)</a:t>
            </a:r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</p:txBody>
      </p:sp>
      <p:sp>
        <p:nvSpPr>
          <p:cNvPr id="2069514" name="Rectangle 10">
            <a:extLst>
              <a:ext uri="{FF2B5EF4-FFF2-40B4-BE49-F238E27FC236}">
                <a16:creationId xmlns:a16="http://schemas.microsoft.com/office/drawing/2014/main" id="{8BFE2A47-98E7-A938-8E97-16EBA454B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1206500"/>
            <a:ext cx="73421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1600">
                <a:solidFill>
                  <a:srgbClr val="56127A"/>
                </a:solidFill>
                <a:latin typeface="Verdana" panose="020B0604030504040204" pitchFamily="34" charset="0"/>
              </a:rPr>
              <a:t>Inst#  use  exec   op    p1     src1  p2  src2     pd  dest     data  cause</a:t>
            </a:r>
          </a:p>
        </p:txBody>
      </p:sp>
      <p:grpSp>
        <p:nvGrpSpPr>
          <p:cNvPr id="2069515" name="Group 11">
            <a:extLst>
              <a:ext uri="{FF2B5EF4-FFF2-40B4-BE49-F238E27FC236}">
                <a16:creationId xmlns:a16="http://schemas.microsoft.com/office/drawing/2014/main" id="{2E3C9C86-DE54-ADC5-B48E-AB174F4221CF}"/>
              </a:ext>
            </a:extLst>
          </p:cNvPr>
          <p:cNvGrpSpPr>
            <a:grpSpLocks/>
          </p:cNvGrpSpPr>
          <p:nvPr/>
        </p:nvGrpSpPr>
        <p:grpSpPr bwMode="auto">
          <a:xfrm>
            <a:off x="1778000" y="1511300"/>
            <a:ext cx="7162800" cy="2743200"/>
            <a:chOff x="1120" y="952"/>
            <a:chExt cx="4512" cy="1728"/>
          </a:xfrm>
        </p:grpSpPr>
        <p:sp>
          <p:nvSpPr>
            <p:cNvPr id="2069516" name="Rectangle 12">
              <a:extLst>
                <a:ext uri="{FF2B5EF4-FFF2-40B4-BE49-F238E27FC236}">
                  <a16:creationId xmlns:a16="http://schemas.microsoft.com/office/drawing/2014/main" id="{F2B4962B-84C6-87E0-13D9-FB007610C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960"/>
              <a:ext cx="1488" cy="1712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69517" name="Group 13">
              <a:extLst>
                <a:ext uri="{FF2B5EF4-FFF2-40B4-BE49-F238E27FC236}">
                  <a16:creationId xmlns:a16="http://schemas.microsoft.com/office/drawing/2014/main" id="{DD4AE8B1-3E5C-1C27-CB16-ED84CAAC9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0" y="952"/>
              <a:ext cx="4512" cy="1728"/>
              <a:chOff x="1120" y="952"/>
              <a:chExt cx="4512" cy="1728"/>
            </a:xfrm>
          </p:grpSpPr>
          <p:sp>
            <p:nvSpPr>
              <p:cNvPr id="2069518" name="Rectangle 14">
                <a:extLst>
                  <a:ext uri="{FF2B5EF4-FFF2-40B4-BE49-F238E27FC236}">
                    <a16:creationId xmlns:a16="http://schemas.microsoft.com/office/drawing/2014/main" id="{596E440D-5819-8D1E-8F31-85D403309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95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19" name="Rectangle 15">
                <a:extLst>
                  <a:ext uri="{FF2B5EF4-FFF2-40B4-BE49-F238E27FC236}">
                    <a16:creationId xmlns:a16="http://schemas.microsoft.com/office/drawing/2014/main" id="{56B9A92D-C3D5-185E-10AA-E4A2DE060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952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0" name="Rectangle 16">
                <a:extLst>
                  <a:ext uri="{FF2B5EF4-FFF2-40B4-BE49-F238E27FC236}">
                    <a16:creationId xmlns:a16="http://schemas.microsoft.com/office/drawing/2014/main" id="{4E5E0284-7907-08EF-E0AF-6A8E654E6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952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1" name="Rectangle 17">
                <a:extLst>
                  <a:ext uri="{FF2B5EF4-FFF2-40B4-BE49-F238E27FC236}">
                    <a16:creationId xmlns:a16="http://schemas.microsoft.com/office/drawing/2014/main" id="{70FFFC69-99C8-CA50-874B-3DF8580B5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95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2" name="Rectangle 18">
                <a:extLst>
                  <a:ext uri="{FF2B5EF4-FFF2-40B4-BE49-F238E27FC236}">
                    <a16:creationId xmlns:a16="http://schemas.microsoft.com/office/drawing/2014/main" id="{9B50C485-44C7-E2A3-AD37-E4C0C0F07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95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3" name="Rectangle 19">
                <a:extLst>
                  <a:ext uri="{FF2B5EF4-FFF2-40B4-BE49-F238E27FC236}">
                    <a16:creationId xmlns:a16="http://schemas.microsoft.com/office/drawing/2014/main" id="{0D680944-4961-0F2C-A100-74E8A3A76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95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4" name="Rectangle 20">
                <a:extLst>
                  <a:ext uri="{FF2B5EF4-FFF2-40B4-BE49-F238E27FC236}">
                    <a16:creationId xmlns:a16="http://schemas.microsoft.com/office/drawing/2014/main" id="{0045601B-66E3-8C71-AA4A-D22B85527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95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5" name="Rectangle 21">
                <a:extLst>
                  <a:ext uri="{FF2B5EF4-FFF2-40B4-BE49-F238E27FC236}">
                    <a16:creationId xmlns:a16="http://schemas.microsoft.com/office/drawing/2014/main" id="{A9E67598-F80D-FB9E-245E-18BAD6AA1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95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6" name="Rectangle 22">
                <a:extLst>
                  <a:ext uri="{FF2B5EF4-FFF2-40B4-BE49-F238E27FC236}">
                    <a16:creationId xmlns:a16="http://schemas.microsoft.com/office/drawing/2014/main" id="{6E75D116-CADB-B027-430F-B5C39E532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95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7" name="Rectangle 23">
                <a:extLst>
                  <a:ext uri="{FF2B5EF4-FFF2-40B4-BE49-F238E27FC236}">
                    <a16:creationId xmlns:a16="http://schemas.microsoft.com/office/drawing/2014/main" id="{6B5F24FA-2790-49DC-46B0-9329C5664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95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8" name="Rectangle 24">
                <a:extLst>
                  <a:ext uri="{FF2B5EF4-FFF2-40B4-BE49-F238E27FC236}">
                    <a16:creationId xmlns:a16="http://schemas.microsoft.com/office/drawing/2014/main" id="{E1B58CAC-5DC0-5B46-DF6A-0A8D30048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95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29" name="Rectangle 25">
                <a:extLst>
                  <a:ext uri="{FF2B5EF4-FFF2-40B4-BE49-F238E27FC236}">
                    <a16:creationId xmlns:a16="http://schemas.microsoft.com/office/drawing/2014/main" id="{00C81FF3-9B57-14D8-2095-3A19750D8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952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0" name="Rectangle 26">
                <a:extLst>
                  <a:ext uri="{FF2B5EF4-FFF2-40B4-BE49-F238E27FC236}">
                    <a16:creationId xmlns:a16="http://schemas.microsoft.com/office/drawing/2014/main" id="{BEEE075B-F364-10E5-1A37-54FCC599A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09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1" name="Rectangle 27">
                <a:extLst>
                  <a:ext uri="{FF2B5EF4-FFF2-40B4-BE49-F238E27FC236}">
                    <a16:creationId xmlns:a16="http://schemas.microsoft.com/office/drawing/2014/main" id="{76CE62ED-844F-284A-FFB5-DA27AE7B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096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2" name="Rectangle 28">
                <a:extLst>
                  <a:ext uri="{FF2B5EF4-FFF2-40B4-BE49-F238E27FC236}">
                    <a16:creationId xmlns:a16="http://schemas.microsoft.com/office/drawing/2014/main" id="{40338594-D200-CA61-0DE6-D6A6C3D13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096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3" name="Rectangle 29">
                <a:extLst>
                  <a:ext uri="{FF2B5EF4-FFF2-40B4-BE49-F238E27FC236}">
                    <a16:creationId xmlns:a16="http://schemas.microsoft.com/office/drawing/2014/main" id="{F53F0706-E1A6-5835-71C0-46933042E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09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4" name="Rectangle 30">
                <a:extLst>
                  <a:ext uri="{FF2B5EF4-FFF2-40B4-BE49-F238E27FC236}">
                    <a16:creationId xmlns:a16="http://schemas.microsoft.com/office/drawing/2014/main" id="{F02EB988-313F-BA59-6EDF-BC386C955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09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5" name="Rectangle 31">
                <a:extLst>
                  <a:ext uri="{FF2B5EF4-FFF2-40B4-BE49-F238E27FC236}">
                    <a16:creationId xmlns:a16="http://schemas.microsoft.com/office/drawing/2014/main" id="{4B11A537-B726-F7C1-156E-CAC9103DD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09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6" name="Rectangle 32">
                <a:extLst>
                  <a:ext uri="{FF2B5EF4-FFF2-40B4-BE49-F238E27FC236}">
                    <a16:creationId xmlns:a16="http://schemas.microsoft.com/office/drawing/2014/main" id="{7CC10824-D541-9495-A68D-A368CA662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09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7" name="Rectangle 33">
                <a:extLst>
                  <a:ext uri="{FF2B5EF4-FFF2-40B4-BE49-F238E27FC236}">
                    <a16:creationId xmlns:a16="http://schemas.microsoft.com/office/drawing/2014/main" id="{2A00BCEF-E28A-CCEB-811A-19B5B17E0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09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8" name="Rectangle 34">
                <a:extLst>
                  <a:ext uri="{FF2B5EF4-FFF2-40B4-BE49-F238E27FC236}">
                    <a16:creationId xmlns:a16="http://schemas.microsoft.com/office/drawing/2014/main" id="{25A9F9AD-270B-A0E5-0DA4-D17CF308F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09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39" name="Rectangle 35">
                <a:extLst>
                  <a:ext uri="{FF2B5EF4-FFF2-40B4-BE49-F238E27FC236}">
                    <a16:creationId xmlns:a16="http://schemas.microsoft.com/office/drawing/2014/main" id="{7F021E68-F617-00E7-4F65-B1D23D511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09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0" name="Rectangle 36">
                <a:extLst>
                  <a:ext uri="{FF2B5EF4-FFF2-40B4-BE49-F238E27FC236}">
                    <a16:creationId xmlns:a16="http://schemas.microsoft.com/office/drawing/2014/main" id="{40FFF13D-434C-734C-9836-B039DD914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09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1" name="Rectangle 37">
                <a:extLst>
                  <a:ext uri="{FF2B5EF4-FFF2-40B4-BE49-F238E27FC236}">
                    <a16:creationId xmlns:a16="http://schemas.microsoft.com/office/drawing/2014/main" id="{E90647A3-767C-8BCF-4577-55897FF16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096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2" name="Rectangle 38">
                <a:extLst>
                  <a:ext uri="{FF2B5EF4-FFF2-40B4-BE49-F238E27FC236}">
                    <a16:creationId xmlns:a16="http://schemas.microsoft.com/office/drawing/2014/main" id="{18969C35-D346-2A49-301A-96F85C034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240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3" name="Rectangle 39">
                <a:extLst>
                  <a:ext uri="{FF2B5EF4-FFF2-40B4-BE49-F238E27FC236}">
                    <a16:creationId xmlns:a16="http://schemas.microsoft.com/office/drawing/2014/main" id="{250E263D-0D49-DE23-A1A4-4E0D6AC09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240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4" name="Rectangle 40">
                <a:extLst>
                  <a:ext uri="{FF2B5EF4-FFF2-40B4-BE49-F238E27FC236}">
                    <a16:creationId xmlns:a16="http://schemas.microsoft.com/office/drawing/2014/main" id="{C0FD55B5-C0F0-E977-E26D-30E35C382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240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5" name="Rectangle 41">
                <a:extLst>
                  <a:ext uri="{FF2B5EF4-FFF2-40B4-BE49-F238E27FC236}">
                    <a16:creationId xmlns:a16="http://schemas.microsoft.com/office/drawing/2014/main" id="{C8EFEB56-70E0-3A27-4D5A-3B105E87B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240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6" name="Rectangle 42">
                <a:extLst>
                  <a:ext uri="{FF2B5EF4-FFF2-40B4-BE49-F238E27FC236}">
                    <a16:creationId xmlns:a16="http://schemas.microsoft.com/office/drawing/2014/main" id="{A185016D-550E-B8DD-B275-038B5F497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240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7" name="Rectangle 43">
                <a:extLst>
                  <a:ext uri="{FF2B5EF4-FFF2-40B4-BE49-F238E27FC236}">
                    <a16:creationId xmlns:a16="http://schemas.microsoft.com/office/drawing/2014/main" id="{F169673A-1D0D-FDE7-0CA7-B938F6614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240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8" name="Rectangle 44">
                <a:extLst>
                  <a:ext uri="{FF2B5EF4-FFF2-40B4-BE49-F238E27FC236}">
                    <a16:creationId xmlns:a16="http://schemas.microsoft.com/office/drawing/2014/main" id="{9BDD4621-54A0-E43B-22B6-F0A81C79E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240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49" name="Rectangle 45">
                <a:extLst>
                  <a:ext uri="{FF2B5EF4-FFF2-40B4-BE49-F238E27FC236}">
                    <a16:creationId xmlns:a16="http://schemas.microsoft.com/office/drawing/2014/main" id="{C40C6D1D-4FD2-3AB1-71B3-3B1010CEE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240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0" name="Rectangle 46">
                <a:extLst>
                  <a:ext uri="{FF2B5EF4-FFF2-40B4-BE49-F238E27FC236}">
                    <a16:creationId xmlns:a16="http://schemas.microsoft.com/office/drawing/2014/main" id="{1631375E-162B-E7A3-F12F-F10D8396C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24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1" name="Rectangle 47">
                <a:extLst>
                  <a:ext uri="{FF2B5EF4-FFF2-40B4-BE49-F238E27FC236}">
                    <a16:creationId xmlns:a16="http://schemas.microsoft.com/office/drawing/2014/main" id="{36DCF9E3-4428-F05B-9618-2579F8F94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240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2" name="Rectangle 48">
                <a:extLst>
                  <a:ext uri="{FF2B5EF4-FFF2-40B4-BE49-F238E27FC236}">
                    <a16:creationId xmlns:a16="http://schemas.microsoft.com/office/drawing/2014/main" id="{D4452FF0-94BD-C32C-705F-46953236B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240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3" name="Rectangle 49">
                <a:extLst>
                  <a:ext uri="{FF2B5EF4-FFF2-40B4-BE49-F238E27FC236}">
                    <a16:creationId xmlns:a16="http://schemas.microsoft.com/office/drawing/2014/main" id="{9F062F27-247A-8C88-BBC2-3A9D8E857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240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4" name="Rectangle 50">
                <a:extLst>
                  <a:ext uri="{FF2B5EF4-FFF2-40B4-BE49-F238E27FC236}">
                    <a16:creationId xmlns:a16="http://schemas.microsoft.com/office/drawing/2014/main" id="{654F9F4B-37F2-718B-E410-F8008FDAD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384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5" name="Rectangle 51">
                <a:extLst>
                  <a:ext uri="{FF2B5EF4-FFF2-40B4-BE49-F238E27FC236}">
                    <a16:creationId xmlns:a16="http://schemas.microsoft.com/office/drawing/2014/main" id="{32D07769-F9D0-F75B-57A2-5971D8DD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384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6" name="Rectangle 52">
                <a:extLst>
                  <a:ext uri="{FF2B5EF4-FFF2-40B4-BE49-F238E27FC236}">
                    <a16:creationId xmlns:a16="http://schemas.microsoft.com/office/drawing/2014/main" id="{9DC80FF6-AE8C-0E65-00E8-9640D7BDF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384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7" name="Rectangle 53">
                <a:extLst>
                  <a:ext uri="{FF2B5EF4-FFF2-40B4-BE49-F238E27FC236}">
                    <a16:creationId xmlns:a16="http://schemas.microsoft.com/office/drawing/2014/main" id="{04187CAD-C1A5-74A8-05C0-BEBA8820D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384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8" name="Rectangle 54">
                <a:extLst>
                  <a:ext uri="{FF2B5EF4-FFF2-40B4-BE49-F238E27FC236}">
                    <a16:creationId xmlns:a16="http://schemas.microsoft.com/office/drawing/2014/main" id="{6B15BB37-B60A-FB36-E3D0-C6B863306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384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59" name="Rectangle 55">
                <a:extLst>
                  <a:ext uri="{FF2B5EF4-FFF2-40B4-BE49-F238E27FC236}">
                    <a16:creationId xmlns:a16="http://schemas.microsoft.com/office/drawing/2014/main" id="{BC6F1291-ABC2-356E-801B-DED626A2F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384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0" name="Rectangle 56">
                <a:extLst>
                  <a:ext uri="{FF2B5EF4-FFF2-40B4-BE49-F238E27FC236}">
                    <a16:creationId xmlns:a16="http://schemas.microsoft.com/office/drawing/2014/main" id="{50010B96-1A4C-AAE0-9C4C-60A09F876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384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1" name="Rectangle 57">
                <a:extLst>
                  <a:ext uri="{FF2B5EF4-FFF2-40B4-BE49-F238E27FC236}">
                    <a16:creationId xmlns:a16="http://schemas.microsoft.com/office/drawing/2014/main" id="{A6DF9E41-260A-304E-76CD-05C42C7CF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384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2" name="Rectangle 58">
                <a:extLst>
                  <a:ext uri="{FF2B5EF4-FFF2-40B4-BE49-F238E27FC236}">
                    <a16:creationId xmlns:a16="http://schemas.microsoft.com/office/drawing/2014/main" id="{3E55D8AF-081A-3C95-4DDB-154456167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384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3" name="Rectangle 59">
                <a:extLst>
                  <a:ext uri="{FF2B5EF4-FFF2-40B4-BE49-F238E27FC236}">
                    <a16:creationId xmlns:a16="http://schemas.microsoft.com/office/drawing/2014/main" id="{CABA3125-36A1-5C51-D6E0-91FE7F76D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384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4" name="Rectangle 60">
                <a:extLst>
                  <a:ext uri="{FF2B5EF4-FFF2-40B4-BE49-F238E27FC236}">
                    <a16:creationId xmlns:a16="http://schemas.microsoft.com/office/drawing/2014/main" id="{E8DCE6C2-62BD-EAD1-6ABB-CEC5102D3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384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5" name="Rectangle 61">
                <a:extLst>
                  <a:ext uri="{FF2B5EF4-FFF2-40B4-BE49-F238E27FC236}">
                    <a16:creationId xmlns:a16="http://schemas.microsoft.com/office/drawing/2014/main" id="{3FD347F9-F95B-7B12-33F8-DE6B53D81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384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6" name="Rectangle 62">
                <a:extLst>
                  <a:ext uri="{FF2B5EF4-FFF2-40B4-BE49-F238E27FC236}">
                    <a16:creationId xmlns:a16="http://schemas.microsoft.com/office/drawing/2014/main" id="{8B830719-FCC3-BECD-02B7-A1792A918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528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7" name="Rectangle 63">
                <a:extLst>
                  <a:ext uri="{FF2B5EF4-FFF2-40B4-BE49-F238E27FC236}">
                    <a16:creationId xmlns:a16="http://schemas.microsoft.com/office/drawing/2014/main" id="{8AC9CDBF-73C8-7DB2-9E5F-9AF686E5F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528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8" name="Rectangle 64">
                <a:extLst>
                  <a:ext uri="{FF2B5EF4-FFF2-40B4-BE49-F238E27FC236}">
                    <a16:creationId xmlns:a16="http://schemas.microsoft.com/office/drawing/2014/main" id="{D66D88B4-4E17-2E41-BFB3-373089B6E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528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69" name="Rectangle 65">
                <a:extLst>
                  <a:ext uri="{FF2B5EF4-FFF2-40B4-BE49-F238E27FC236}">
                    <a16:creationId xmlns:a16="http://schemas.microsoft.com/office/drawing/2014/main" id="{02F1E7DF-6060-9EBB-FDCB-37929C5E8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528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0" name="Rectangle 66">
                <a:extLst>
                  <a:ext uri="{FF2B5EF4-FFF2-40B4-BE49-F238E27FC236}">
                    <a16:creationId xmlns:a16="http://schemas.microsoft.com/office/drawing/2014/main" id="{387BFF31-006F-708B-C4DF-EA216B83D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528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1" name="Rectangle 67">
                <a:extLst>
                  <a:ext uri="{FF2B5EF4-FFF2-40B4-BE49-F238E27FC236}">
                    <a16:creationId xmlns:a16="http://schemas.microsoft.com/office/drawing/2014/main" id="{417EF2BB-E4E4-7186-C7D7-CD3B71068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528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2" name="Rectangle 68">
                <a:extLst>
                  <a:ext uri="{FF2B5EF4-FFF2-40B4-BE49-F238E27FC236}">
                    <a16:creationId xmlns:a16="http://schemas.microsoft.com/office/drawing/2014/main" id="{1A811CEB-9D9E-2650-6B6C-46C570EE8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528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3" name="Rectangle 69">
                <a:extLst>
                  <a:ext uri="{FF2B5EF4-FFF2-40B4-BE49-F238E27FC236}">
                    <a16:creationId xmlns:a16="http://schemas.microsoft.com/office/drawing/2014/main" id="{3F9F1CA1-2087-F560-98D7-432F6AA19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528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4" name="Rectangle 70">
                <a:extLst>
                  <a:ext uri="{FF2B5EF4-FFF2-40B4-BE49-F238E27FC236}">
                    <a16:creationId xmlns:a16="http://schemas.microsoft.com/office/drawing/2014/main" id="{481F84F6-62B8-8BEC-7AB6-49D06A4E8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528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5" name="Rectangle 71">
                <a:extLst>
                  <a:ext uri="{FF2B5EF4-FFF2-40B4-BE49-F238E27FC236}">
                    <a16:creationId xmlns:a16="http://schemas.microsoft.com/office/drawing/2014/main" id="{58FD55F3-B94D-B281-A8E0-B39E2E6DC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528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6" name="Rectangle 72">
                <a:extLst>
                  <a:ext uri="{FF2B5EF4-FFF2-40B4-BE49-F238E27FC236}">
                    <a16:creationId xmlns:a16="http://schemas.microsoft.com/office/drawing/2014/main" id="{CAEF0B5F-FCEC-2944-4C75-17D3C2D2A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528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7" name="Rectangle 73">
                <a:extLst>
                  <a:ext uri="{FF2B5EF4-FFF2-40B4-BE49-F238E27FC236}">
                    <a16:creationId xmlns:a16="http://schemas.microsoft.com/office/drawing/2014/main" id="{7E8BED51-1EC6-6B61-8A5C-4395D233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528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8" name="Rectangle 74">
                <a:extLst>
                  <a:ext uri="{FF2B5EF4-FFF2-40B4-BE49-F238E27FC236}">
                    <a16:creationId xmlns:a16="http://schemas.microsoft.com/office/drawing/2014/main" id="{CFEDA795-325A-FD00-0081-676326CCE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672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79" name="Rectangle 75">
                <a:extLst>
                  <a:ext uri="{FF2B5EF4-FFF2-40B4-BE49-F238E27FC236}">
                    <a16:creationId xmlns:a16="http://schemas.microsoft.com/office/drawing/2014/main" id="{C643A048-E0C3-68D9-9A5C-D25A63648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672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0" name="Rectangle 76">
                <a:extLst>
                  <a:ext uri="{FF2B5EF4-FFF2-40B4-BE49-F238E27FC236}">
                    <a16:creationId xmlns:a16="http://schemas.microsoft.com/office/drawing/2014/main" id="{EA959F13-8456-4DCD-EB07-DB7881851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672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1" name="Rectangle 77">
                <a:extLst>
                  <a:ext uri="{FF2B5EF4-FFF2-40B4-BE49-F238E27FC236}">
                    <a16:creationId xmlns:a16="http://schemas.microsoft.com/office/drawing/2014/main" id="{C4AFBE5E-C1CF-ED6A-464E-8308796F8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672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2" name="Rectangle 78">
                <a:extLst>
                  <a:ext uri="{FF2B5EF4-FFF2-40B4-BE49-F238E27FC236}">
                    <a16:creationId xmlns:a16="http://schemas.microsoft.com/office/drawing/2014/main" id="{9BEBA0D1-9735-C1FC-7CAE-9FA3116CA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672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3" name="Rectangle 79">
                <a:extLst>
                  <a:ext uri="{FF2B5EF4-FFF2-40B4-BE49-F238E27FC236}">
                    <a16:creationId xmlns:a16="http://schemas.microsoft.com/office/drawing/2014/main" id="{7866AB99-F8F9-3A34-9E13-82C7ADCE2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672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4" name="Rectangle 80">
                <a:extLst>
                  <a:ext uri="{FF2B5EF4-FFF2-40B4-BE49-F238E27FC236}">
                    <a16:creationId xmlns:a16="http://schemas.microsoft.com/office/drawing/2014/main" id="{F562A1F7-3468-FF14-496A-D070D52AD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672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5" name="Rectangle 81">
                <a:extLst>
                  <a:ext uri="{FF2B5EF4-FFF2-40B4-BE49-F238E27FC236}">
                    <a16:creationId xmlns:a16="http://schemas.microsoft.com/office/drawing/2014/main" id="{FB0A4BD2-A147-2520-C88B-FB7C7F986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672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6" name="Rectangle 82">
                <a:extLst>
                  <a:ext uri="{FF2B5EF4-FFF2-40B4-BE49-F238E27FC236}">
                    <a16:creationId xmlns:a16="http://schemas.microsoft.com/office/drawing/2014/main" id="{B28C3460-79A5-14C4-2711-3EE75F553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67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7" name="Rectangle 83">
                <a:extLst>
                  <a:ext uri="{FF2B5EF4-FFF2-40B4-BE49-F238E27FC236}">
                    <a16:creationId xmlns:a16="http://schemas.microsoft.com/office/drawing/2014/main" id="{E86DF1EF-D7FF-C7AE-23D4-58DA068D8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67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8" name="Rectangle 84">
                <a:extLst>
                  <a:ext uri="{FF2B5EF4-FFF2-40B4-BE49-F238E27FC236}">
                    <a16:creationId xmlns:a16="http://schemas.microsoft.com/office/drawing/2014/main" id="{BF7F323E-7417-7A2A-5E28-01BD3459D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67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89" name="Rectangle 85">
                <a:extLst>
                  <a:ext uri="{FF2B5EF4-FFF2-40B4-BE49-F238E27FC236}">
                    <a16:creationId xmlns:a16="http://schemas.microsoft.com/office/drawing/2014/main" id="{5E92AEB6-71D6-E516-F6FC-15B9E5B10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672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0" name="Rectangle 86">
                <a:extLst>
                  <a:ext uri="{FF2B5EF4-FFF2-40B4-BE49-F238E27FC236}">
                    <a16:creationId xmlns:a16="http://schemas.microsoft.com/office/drawing/2014/main" id="{C4034BFE-3FDA-AC73-0BA3-F9DD17E52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816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1" name="Rectangle 87">
                <a:extLst>
                  <a:ext uri="{FF2B5EF4-FFF2-40B4-BE49-F238E27FC236}">
                    <a16:creationId xmlns:a16="http://schemas.microsoft.com/office/drawing/2014/main" id="{7DA01F48-8E5C-9C38-CB97-5790E404E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816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2" name="Rectangle 88">
                <a:extLst>
                  <a:ext uri="{FF2B5EF4-FFF2-40B4-BE49-F238E27FC236}">
                    <a16:creationId xmlns:a16="http://schemas.microsoft.com/office/drawing/2014/main" id="{A6055A1C-DD37-C51A-05A8-F96F71740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816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3" name="Rectangle 89">
                <a:extLst>
                  <a:ext uri="{FF2B5EF4-FFF2-40B4-BE49-F238E27FC236}">
                    <a16:creationId xmlns:a16="http://schemas.microsoft.com/office/drawing/2014/main" id="{B3D4B0FB-2A17-4F71-B779-A832CD521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816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4" name="Rectangle 90">
                <a:extLst>
                  <a:ext uri="{FF2B5EF4-FFF2-40B4-BE49-F238E27FC236}">
                    <a16:creationId xmlns:a16="http://schemas.microsoft.com/office/drawing/2014/main" id="{B2AC3C85-41F4-11ED-DB72-D48B3AF80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816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5" name="Rectangle 91">
                <a:extLst>
                  <a:ext uri="{FF2B5EF4-FFF2-40B4-BE49-F238E27FC236}">
                    <a16:creationId xmlns:a16="http://schemas.microsoft.com/office/drawing/2014/main" id="{C08C9FAE-CBA6-57CF-C20C-25EE9012C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816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6" name="Rectangle 92">
                <a:extLst>
                  <a:ext uri="{FF2B5EF4-FFF2-40B4-BE49-F238E27FC236}">
                    <a16:creationId xmlns:a16="http://schemas.microsoft.com/office/drawing/2014/main" id="{11434C15-90AF-0FC7-C071-4E3D94572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816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7" name="Rectangle 93">
                <a:extLst>
                  <a:ext uri="{FF2B5EF4-FFF2-40B4-BE49-F238E27FC236}">
                    <a16:creationId xmlns:a16="http://schemas.microsoft.com/office/drawing/2014/main" id="{945F6646-E170-A659-157B-F22332D55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816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8" name="Rectangle 94">
                <a:extLst>
                  <a:ext uri="{FF2B5EF4-FFF2-40B4-BE49-F238E27FC236}">
                    <a16:creationId xmlns:a16="http://schemas.microsoft.com/office/drawing/2014/main" id="{CE3A3394-7BC4-EFA9-8CE5-E7971F611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81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599" name="Rectangle 95">
                <a:extLst>
                  <a:ext uri="{FF2B5EF4-FFF2-40B4-BE49-F238E27FC236}">
                    <a16:creationId xmlns:a16="http://schemas.microsoft.com/office/drawing/2014/main" id="{13F97D56-2B94-15B8-728D-A871DC06D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81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0" name="Rectangle 96">
                <a:extLst>
                  <a:ext uri="{FF2B5EF4-FFF2-40B4-BE49-F238E27FC236}">
                    <a16:creationId xmlns:a16="http://schemas.microsoft.com/office/drawing/2014/main" id="{974020C2-39F8-D4E0-C76C-B4D259E0A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81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1" name="Rectangle 97">
                <a:extLst>
                  <a:ext uri="{FF2B5EF4-FFF2-40B4-BE49-F238E27FC236}">
                    <a16:creationId xmlns:a16="http://schemas.microsoft.com/office/drawing/2014/main" id="{5EB7C4B3-B8CE-915E-6AE0-2A8C9D93E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816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2" name="Rectangle 98">
                <a:extLst>
                  <a:ext uri="{FF2B5EF4-FFF2-40B4-BE49-F238E27FC236}">
                    <a16:creationId xmlns:a16="http://schemas.microsoft.com/office/drawing/2014/main" id="{3192BD50-1282-3527-8AA8-CE6EC28AA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1960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3" name="Rectangle 99">
                <a:extLst>
                  <a:ext uri="{FF2B5EF4-FFF2-40B4-BE49-F238E27FC236}">
                    <a16:creationId xmlns:a16="http://schemas.microsoft.com/office/drawing/2014/main" id="{41C076CA-F010-FF91-A880-BF1BAF0A3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960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4" name="Rectangle 100">
                <a:extLst>
                  <a:ext uri="{FF2B5EF4-FFF2-40B4-BE49-F238E27FC236}">
                    <a16:creationId xmlns:a16="http://schemas.microsoft.com/office/drawing/2014/main" id="{79754F01-C60C-979B-C686-5B2AC8E9A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960"/>
                <a:ext cx="33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5" name="Rectangle 101">
                <a:extLst>
                  <a:ext uri="{FF2B5EF4-FFF2-40B4-BE49-F238E27FC236}">
                    <a16:creationId xmlns:a16="http://schemas.microsoft.com/office/drawing/2014/main" id="{C0F5D499-12A9-E293-96A3-EF9A41A14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1960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6" name="Rectangle 102">
                <a:extLst>
                  <a:ext uri="{FF2B5EF4-FFF2-40B4-BE49-F238E27FC236}">
                    <a16:creationId xmlns:a16="http://schemas.microsoft.com/office/drawing/2014/main" id="{3A9D53FA-24E1-FD19-2C37-8AC08D127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960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7" name="Rectangle 103">
                <a:extLst>
                  <a:ext uri="{FF2B5EF4-FFF2-40B4-BE49-F238E27FC236}">
                    <a16:creationId xmlns:a16="http://schemas.microsoft.com/office/drawing/2014/main" id="{78977F14-4D68-0022-92E1-43CF4E408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960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8" name="Rectangle 104">
                <a:extLst>
                  <a:ext uri="{FF2B5EF4-FFF2-40B4-BE49-F238E27FC236}">
                    <a16:creationId xmlns:a16="http://schemas.microsoft.com/office/drawing/2014/main" id="{B19C89B2-9834-1A98-4E62-DE7F8579B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1960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09" name="Rectangle 105">
                <a:extLst>
                  <a:ext uri="{FF2B5EF4-FFF2-40B4-BE49-F238E27FC236}">
                    <a16:creationId xmlns:a16="http://schemas.microsoft.com/office/drawing/2014/main" id="{C6246853-004C-3726-AD79-098670C33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1960"/>
                <a:ext cx="576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0" name="Rectangle 106">
                <a:extLst>
                  <a:ext uri="{FF2B5EF4-FFF2-40B4-BE49-F238E27FC236}">
                    <a16:creationId xmlns:a16="http://schemas.microsoft.com/office/drawing/2014/main" id="{74CC7947-47E3-CF79-C2A6-5C1B89B27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19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1" name="Rectangle 107">
                <a:extLst>
                  <a:ext uri="{FF2B5EF4-FFF2-40B4-BE49-F238E27FC236}">
                    <a16:creationId xmlns:a16="http://schemas.microsoft.com/office/drawing/2014/main" id="{A323625A-E63F-FFC5-007C-7FCF376A0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1960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2" name="Rectangle 108">
                <a:extLst>
                  <a:ext uri="{FF2B5EF4-FFF2-40B4-BE49-F238E27FC236}">
                    <a16:creationId xmlns:a16="http://schemas.microsoft.com/office/drawing/2014/main" id="{8CD27170-1EC2-C3E7-6D57-1D84321FE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960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3" name="Rectangle 109">
                <a:extLst>
                  <a:ext uri="{FF2B5EF4-FFF2-40B4-BE49-F238E27FC236}">
                    <a16:creationId xmlns:a16="http://schemas.microsoft.com/office/drawing/2014/main" id="{D8148C7A-5A99-CA4A-E3BF-12B7584DB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1960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4" name="Rectangle 110">
                <a:extLst>
                  <a:ext uri="{FF2B5EF4-FFF2-40B4-BE49-F238E27FC236}">
                    <a16:creationId xmlns:a16="http://schemas.microsoft.com/office/drawing/2014/main" id="{94D6BF0B-7C81-B31E-A51F-7BBF70490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2104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5" name="Rectangle 111">
                <a:extLst>
                  <a:ext uri="{FF2B5EF4-FFF2-40B4-BE49-F238E27FC236}">
                    <a16:creationId xmlns:a16="http://schemas.microsoft.com/office/drawing/2014/main" id="{4FABC135-62A6-D2F8-6FC9-A7A97F1BB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2104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6" name="Rectangle 112">
                <a:extLst>
                  <a:ext uri="{FF2B5EF4-FFF2-40B4-BE49-F238E27FC236}">
                    <a16:creationId xmlns:a16="http://schemas.microsoft.com/office/drawing/2014/main" id="{60D0C0EE-4C22-54EB-DBF1-6E031CDEA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2104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7" name="Rectangle 113">
                <a:extLst>
                  <a:ext uri="{FF2B5EF4-FFF2-40B4-BE49-F238E27FC236}">
                    <a16:creationId xmlns:a16="http://schemas.microsoft.com/office/drawing/2014/main" id="{43C5CFDE-B38C-A693-F92A-0B0AA71AF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04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8" name="Rectangle 114">
                <a:extLst>
                  <a:ext uri="{FF2B5EF4-FFF2-40B4-BE49-F238E27FC236}">
                    <a16:creationId xmlns:a16="http://schemas.microsoft.com/office/drawing/2014/main" id="{5157E11C-9AFB-D1AE-B67F-1773C8FF6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2104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19" name="Rectangle 115">
                <a:extLst>
                  <a:ext uri="{FF2B5EF4-FFF2-40B4-BE49-F238E27FC236}">
                    <a16:creationId xmlns:a16="http://schemas.microsoft.com/office/drawing/2014/main" id="{065C3662-978E-24C2-E0C9-756112397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104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0" name="Rectangle 116">
                <a:extLst>
                  <a:ext uri="{FF2B5EF4-FFF2-40B4-BE49-F238E27FC236}">
                    <a16:creationId xmlns:a16="http://schemas.microsoft.com/office/drawing/2014/main" id="{CD99EB3A-7C3E-AF8E-CB0B-C0A1FF049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2104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1" name="Rectangle 117">
                <a:extLst>
                  <a:ext uri="{FF2B5EF4-FFF2-40B4-BE49-F238E27FC236}">
                    <a16:creationId xmlns:a16="http://schemas.microsoft.com/office/drawing/2014/main" id="{FDA6DB1C-3F73-A5E8-5633-E6247545A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2104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2" name="Rectangle 118">
                <a:extLst>
                  <a:ext uri="{FF2B5EF4-FFF2-40B4-BE49-F238E27FC236}">
                    <a16:creationId xmlns:a16="http://schemas.microsoft.com/office/drawing/2014/main" id="{EABEAFC7-E5E5-1F61-7577-65CC4F4C8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2104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3" name="Rectangle 119">
                <a:extLst>
                  <a:ext uri="{FF2B5EF4-FFF2-40B4-BE49-F238E27FC236}">
                    <a16:creationId xmlns:a16="http://schemas.microsoft.com/office/drawing/2014/main" id="{01C59165-2A3F-D83C-48D3-DB305A820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2104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4" name="Rectangle 120">
                <a:extLst>
                  <a:ext uri="{FF2B5EF4-FFF2-40B4-BE49-F238E27FC236}">
                    <a16:creationId xmlns:a16="http://schemas.microsoft.com/office/drawing/2014/main" id="{18CE1160-B991-EF7B-42D1-B92DE92D4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2104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5" name="Rectangle 121">
                <a:extLst>
                  <a:ext uri="{FF2B5EF4-FFF2-40B4-BE49-F238E27FC236}">
                    <a16:creationId xmlns:a16="http://schemas.microsoft.com/office/drawing/2014/main" id="{956E7CB7-E42F-1192-7C01-22AA2350C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2104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6" name="Rectangle 122">
                <a:extLst>
                  <a:ext uri="{FF2B5EF4-FFF2-40B4-BE49-F238E27FC236}">
                    <a16:creationId xmlns:a16="http://schemas.microsoft.com/office/drawing/2014/main" id="{B9792C9B-5639-5DE6-FCBE-4B1B81F7B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2248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7" name="Rectangle 123">
                <a:extLst>
                  <a:ext uri="{FF2B5EF4-FFF2-40B4-BE49-F238E27FC236}">
                    <a16:creationId xmlns:a16="http://schemas.microsoft.com/office/drawing/2014/main" id="{305890FE-2236-6EC2-2BDC-EC8FFAAEE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2248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8" name="Rectangle 124">
                <a:extLst>
                  <a:ext uri="{FF2B5EF4-FFF2-40B4-BE49-F238E27FC236}">
                    <a16:creationId xmlns:a16="http://schemas.microsoft.com/office/drawing/2014/main" id="{601F9053-7AB8-B9FC-2CC9-FC4EF6323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2248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29" name="Rectangle 125">
                <a:extLst>
                  <a:ext uri="{FF2B5EF4-FFF2-40B4-BE49-F238E27FC236}">
                    <a16:creationId xmlns:a16="http://schemas.microsoft.com/office/drawing/2014/main" id="{37FD783C-85B0-B4EB-989D-CB38407EE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248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0" name="Rectangle 126">
                <a:extLst>
                  <a:ext uri="{FF2B5EF4-FFF2-40B4-BE49-F238E27FC236}">
                    <a16:creationId xmlns:a16="http://schemas.microsoft.com/office/drawing/2014/main" id="{A8C0E086-DEA7-B1E4-C2BB-6CB689361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2248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1" name="Rectangle 127">
                <a:extLst>
                  <a:ext uri="{FF2B5EF4-FFF2-40B4-BE49-F238E27FC236}">
                    <a16:creationId xmlns:a16="http://schemas.microsoft.com/office/drawing/2014/main" id="{F9F685BC-A5D4-8A7A-577B-53F137F52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248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2" name="Rectangle 128">
                <a:extLst>
                  <a:ext uri="{FF2B5EF4-FFF2-40B4-BE49-F238E27FC236}">
                    <a16:creationId xmlns:a16="http://schemas.microsoft.com/office/drawing/2014/main" id="{9073CA28-C83F-49C7-F206-7EC65626E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2248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3" name="Rectangle 129">
                <a:extLst>
                  <a:ext uri="{FF2B5EF4-FFF2-40B4-BE49-F238E27FC236}">
                    <a16:creationId xmlns:a16="http://schemas.microsoft.com/office/drawing/2014/main" id="{3561DF2E-A692-7EEA-5420-D1A3A4553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2248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4" name="Rectangle 130">
                <a:extLst>
                  <a:ext uri="{FF2B5EF4-FFF2-40B4-BE49-F238E27FC236}">
                    <a16:creationId xmlns:a16="http://schemas.microsoft.com/office/drawing/2014/main" id="{7A694827-D811-78AD-1551-5074824F3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2248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5" name="Rectangle 131">
                <a:extLst>
                  <a:ext uri="{FF2B5EF4-FFF2-40B4-BE49-F238E27FC236}">
                    <a16:creationId xmlns:a16="http://schemas.microsoft.com/office/drawing/2014/main" id="{5D362F97-49D7-9BC5-C279-CA2B6FA6E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2248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6" name="Rectangle 132">
                <a:extLst>
                  <a:ext uri="{FF2B5EF4-FFF2-40B4-BE49-F238E27FC236}">
                    <a16:creationId xmlns:a16="http://schemas.microsoft.com/office/drawing/2014/main" id="{747E329B-9752-AA3E-4D65-5981773AE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2248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7" name="Rectangle 133">
                <a:extLst>
                  <a:ext uri="{FF2B5EF4-FFF2-40B4-BE49-F238E27FC236}">
                    <a16:creationId xmlns:a16="http://schemas.microsoft.com/office/drawing/2014/main" id="{E625F90E-D3F5-BE99-D3BE-57DA69657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2248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8" name="Rectangle 134">
                <a:extLst>
                  <a:ext uri="{FF2B5EF4-FFF2-40B4-BE49-F238E27FC236}">
                    <a16:creationId xmlns:a16="http://schemas.microsoft.com/office/drawing/2014/main" id="{9351524E-20BC-48F1-1226-704DB11D3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239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39" name="Rectangle 135">
                <a:extLst>
                  <a:ext uri="{FF2B5EF4-FFF2-40B4-BE49-F238E27FC236}">
                    <a16:creationId xmlns:a16="http://schemas.microsoft.com/office/drawing/2014/main" id="{F9E91FD0-D183-3823-E9D6-56ADF5939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2392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0" name="Rectangle 136">
                <a:extLst>
                  <a:ext uri="{FF2B5EF4-FFF2-40B4-BE49-F238E27FC236}">
                    <a16:creationId xmlns:a16="http://schemas.microsoft.com/office/drawing/2014/main" id="{CE1B4D41-EFD7-743B-B057-82DE7BF91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2392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1" name="Rectangle 137">
                <a:extLst>
                  <a:ext uri="{FF2B5EF4-FFF2-40B4-BE49-F238E27FC236}">
                    <a16:creationId xmlns:a16="http://schemas.microsoft.com/office/drawing/2014/main" id="{D2D2DB6C-113D-DDCB-F41E-AE73E7A5F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39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2" name="Rectangle 138">
                <a:extLst>
                  <a:ext uri="{FF2B5EF4-FFF2-40B4-BE49-F238E27FC236}">
                    <a16:creationId xmlns:a16="http://schemas.microsoft.com/office/drawing/2014/main" id="{4B79C4EF-7FB6-B51B-3E26-62EFF08A5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239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3" name="Rectangle 139">
                <a:extLst>
                  <a:ext uri="{FF2B5EF4-FFF2-40B4-BE49-F238E27FC236}">
                    <a16:creationId xmlns:a16="http://schemas.microsoft.com/office/drawing/2014/main" id="{FADF8546-5AB3-7400-0A28-C8296525A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39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4" name="Rectangle 140">
                <a:extLst>
                  <a:ext uri="{FF2B5EF4-FFF2-40B4-BE49-F238E27FC236}">
                    <a16:creationId xmlns:a16="http://schemas.microsoft.com/office/drawing/2014/main" id="{E0E73446-CC72-1B12-F7D4-932D6568A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239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5" name="Rectangle 141">
                <a:extLst>
                  <a:ext uri="{FF2B5EF4-FFF2-40B4-BE49-F238E27FC236}">
                    <a16:creationId xmlns:a16="http://schemas.microsoft.com/office/drawing/2014/main" id="{2931765A-3B4B-BA0B-BF3D-81D67D808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239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6" name="Rectangle 142">
                <a:extLst>
                  <a:ext uri="{FF2B5EF4-FFF2-40B4-BE49-F238E27FC236}">
                    <a16:creationId xmlns:a16="http://schemas.microsoft.com/office/drawing/2014/main" id="{BDF39427-12C8-CFED-0178-AC2F7A115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2392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7" name="Rectangle 143">
                <a:extLst>
                  <a:ext uri="{FF2B5EF4-FFF2-40B4-BE49-F238E27FC236}">
                    <a16:creationId xmlns:a16="http://schemas.microsoft.com/office/drawing/2014/main" id="{E41A0BB6-82EB-C07C-85E4-095130852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2392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8" name="Rectangle 144">
                <a:extLst>
                  <a:ext uri="{FF2B5EF4-FFF2-40B4-BE49-F238E27FC236}">
                    <a16:creationId xmlns:a16="http://schemas.microsoft.com/office/drawing/2014/main" id="{9776B728-918A-D223-1162-83DAFDF5C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2392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49" name="Rectangle 145">
                <a:extLst>
                  <a:ext uri="{FF2B5EF4-FFF2-40B4-BE49-F238E27FC236}">
                    <a16:creationId xmlns:a16="http://schemas.microsoft.com/office/drawing/2014/main" id="{D06DB03C-5C33-54B7-433C-88306AD3E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2392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0" name="Rectangle 146">
                <a:extLst>
                  <a:ext uri="{FF2B5EF4-FFF2-40B4-BE49-F238E27FC236}">
                    <a16:creationId xmlns:a16="http://schemas.microsoft.com/office/drawing/2014/main" id="{C32C0420-DC82-C4AA-EEB2-A3B81491F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253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1" name="Rectangle 147">
                <a:extLst>
                  <a:ext uri="{FF2B5EF4-FFF2-40B4-BE49-F238E27FC236}">
                    <a16:creationId xmlns:a16="http://schemas.microsoft.com/office/drawing/2014/main" id="{A7C7E5B5-1B4B-EFA3-2406-29900B4E6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2536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2" name="Rectangle 148">
                <a:extLst>
                  <a:ext uri="{FF2B5EF4-FFF2-40B4-BE49-F238E27FC236}">
                    <a16:creationId xmlns:a16="http://schemas.microsoft.com/office/drawing/2014/main" id="{205EEC58-8421-56CA-F415-82BD698C8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2536"/>
                <a:ext cx="33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3" name="Rectangle 149">
                <a:extLst>
                  <a:ext uri="{FF2B5EF4-FFF2-40B4-BE49-F238E27FC236}">
                    <a16:creationId xmlns:a16="http://schemas.microsoft.com/office/drawing/2014/main" id="{ED04557B-A488-1CB5-1651-6577E366F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53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4" name="Rectangle 150">
                <a:extLst>
                  <a:ext uri="{FF2B5EF4-FFF2-40B4-BE49-F238E27FC236}">
                    <a16:creationId xmlns:a16="http://schemas.microsoft.com/office/drawing/2014/main" id="{7D934D02-7573-2954-E5ED-0FB6FF73E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253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5" name="Rectangle 151">
                <a:extLst>
                  <a:ext uri="{FF2B5EF4-FFF2-40B4-BE49-F238E27FC236}">
                    <a16:creationId xmlns:a16="http://schemas.microsoft.com/office/drawing/2014/main" id="{4B215E8F-49B9-F619-EB24-E811C620E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53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6" name="Rectangle 152">
                <a:extLst>
                  <a:ext uri="{FF2B5EF4-FFF2-40B4-BE49-F238E27FC236}">
                    <a16:creationId xmlns:a16="http://schemas.microsoft.com/office/drawing/2014/main" id="{4AB61404-17C5-FBFD-6945-AA4325788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6" y="253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7" name="Rectangle 153">
                <a:extLst>
                  <a:ext uri="{FF2B5EF4-FFF2-40B4-BE49-F238E27FC236}">
                    <a16:creationId xmlns:a16="http://schemas.microsoft.com/office/drawing/2014/main" id="{CC8937D7-F484-F065-9A12-DB64F82F6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8" y="253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8" name="Rectangle 154">
                <a:extLst>
                  <a:ext uri="{FF2B5EF4-FFF2-40B4-BE49-F238E27FC236}">
                    <a16:creationId xmlns:a16="http://schemas.microsoft.com/office/drawing/2014/main" id="{E9D479FA-F053-0D5F-389D-F66CD2A6B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2536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59" name="Rectangle 155">
                <a:extLst>
                  <a:ext uri="{FF2B5EF4-FFF2-40B4-BE49-F238E27FC236}">
                    <a16:creationId xmlns:a16="http://schemas.microsoft.com/office/drawing/2014/main" id="{0AC9DB1C-DC1A-D1EF-9962-603D97D03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" y="2536"/>
                <a:ext cx="576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60" name="Rectangle 156">
                <a:extLst>
                  <a:ext uri="{FF2B5EF4-FFF2-40B4-BE49-F238E27FC236}">
                    <a16:creationId xmlns:a16="http://schemas.microsoft.com/office/drawing/2014/main" id="{0ECC2758-1A8B-57A8-4E52-0ED2A3F13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2536"/>
                <a:ext cx="43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9661" name="Rectangle 157">
                <a:extLst>
                  <a:ext uri="{FF2B5EF4-FFF2-40B4-BE49-F238E27FC236}">
                    <a16:creationId xmlns:a16="http://schemas.microsoft.com/office/drawing/2014/main" id="{646365FF-6A06-C6CA-D2C6-EBA646885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4" y="2536"/>
                <a:ext cx="288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0B92664-DB25-E4E9-7851-34C19D75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A0105DC-A681-CEB4-9FCD-B70E38FE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3C111B-B894-B688-F380-339E78CF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43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530" name="Rectangle 2">
            <a:extLst>
              <a:ext uri="{FF2B5EF4-FFF2-40B4-BE49-F238E27FC236}">
                <a16:creationId xmlns:a16="http://schemas.microsoft.com/office/drawing/2014/main" id="{808D47C3-5E3F-20BD-D9E4-B51B94049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Rollback and Renaming</a:t>
            </a:r>
          </a:p>
        </p:txBody>
      </p:sp>
      <p:sp>
        <p:nvSpPr>
          <p:cNvPr id="2070531" name="Rectangle 3">
            <a:extLst>
              <a:ext uri="{FF2B5EF4-FFF2-40B4-BE49-F238E27FC236}">
                <a16:creationId xmlns:a16="http://schemas.microsoft.com/office/drawing/2014/main" id="{FF3D7B37-6A54-AB22-DD6D-7AA9F1E05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5640388"/>
            <a:ext cx="799782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dirty="0">
                <a:solidFill>
                  <a:srgbClr val="56127A"/>
                </a:solidFill>
                <a:latin typeface="Verdana" panose="020B0604030504040204" pitchFamily="34" charset="0"/>
              </a:rPr>
              <a:t>Register file does not contain renaming tags anymore.</a:t>
            </a:r>
            <a:endParaRPr lang="en-US" altLang="en-US" i="1" dirty="0">
              <a:solidFill>
                <a:srgbClr val="56127A"/>
              </a:solidFill>
              <a:latin typeface="Verdana" panose="020B0604030504040204" pitchFamily="34" charset="0"/>
            </a:endParaRPr>
          </a:p>
          <a:p>
            <a:pPr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How does the decode stage find the tag of a source register?</a:t>
            </a:r>
          </a:p>
        </p:txBody>
      </p:sp>
      <p:sp>
        <p:nvSpPr>
          <p:cNvPr id="2070532" name="Text Box 4">
            <a:extLst>
              <a:ext uri="{FF2B5EF4-FFF2-40B4-BE49-F238E27FC236}">
                <a16:creationId xmlns:a16="http://schemas.microsoft.com/office/drawing/2014/main" id="{4089EFFC-2CB0-AA92-1567-2369A0048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627" y="6246812"/>
            <a:ext cx="574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 dirty="0">
                <a:solidFill>
                  <a:srgbClr val="FF0000"/>
                </a:solidFill>
                <a:latin typeface="Verdana" panose="020B0604030504040204" pitchFamily="34" charset="0"/>
              </a:rPr>
              <a:t>Search the “</a:t>
            </a:r>
            <a:r>
              <a:rPr lang="en-US" altLang="en-US" i="1" dirty="0" err="1">
                <a:solidFill>
                  <a:srgbClr val="FF0000"/>
                </a:solidFill>
                <a:latin typeface="Verdana" panose="020B0604030504040204" pitchFamily="34" charset="0"/>
              </a:rPr>
              <a:t>dest</a:t>
            </a:r>
            <a:r>
              <a:rPr lang="en-US" altLang="en-US" i="1" dirty="0">
                <a:solidFill>
                  <a:srgbClr val="FF0000"/>
                </a:solidFill>
                <a:latin typeface="Verdana" panose="020B0604030504040204" pitchFamily="34" charset="0"/>
              </a:rPr>
              <a:t>” field in the reorder buffer</a:t>
            </a:r>
          </a:p>
        </p:txBody>
      </p:sp>
      <p:sp>
        <p:nvSpPr>
          <p:cNvPr id="2070533" name="Text Box 5">
            <a:extLst>
              <a:ext uri="{FF2B5EF4-FFF2-40B4-BE49-F238E27FC236}">
                <a16:creationId xmlns:a16="http://schemas.microsoft.com/office/drawing/2014/main" id="{F6EF858C-85D0-545D-3FC8-CBD993528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1365250"/>
            <a:ext cx="25431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i="1" dirty="0">
                <a:solidFill>
                  <a:srgbClr val="56127A"/>
                </a:solidFill>
                <a:latin typeface="Verdana" panose="020B0604030504040204" pitchFamily="34" charset="0"/>
              </a:rPr>
              <a:t>Register File</a:t>
            </a:r>
          </a:p>
          <a:p>
            <a:pPr algn="l" eaLnBrk="0" hangingPunct="0"/>
            <a:r>
              <a:rPr lang="en-US" altLang="en-US" sz="1800" i="1" dirty="0">
                <a:solidFill>
                  <a:srgbClr val="56127A"/>
                </a:solidFill>
                <a:latin typeface="Verdana" panose="020B0604030504040204" pitchFamily="34" charset="0"/>
              </a:rPr>
              <a:t>(now holds only committed state)</a:t>
            </a:r>
          </a:p>
        </p:txBody>
      </p:sp>
      <p:grpSp>
        <p:nvGrpSpPr>
          <p:cNvPr id="2070534" name="Group 6">
            <a:extLst>
              <a:ext uri="{FF2B5EF4-FFF2-40B4-BE49-F238E27FC236}">
                <a16:creationId xmlns:a16="http://schemas.microsoft.com/office/drawing/2014/main" id="{2C4D20EB-28CB-C521-60F4-3AA4B30D2545}"/>
              </a:ext>
            </a:extLst>
          </p:cNvPr>
          <p:cNvGrpSpPr>
            <a:grpSpLocks/>
          </p:cNvGrpSpPr>
          <p:nvPr/>
        </p:nvGrpSpPr>
        <p:grpSpPr bwMode="auto">
          <a:xfrm>
            <a:off x="88900" y="2244725"/>
            <a:ext cx="8829675" cy="3416300"/>
            <a:chOff x="56" y="1406"/>
            <a:chExt cx="5562" cy="2152"/>
          </a:xfrm>
        </p:grpSpPr>
        <p:sp>
          <p:nvSpPr>
            <p:cNvPr id="2070535" name="Rectangle 7">
              <a:extLst>
                <a:ext uri="{FF2B5EF4-FFF2-40B4-BE49-F238E27FC236}">
                  <a16:creationId xmlns:a16="http://schemas.microsoft.com/office/drawing/2014/main" id="{22037779-387E-E47A-BFB1-A33B882B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" y="1818"/>
              <a:ext cx="74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 i="1">
                  <a:solidFill>
                    <a:srgbClr val="56127A"/>
                  </a:solidFill>
                  <a:latin typeface="Verdana" panose="020B0604030504040204" pitchFamily="34" charset="0"/>
                </a:rPr>
                <a:t>Reorder</a:t>
              </a:r>
            </a:p>
            <a:p>
              <a:pPr algn="r" eaLnBrk="0" hangingPunct="0"/>
              <a:r>
                <a:rPr lang="en-US" altLang="en-US" i="1">
                  <a:solidFill>
                    <a:srgbClr val="56127A"/>
                  </a:solidFill>
                  <a:latin typeface="Verdana" panose="020B0604030504040204" pitchFamily="34" charset="0"/>
                </a:rPr>
                <a:t>buffer</a:t>
              </a:r>
            </a:p>
          </p:txBody>
        </p:sp>
        <p:sp>
          <p:nvSpPr>
            <p:cNvPr id="2070536" name="Rectangle 8">
              <a:extLst>
                <a:ext uri="{FF2B5EF4-FFF2-40B4-BE49-F238E27FC236}">
                  <a16:creationId xmlns:a16="http://schemas.microsoft.com/office/drawing/2014/main" id="{3BC62054-5EFB-47B8-B26D-A180C33B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37" name="Rectangle 9">
              <a:extLst>
                <a:ext uri="{FF2B5EF4-FFF2-40B4-BE49-F238E27FC236}">
                  <a16:creationId xmlns:a16="http://schemas.microsoft.com/office/drawing/2014/main" id="{AE45D95F-F0BE-4626-BF49-F2F6B9F5B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38" name="Rectangle 10">
              <a:extLst>
                <a:ext uri="{FF2B5EF4-FFF2-40B4-BE49-F238E27FC236}">
                  <a16:creationId xmlns:a16="http://schemas.microsoft.com/office/drawing/2014/main" id="{05F94845-F3CC-CC68-D406-D0168DF24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39" name="Rectangle 11">
              <a:extLst>
                <a:ext uri="{FF2B5EF4-FFF2-40B4-BE49-F238E27FC236}">
                  <a16:creationId xmlns:a16="http://schemas.microsoft.com/office/drawing/2014/main" id="{1A8CB85A-1456-B591-988E-010EF1944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40" name="Rectangle 12">
              <a:extLst>
                <a:ext uri="{FF2B5EF4-FFF2-40B4-BE49-F238E27FC236}">
                  <a16:creationId xmlns:a16="http://schemas.microsoft.com/office/drawing/2014/main" id="{A3003FAC-02B7-D74A-73D2-CBF640A30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41" name="Line 13">
              <a:extLst>
                <a:ext uri="{FF2B5EF4-FFF2-40B4-BE49-F238E27FC236}">
                  <a16:creationId xmlns:a16="http://schemas.microsoft.com/office/drawing/2014/main" id="{72C92E74-76B9-E612-3A84-7F7FAE43F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695"/>
              <a:ext cx="21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70542" name="Group 14">
              <a:extLst>
                <a:ext uri="{FF2B5EF4-FFF2-40B4-BE49-F238E27FC236}">
                  <a16:creationId xmlns:a16="http://schemas.microsoft.com/office/drawing/2014/main" id="{BA2C2DE0-DC42-6053-26D8-29632B1833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3312"/>
              <a:ext cx="2137" cy="228"/>
              <a:chOff x="1368" y="3261"/>
              <a:chExt cx="2137" cy="228"/>
            </a:xfrm>
          </p:grpSpPr>
          <p:sp>
            <p:nvSpPr>
              <p:cNvPr id="2070543" name="Freeform 15">
                <a:extLst>
                  <a:ext uri="{FF2B5EF4-FFF2-40B4-BE49-F238E27FC236}">
                    <a16:creationId xmlns:a16="http://schemas.microsoft.com/office/drawing/2014/main" id="{CF8A2C84-6DE4-C2E7-DF34-4371137A4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3267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544" name="Freeform 16">
                <a:extLst>
                  <a:ext uri="{FF2B5EF4-FFF2-40B4-BE49-F238E27FC236}">
                    <a16:creationId xmlns:a16="http://schemas.microsoft.com/office/drawing/2014/main" id="{732EE1C2-83C1-E153-ED6D-4F2471D46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545" name="Freeform 17">
                <a:extLst>
                  <a:ext uri="{FF2B5EF4-FFF2-40B4-BE49-F238E27FC236}">
                    <a16:creationId xmlns:a16="http://schemas.microsoft.com/office/drawing/2014/main" id="{9C2F17B9-328F-EFEE-9C6F-79EC2EE05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546" name="Freeform 18">
                <a:extLst>
                  <a:ext uri="{FF2B5EF4-FFF2-40B4-BE49-F238E27FC236}">
                    <a16:creationId xmlns:a16="http://schemas.microsoft.com/office/drawing/2014/main" id="{EADFEEC8-920B-5907-64BB-63CCBA7A2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0547" name="Line 19">
              <a:extLst>
                <a:ext uri="{FF2B5EF4-FFF2-40B4-BE49-F238E27FC236}">
                  <a16:creationId xmlns:a16="http://schemas.microsoft.com/office/drawing/2014/main" id="{03AC6230-A0BA-8541-8EB5-5E19D7974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599"/>
              <a:ext cx="2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48" name="Line 20">
              <a:extLst>
                <a:ext uri="{FF2B5EF4-FFF2-40B4-BE49-F238E27FC236}">
                  <a16:creationId xmlns:a16="http://schemas.microsoft.com/office/drawing/2014/main" id="{D726B8C8-EB5E-EEA3-3640-FF696E20F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47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49" name="Line 21">
              <a:extLst>
                <a:ext uri="{FF2B5EF4-FFF2-40B4-BE49-F238E27FC236}">
                  <a16:creationId xmlns:a16="http://schemas.microsoft.com/office/drawing/2014/main" id="{0200DEA6-7403-C0D2-2DF2-548DC5C46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2478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0" name="Line 22">
              <a:extLst>
                <a:ext uri="{FF2B5EF4-FFF2-40B4-BE49-F238E27FC236}">
                  <a16:creationId xmlns:a16="http://schemas.microsoft.com/office/drawing/2014/main" id="{5C539E71-E6A1-0E41-B3B3-5950B376B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1" name="Line 23">
              <a:extLst>
                <a:ext uri="{FF2B5EF4-FFF2-40B4-BE49-F238E27FC236}">
                  <a16:creationId xmlns:a16="http://schemas.microsoft.com/office/drawing/2014/main" id="{B39E091A-4792-59BA-F62E-B9F9CC258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2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2" name="Line 24">
              <a:extLst>
                <a:ext uri="{FF2B5EF4-FFF2-40B4-BE49-F238E27FC236}">
                  <a16:creationId xmlns:a16="http://schemas.microsoft.com/office/drawing/2014/main" id="{BFC89DA3-2A06-9E2A-7088-A60D6BFE3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3" name="Line 25">
              <a:extLst>
                <a:ext uri="{FF2B5EF4-FFF2-40B4-BE49-F238E27FC236}">
                  <a16:creationId xmlns:a16="http://schemas.microsoft.com/office/drawing/2014/main" id="{7D00C866-CFFC-385E-272E-4F62750B3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4" name="Line 26">
              <a:extLst>
                <a:ext uri="{FF2B5EF4-FFF2-40B4-BE49-F238E27FC236}">
                  <a16:creationId xmlns:a16="http://schemas.microsoft.com/office/drawing/2014/main" id="{AAD1434D-C31E-AF1E-6AB9-B012A76DB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5" name="Line 27">
              <a:extLst>
                <a:ext uri="{FF2B5EF4-FFF2-40B4-BE49-F238E27FC236}">
                  <a16:creationId xmlns:a16="http://schemas.microsoft.com/office/drawing/2014/main" id="{89227D83-6EC5-12E0-25D3-452E3D152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4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6" name="Line 28">
              <a:extLst>
                <a:ext uri="{FF2B5EF4-FFF2-40B4-BE49-F238E27FC236}">
                  <a16:creationId xmlns:a16="http://schemas.microsoft.com/office/drawing/2014/main" id="{39462AB8-7F5F-F478-9092-768024FA8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7" name="Line 29">
              <a:extLst>
                <a:ext uri="{FF2B5EF4-FFF2-40B4-BE49-F238E27FC236}">
                  <a16:creationId xmlns:a16="http://schemas.microsoft.com/office/drawing/2014/main" id="{6986CBB9-AE85-AF21-D055-0D962945A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558" name="Freeform 30">
              <a:extLst>
                <a:ext uri="{FF2B5EF4-FFF2-40B4-BE49-F238E27FC236}">
                  <a16:creationId xmlns:a16="http://schemas.microsoft.com/office/drawing/2014/main" id="{D3E40599-8EBE-E206-B01B-CEDE11349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2695"/>
              <a:ext cx="601" cy="169"/>
            </a:xfrm>
            <a:custGeom>
              <a:avLst/>
              <a:gdLst>
                <a:gd name="T0" fmla="*/ 600 w 601"/>
                <a:gd name="T1" fmla="*/ 0 h 169"/>
                <a:gd name="T2" fmla="*/ 0 w 601"/>
                <a:gd name="T3" fmla="*/ 0 h 169"/>
                <a:gd name="T4" fmla="*/ 0 w 601"/>
                <a:gd name="T5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1" h="169">
                  <a:moveTo>
                    <a:pt x="600" y="0"/>
                  </a:moveTo>
                  <a:lnTo>
                    <a:pt x="0" y="0"/>
                  </a:lnTo>
                  <a:lnTo>
                    <a:pt x="0" y="16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59" name="Freeform 31">
              <a:extLst>
                <a:ext uri="{FF2B5EF4-FFF2-40B4-BE49-F238E27FC236}">
                  <a16:creationId xmlns:a16="http://schemas.microsoft.com/office/drawing/2014/main" id="{FFA48D1A-F3D1-8ADC-76DE-C11E01FFC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599"/>
              <a:ext cx="633" cy="273"/>
            </a:xfrm>
            <a:custGeom>
              <a:avLst/>
              <a:gdLst>
                <a:gd name="T0" fmla="*/ 632 w 633"/>
                <a:gd name="T1" fmla="*/ 0 h 273"/>
                <a:gd name="T2" fmla="*/ 0 w 633"/>
                <a:gd name="T3" fmla="*/ 0 h 273"/>
                <a:gd name="T4" fmla="*/ 0 w 633"/>
                <a:gd name="T5" fmla="*/ 272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3" h="273">
                  <a:moveTo>
                    <a:pt x="632" y="0"/>
                  </a:moveTo>
                  <a:lnTo>
                    <a:pt x="0" y="0"/>
                  </a:lnTo>
                  <a:lnTo>
                    <a:pt x="0" y="27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60" name="Rectangle 32">
              <a:extLst>
                <a:ext uri="{FF2B5EF4-FFF2-40B4-BE49-F238E27FC236}">
                  <a16:creationId xmlns:a16="http://schemas.microsoft.com/office/drawing/2014/main" id="{DE7A7F95-B8C5-271E-1012-1A077134F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" y="2889"/>
              <a:ext cx="45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Load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 Unit</a:t>
              </a:r>
            </a:p>
          </p:txBody>
        </p:sp>
        <p:sp>
          <p:nvSpPr>
            <p:cNvPr id="2070561" name="Rectangle 33">
              <a:extLst>
                <a:ext uri="{FF2B5EF4-FFF2-40B4-BE49-F238E27FC236}">
                  <a16:creationId xmlns:a16="http://schemas.microsoft.com/office/drawing/2014/main" id="{A82FA5D6-4443-F961-1095-DB1D496C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" y="2969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0562" name="Rectangle 34">
              <a:extLst>
                <a:ext uri="{FF2B5EF4-FFF2-40B4-BE49-F238E27FC236}">
                  <a16:creationId xmlns:a16="http://schemas.microsoft.com/office/drawing/2014/main" id="{45C76B1A-04FE-1A5E-178B-A7E8495D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" y="2969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0563" name="Rectangle 35">
              <a:extLst>
                <a:ext uri="{FF2B5EF4-FFF2-40B4-BE49-F238E27FC236}">
                  <a16:creationId xmlns:a16="http://schemas.microsoft.com/office/drawing/2014/main" id="{F0F45440-2375-E3A6-8C36-613EA5FE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977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0564" name="Rectangle 36">
              <a:extLst>
                <a:ext uri="{FF2B5EF4-FFF2-40B4-BE49-F238E27FC236}">
                  <a16:creationId xmlns:a16="http://schemas.microsoft.com/office/drawing/2014/main" id="{7CD856AE-089E-32BA-BD00-F6CA5C3B6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2897"/>
              <a:ext cx="503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Store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 Unit</a:t>
              </a:r>
            </a:p>
          </p:txBody>
        </p:sp>
        <p:sp>
          <p:nvSpPr>
            <p:cNvPr id="2070565" name="Rectangle 37">
              <a:extLst>
                <a:ext uri="{FF2B5EF4-FFF2-40B4-BE49-F238E27FC236}">
                  <a16:creationId xmlns:a16="http://schemas.microsoft.com/office/drawing/2014/main" id="{A0A940D7-286E-A56C-BEC5-3D63E4361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3310"/>
              <a:ext cx="1119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&lt; t, result &gt;</a:t>
              </a:r>
            </a:p>
          </p:txBody>
        </p:sp>
        <p:sp>
          <p:nvSpPr>
            <p:cNvPr id="2070566" name="Rectangle 38">
              <a:extLst>
                <a:ext uri="{FF2B5EF4-FFF2-40B4-BE49-F238E27FC236}">
                  <a16:creationId xmlns:a16="http://schemas.microsoft.com/office/drawing/2014/main" id="{AF8FA792-4C6E-6B81-D746-EB8E8461F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2" y="1584"/>
              <a:ext cx="232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1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2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n</a:t>
              </a:r>
            </a:p>
          </p:txBody>
        </p:sp>
        <p:grpSp>
          <p:nvGrpSpPr>
            <p:cNvPr id="2070567" name="Group 39">
              <a:extLst>
                <a:ext uri="{FF2B5EF4-FFF2-40B4-BE49-F238E27FC236}">
                  <a16:creationId xmlns:a16="http://schemas.microsoft.com/office/drawing/2014/main" id="{18023F5A-9F9A-6089-F6CE-B3096DDE3A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584"/>
              <a:ext cx="4243" cy="902"/>
              <a:chOff x="1324" y="924"/>
              <a:chExt cx="4243" cy="902"/>
            </a:xfrm>
          </p:grpSpPr>
          <p:grpSp>
            <p:nvGrpSpPr>
              <p:cNvPr id="2070568" name="Group 40">
                <a:extLst>
                  <a:ext uri="{FF2B5EF4-FFF2-40B4-BE49-F238E27FC236}">
                    <a16:creationId xmlns:a16="http://schemas.microsoft.com/office/drawing/2014/main" id="{15ED16C0-1D6F-DD11-60D0-01C86AB3B8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2" y="959"/>
                <a:ext cx="3798" cy="856"/>
                <a:chOff x="1762" y="959"/>
                <a:chExt cx="3798" cy="1726"/>
              </a:xfrm>
            </p:grpSpPr>
            <p:sp>
              <p:nvSpPr>
                <p:cNvPr id="2070569" name="Rectangle 41">
                  <a:extLst>
                    <a:ext uri="{FF2B5EF4-FFF2-40B4-BE49-F238E27FC236}">
                      <a16:creationId xmlns:a16="http://schemas.microsoft.com/office/drawing/2014/main" id="{2E9F12D2-B381-0557-4D70-08B56BC77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984"/>
                  <a:ext cx="1192" cy="1696"/>
                </a:xfrm>
                <a:prstGeom prst="rect">
                  <a:avLst/>
                </a:prstGeom>
                <a:pattFill prst="wdDnDiag">
                  <a:fgClr>
                    <a:schemeClr val="bg2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0" name="Line 42">
                  <a:extLst>
                    <a:ext uri="{FF2B5EF4-FFF2-40B4-BE49-F238E27FC236}">
                      <a16:creationId xmlns:a16="http://schemas.microsoft.com/office/drawing/2014/main" id="{97115783-5B26-472D-73C6-59889D936F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2" y="981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1" name="Line 43">
                  <a:extLst>
                    <a:ext uri="{FF2B5EF4-FFF2-40B4-BE49-F238E27FC236}">
                      <a16:creationId xmlns:a16="http://schemas.microsoft.com/office/drawing/2014/main" id="{44F4C6F5-80C0-A056-13A3-169D426C3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0" y="975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2" name="Line 44">
                  <a:extLst>
                    <a:ext uri="{FF2B5EF4-FFF2-40B4-BE49-F238E27FC236}">
                      <a16:creationId xmlns:a16="http://schemas.microsoft.com/office/drawing/2014/main" id="{AD67E926-5297-22CC-882B-02D5B1ADCD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3" name="Line 45">
                  <a:extLst>
                    <a:ext uri="{FF2B5EF4-FFF2-40B4-BE49-F238E27FC236}">
                      <a16:creationId xmlns:a16="http://schemas.microsoft.com/office/drawing/2014/main" id="{9562C177-55B1-2D2C-28C6-B6A58A760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6" y="964"/>
                  <a:ext cx="0" cy="171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4" name="Line 46">
                  <a:extLst>
                    <a:ext uri="{FF2B5EF4-FFF2-40B4-BE49-F238E27FC236}">
                      <a16:creationId xmlns:a16="http://schemas.microsoft.com/office/drawing/2014/main" id="{51B86043-1F3C-112D-711C-997B4EA25B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58" y="965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5" name="Line 47">
                  <a:extLst>
                    <a:ext uri="{FF2B5EF4-FFF2-40B4-BE49-F238E27FC236}">
                      <a16:creationId xmlns:a16="http://schemas.microsoft.com/office/drawing/2014/main" id="{38D5DF79-5A4A-E8A9-AFA8-DFDE24FD15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9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6" name="Line 48">
                  <a:extLst>
                    <a:ext uri="{FF2B5EF4-FFF2-40B4-BE49-F238E27FC236}">
                      <a16:creationId xmlns:a16="http://schemas.microsoft.com/office/drawing/2014/main" id="{38D17620-A1AF-8629-2769-12604EE01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2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7" name="Line 49">
                  <a:extLst>
                    <a:ext uri="{FF2B5EF4-FFF2-40B4-BE49-F238E27FC236}">
                      <a16:creationId xmlns:a16="http://schemas.microsoft.com/office/drawing/2014/main" id="{4D001BC3-4A5D-7708-D3C2-787BBD5EDF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2" y="965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0578" name="Line 50">
                  <a:extLst>
                    <a:ext uri="{FF2B5EF4-FFF2-40B4-BE49-F238E27FC236}">
                      <a16:creationId xmlns:a16="http://schemas.microsoft.com/office/drawing/2014/main" id="{9FBFED91-4041-9B63-CB81-05FED151C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8" y="959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070579" name="Rectangle 51">
                <a:extLst>
                  <a:ext uri="{FF2B5EF4-FFF2-40B4-BE49-F238E27FC236}">
                    <a16:creationId xmlns:a16="http://schemas.microsoft.com/office/drawing/2014/main" id="{579615C6-DEF8-B60E-9C66-F9BFF1719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4" y="924"/>
                <a:ext cx="411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600">
                    <a:latin typeface="Verdana" panose="020B0604030504040204" pitchFamily="34" charset="0"/>
                  </a:rPr>
                  <a:t>Ins#  use  exec   op   p1    src1   p2    src2    pd  </a:t>
                </a:r>
                <a:r>
                  <a:rPr lang="en-US" altLang="en-US" sz="1600">
                    <a:solidFill>
                      <a:srgbClr val="FF0000"/>
                    </a:solidFill>
                    <a:latin typeface="Verdana" panose="020B0604030504040204" pitchFamily="34" charset="0"/>
                  </a:rPr>
                  <a:t>dest </a:t>
                </a:r>
                <a:r>
                  <a:rPr lang="en-US" altLang="en-US" sz="1600">
                    <a:latin typeface="Verdana" panose="020B0604030504040204" pitchFamily="34" charset="0"/>
                  </a:rPr>
                  <a:t>    data</a:t>
                </a:r>
              </a:p>
            </p:txBody>
          </p:sp>
          <p:sp>
            <p:nvSpPr>
              <p:cNvPr id="2070580" name="Rectangle 52">
                <a:extLst>
                  <a:ext uri="{FF2B5EF4-FFF2-40B4-BE49-F238E27FC236}">
                    <a16:creationId xmlns:a16="http://schemas.microsoft.com/office/drawing/2014/main" id="{C56998F0-6F85-B6C8-0DF3-1C370E4A9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4" y="966"/>
                <a:ext cx="4210" cy="8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81" name="Line 53">
                <a:extLst>
                  <a:ext uri="{FF2B5EF4-FFF2-40B4-BE49-F238E27FC236}">
                    <a16:creationId xmlns:a16="http://schemas.microsoft.com/office/drawing/2014/main" id="{DF51EB75-FF2F-A326-78C0-85FE45C78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118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82" name="Line 54">
                <a:extLst>
                  <a:ext uri="{FF2B5EF4-FFF2-40B4-BE49-F238E27FC236}">
                    <a16:creationId xmlns:a16="http://schemas.microsoft.com/office/drawing/2014/main" id="{6044FCE1-D261-D869-F84C-DA82593E6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294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83" name="Line 55">
                <a:extLst>
                  <a:ext uri="{FF2B5EF4-FFF2-40B4-BE49-F238E27FC236}">
                    <a16:creationId xmlns:a16="http://schemas.microsoft.com/office/drawing/2014/main" id="{BFDFA80B-28CF-4A2F-D686-AC84FE115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3" y="1462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84" name="Line 56">
                <a:extLst>
                  <a:ext uri="{FF2B5EF4-FFF2-40B4-BE49-F238E27FC236}">
                    <a16:creationId xmlns:a16="http://schemas.microsoft.com/office/drawing/2014/main" id="{2154A7B5-B18D-041F-EDB2-417CEB3FF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622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85" name="Line 57">
                <a:extLst>
                  <a:ext uri="{FF2B5EF4-FFF2-40B4-BE49-F238E27FC236}">
                    <a16:creationId xmlns:a16="http://schemas.microsoft.com/office/drawing/2014/main" id="{14B3BE79-6E79-0AD6-AE7F-DC5A563BB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7" y="968"/>
                <a:ext cx="0" cy="8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70586" name="Freeform 58">
              <a:extLst>
                <a:ext uri="{FF2B5EF4-FFF2-40B4-BE49-F238E27FC236}">
                  <a16:creationId xmlns:a16="http://schemas.microsoft.com/office/drawing/2014/main" id="{62EAB758-24AE-49CF-A976-577AB7CD8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1410"/>
              <a:ext cx="4560" cy="2112"/>
            </a:xfrm>
            <a:custGeom>
              <a:avLst/>
              <a:gdLst>
                <a:gd name="T0" fmla="*/ 0 w 4560"/>
                <a:gd name="T1" fmla="*/ 2112 h 2112"/>
                <a:gd name="T2" fmla="*/ 4560 w 4560"/>
                <a:gd name="T3" fmla="*/ 2112 h 2112"/>
                <a:gd name="T4" fmla="*/ 4560 w 4560"/>
                <a:gd name="T5" fmla="*/ 0 h 2112"/>
                <a:gd name="T6" fmla="*/ 1824 w 4560"/>
                <a:gd name="T7" fmla="*/ 0 h 2112"/>
                <a:gd name="T8" fmla="*/ 1816 w 4560"/>
                <a:gd name="T9" fmla="*/ 223 h 2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0" h="2112">
                  <a:moveTo>
                    <a:pt x="0" y="2112"/>
                  </a:moveTo>
                  <a:lnTo>
                    <a:pt x="4560" y="2112"/>
                  </a:lnTo>
                  <a:lnTo>
                    <a:pt x="4560" y="0"/>
                  </a:lnTo>
                  <a:lnTo>
                    <a:pt x="1824" y="0"/>
                  </a:lnTo>
                  <a:lnTo>
                    <a:pt x="1816" y="223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87" name="Freeform 59">
              <a:extLst>
                <a:ext uri="{FF2B5EF4-FFF2-40B4-BE49-F238E27FC236}">
                  <a16:creationId xmlns:a16="http://schemas.microsoft.com/office/drawing/2014/main" id="{2136C60B-03BF-A32E-071C-998EE4F4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406"/>
              <a:ext cx="5" cy="196"/>
            </a:xfrm>
            <a:custGeom>
              <a:avLst/>
              <a:gdLst>
                <a:gd name="T0" fmla="*/ 0 w 5"/>
                <a:gd name="T1" fmla="*/ 0 h 196"/>
                <a:gd name="T2" fmla="*/ 5 w 5"/>
                <a:gd name="T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96">
                  <a:moveTo>
                    <a:pt x="0" y="0"/>
                  </a:moveTo>
                  <a:lnTo>
                    <a:pt x="5" y="196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88" name="Line 60">
              <a:extLst>
                <a:ext uri="{FF2B5EF4-FFF2-40B4-BE49-F238E27FC236}">
                  <a16:creationId xmlns:a16="http://schemas.microsoft.com/office/drawing/2014/main" id="{EA985E43-948A-A281-9ADA-BA11932DF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141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89" name="Rectangle 61">
              <a:extLst>
                <a:ext uri="{FF2B5EF4-FFF2-40B4-BE49-F238E27FC236}">
                  <a16:creationId xmlns:a16="http://schemas.microsoft.com/office/drawing/2014/main" id="{BA420A8F-CCA5-04B6-4A34-FC8AFD195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2754"/>
              <a:ext cx="624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n-US" sz="1800">
                  <a:latin typeface="Verdana" panose="020B0604030504040204" pitchFamily="34" charset="0"/>
                </a:rPr>
                <a:t>Commit</a:t>
              </a:r>
            </a:p>
          </p:txBody>
        </p:sp>
        <p:sp>
          <p:nvSpPr>
            <p:cNvPr id="2070590" name="Line 62">
              <a:extLst>
                <a:ext uri="{FF2B5EF4-FFF2-40B4-BE49-F238E27FC236}">
                  <a16:creationId xmlns:a16="http://schemas.microsoft.com/office/drawing/2014/main" id="{79D32DD6-8EB3-3442-632F-9C071099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" y="246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70591" name="Group 63">
            <a:extLst>
              <a:ext uri="{FF2B5EF4-FFF2-40B4-BE49-F238E27FC236}">
                <a16:creationId xmlns:a16="http://schemas.microsoft.com/office/drawing/2014/main" id="{759580A7-6E26-5B99-51FE-D3664548B397}"/>
              </a:ext>
            </a:extLst>
          </p:cNvPr>
          <p:cNvGrpSpPr>
            <a:grpSpLocks/>
          </p:cNvGrpSpPr>
          <p:nvPr/>
        </p:nvGrpSpPr>
        <p:grpSpPr bwMode="auto">
          <a:xfrm>
            <a:off x="2781300" y="1450975"/>
            <a:ext cx="1098550" cy="896938"/>
            <a:chOff x="4272" y="674"/>
            <a:chExt cx="692" cy="613"/>
          </a:xfrm>
        </p:grpSpPr>
        <p:sp>
          <p:nvSpPr>
            <p:cNvPr id="2070592" name="Rectangle 64">
              <a:extLst>
                <a:ext uri="{FF2B5EF4-FFF2-40B4-BE49-F238E27FC236}">
                  <a16:creationId xmlns:a16="http://schemas.microsoft.com/office/drawing/2014/main" id="{0E0C9032-FBED-BC05-401D-2673EC325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674"/>
              <a:ext cx="688" cy="6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70593" name="Group 65">
              <a:extLst>
                <a:ext uri="{FF2B5EF4-FFF2-40B4-BE49-F238E27FC236}">
                  <a16:creationId xmlns:a16="http://schemas.microsoft.com/office/drawing/2014/main" id="{3238DAF5-74BD-B250-2081-9DD1F9BEB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843"/>
              <a:ext cx="692" cy="295"/>
              <a:chOff x="4272" y="843"/>
              <a:chExt cx="756" cy="295"/>
            </a:xfrm>
          </p:grpSpPr>
          <p:sp>
            <p:nvSpPr>
              <p:cNvPr id="2070594" name="Line 66">
                <a:extLst>
                  <a:ext uri="{FF2B5EF4-FFF2-40B4-BE49-F238E27FC236}">
                    <a16:creationId xmlns:a16="http://schemas.microsoft.com/office/drawing/2014/main" id="{2C56940E-591A-BD89-FB8D-4A522C78A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0" y="843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95" name="Line 67">
                <a:extLst>
                  <a:ext uri="{FF2B5EF4-FFF2-40B4-BE49-F238E27FC236}">
                    <a16:creationId xmlns:a16="http://schemas.microsoft.com/office/drawing/2014/main" id="{8A576F2B-1F77-1418-9D58-7B3295DBD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0" y="113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0596" name="Line 68">
                <a:extLst>
                  <a:ext uri="{FF2B5EF4-FFF2-40B4-BE49-F238E27FC236}">
                    <a16:creationId xmlns:a16="http://schemas.microsoft.com/office/drawing/2014/main" id="{0E6F87B9-64D9-7F7E-DDEA-35430010B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97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70597" name="Freeform 69">
            <a:extLst>
              <a:ext uri="{FF2B5EF4-FFF2-40B4-BE49-F238E27FC236}">
                <a16:creationId xmlns:a16="http://schemas.microsoft.com/office/drawing/2014/main" id="{FD67A912-BF56-2CBC-9831-75CD67571384}"/>
              </a:ext>
            </a:extLst>
          </p:cNvPr>
          <p:cNvSpPr>
            <a:spLocks/>
          </p:cNvSpPr>
          <p:nvPr/>
        </p:nvSpPr>
        <p:spPr bwMode="auto">
          <a:xfrm>
            <a:off x="3886200" y="1638300"/>
            <a:ext cx="4762500" cy="3644900"/>
          </a:xfrm>
          <a:custGeom>
            <a:avLst/>
            <a:gdLst>
              <a:gd name="T0" fmla="*/ 2416 w 3000"/>
              <a:gd name="T1" fmla="*/ 2168 h 2296"/>
              <a:gd name="T2" fmla="*/ 2416 w 3000"/>
              <a:gd name="T3" fmla="*/ 2296 h 2296"/>
              <a:gd name="T4" fmla="*/ 3000 w 3000"/>
              <a:gd name="T5" fmla="*/ 2296 h 2296"/>
              <a:gd name="T6" fmla="*/ 3000 w 3000"/>
              <a:gd name="T7" fmla="*/ 0 h 2296"/>
              <a:gd name="T8" fmla="*/ 0 w 3000"/>
              <a:gd name="T9" fmla="*/ 0 h 2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0" h="2296">
                <a:moveTo>
                  <a:pt x="2416" y="2168"/>
                </a:moveTo>
                <a:lnTo>
                  <a:pt x="2416" y="2296"/>
                </a:lnTo>
                <a:lnTo>
                  <a:pt x="3000" y="2296"/>
                </a:lnTo>
                <a:lnTo>
                  <a:pt x="3000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54BF44-DB04-D99E-0052-9A42A745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EAF6D1A-2A36-2ED7-463D-41017F08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671BC7-B5A4-5233-7E54-1BD05B91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44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053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554" name="Rectangle 2">
            <a:extLst>
              <a:ext uri="{FF2B5EF4-FFF2-40B4-BE49-F238E27FC236}">
                <a16:creationId xmlns:a16="http://schemas.microsoft.com/office/drawing/2014/main" id="{C584E194-EBC5-2C98-233D-DCDE9F04D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Renaming Table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C3F171-FE76-18AF-761F-8E8EE071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71555" name="Rectangle 3">
            <a:extLst>
              <a:ext uri="{FF2B5EF4-FFF2-40B4-BE49-F238E27FC236}">
                <a16:creationId xmlns:a16="http://schemas.microsoft.com/office/drawing/2014/main" id="{6C53D5D3-8248-4079-72E0-81E54092C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1336675"/>
            <a:ext cx="16002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r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Register File</a:t>
            </a:r>
            <a:endParaRPr lang="en-US" altLang="en-US" sz="1800" i="1">
              <a:solidFill>
                <a:srgbClr val="56127A"/>
              </a:solidFill>
              <a:latin typeface="Verdana" panose="020B0604030504040204" pitchFamily="34" charset="0"/>
            </a:endParaRPr>
          </a:p>
        </p:txBody>
      </p:sp>
      <p:grpSp>
        <p:nvGrpSpPr>
          <p:cNvPr id="2071556" name="Group 4">
            <a:extLst>
              <a:ext uri="{FF2B5EF4-FFF2-40B4-BE49-F238E27FC236}">
                <a16:creationId xmlns:a16="http://schemas.microsoft.com/office/drawing/2014/main" id="{B77796C9-671A-AEA6-5F27-AC9DCFA0E3A3}"/>
              </a:ext>
            </a:extLst>
          </p:cNvPr>
          <p:cNvGrpSpPr>
            <a:grpSpLocks/>
          </p:cNvGrpSpPr>
          <p:nvPr/>
        </p:nvGrpSpPr>
        <p:grpSpPr bwMode="auto">
          <a:xfrm>
            <a:off x="0" y="2232025"/>
            <a:ext cx="8918575" cy="3416300"/>
            <a:chOff x="0" y="1406"/>
            <a:chExt cx="5618" cy="2152"/>
          </a:xfrm>
        </p:grpSpPr>
        <p:sp>
          <p:nvSpPr>
            <p:cNvPr id="2071557" name="Rectangle 5">
              <a:extLst>
                <a:ext uri="{FF2B5EF4-FFF2-40B4-BE49-F238E27FC236}">
                  <a16:creationId xmlns:a16="http://schemas.microsoft.com/office/drawing/2014/main" id="{4ED36221-E911-186A-49FE-655A3C061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18"/>
              <a:ext cx="804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i="1">
                  <a:solidFill>
                    <a:srgbClr val="56127A"/>
                  </a:solidFill>
                  <a:latin typeface="Verdana" panose="020B0604030504040204" pitchFamily="34" charset="0"/>
                </a:rPr>
                <a:t>Reorder </a:t>
              </a:r>
            </a:p>
            <a:p>
              <a:pPr algn="l" eaLnBrk="0" hangingPunct="0"/>
              <a:r>
                <a:rPr lang="en-US" altLang="en-US" i="1">
                  <a:solidFill>
                    <a:srgbClr val="56127A"/>
                  </a:solidFill>
                  <a:latin typeface="Verdana" panose="020B0604030504040204" pitchFamily="34" charset="0"/>
                </a:rPr>
                <a:t>buffer</a:t>
              </a:r>
            </a:p>
          </p:txBody>
        </p:sp>
        <p:sp>
          <p:nvSpPr>
            <p:cNvPr id="2071558" name="Rectangle 6">
              <a:extLst>
                <a:ext uri="{FF2B5EF4-FFF2-40B4-BE49-F238E27FC236}">
                  <a16:creationId xmlns:a16="http://schemas.microsoft.com/office/drawing/2014/main" id="{47372855-6AD6-4B93-4C2C-6A2E90CC8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59" name="Rectangle 7">
              <a:extLst>
                <a:ext uri="{FF2B5EF4-FFF2-40B4-BE49-F238E27FC236}">
                  <a16:creationId xmlns:a16="http://schemas.microsoft.com/office/drawing/2014/main" id="{1BA4D7D9-93FE-B4A9-FD31-2E96B23EF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60" name="Rectangle 8">
              <a:extLst>
                <a:ext uri="{FF2B5EF4-FFF2-40B4-BE49-F238E27FC236}">
                  <a16:creationId xmlns:a16="http://schemas.microsoft.com/office/drawing/2014/main" id="{45F270C5-C368-2893-2689-21B8A0C6A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61" name="Rectangle 9">
              <a:extLst>
                <a:ext uri="{FF2B5EF4-FFF2-40B4-BE49-F238E27FC236}">
                  <a16:creationId xmlns:a16="http://schemas.microsoft.com/office/drawing/2014/main" id="{3A79BD94-46FB-90B1-984D-2E39B1B15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62" name="Rectangle 10">
              <a:extLst>
                <a:ext uri="{FF2B5EF4-FFF2-40B4-BE49-F238E27FC236}">
                  <a16:creationId xmlns:a16="http://schemas.microsoft.com/office/drawing/2014/main" id="{7B06D934-0B4D-D273-1FA8-73682C4BD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63"/>
              <a:ext cx="496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63" name="Line 11">
              <a:extLst>
                <a:ext uri="{FF2B5EF4-FFF2-40B4-BE49-F238E27FC236}">
                  <a16:creationId xmlns:a16="http://schemas.microsoft.com/office/drawing/2014/main" id="{D2E05E77-C827-A4EF-4913-4E75D9D37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695"/>
              <a:ext cx="21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71564" name="Group 12">
              <a:extLst>
                <a:ext uri="{FF2B5EF4-FFF2-40B4-BE49-F238E27FC236}">
                  <a16:creationId xmlns:a16="http://schemas.microsoft.com/office/drawing/2014/main" id="{C540833F-35E9-E58C-7B22-D82E1978F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3312"/>
              <a:ext cx="2137" cy="228"/>
              <a:chOff x="1368" y="3261"/>
              <a:chExt cx="2137" cy="228"/>
            </a:xfrm>
          </p:grpSpPr>
          <p:sp>
            <p:nvSpPr>
              <p:cNvPr id="2071565" name="Freeform 13">
                <a:extLst>
                  <a:ext uri="{FF2B5EF4-FFF2-40B4-BE49-F238E27FC236}">
                    <a16:creationId xmlns:a16="http://schemas.microsoft.com/office/drawing/2014/main" id="{2A70A506-3A22-A4D5-0DBE-35122C2B5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3267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566" name="Freeform 14">
                <a:extLst>
                  <a:ext uri="{FF2B5EF4-FFF2-40B4-BE49-F238E27FC236}">
                    <a16:creationId xmlns:a16="http://schemas.microsoft.com/office/drawing/2014/main" id="{B727ECEB-4607-319F-4C30-23AA778DE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567" name="Freeform 15">
                <a:extLst>
                  <a:ext uri="{FF2B5EF4-FFF2-40B4-BE49-F238E27FC236}">
                    <a16:creationId xmlns:a16="http://schemas.microsoft.com/office/drawing/2014/main" id="{6A9C0229-6F35-8B89-5C79-DF2BA7633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568" name="Freeform 16">
                <a:extLst>
                  <a:ext uri="{FF2B5EF4-FFF2-40B4-BE49-F238E27FC236}">
                    <a16:creationId xmlns:a16="http://schemas.microsoft.com/office/drawing/2014/main" id="{BFDA153E-310C-38CA-319A-F58C4827C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3261"/>
                <a:ext cx="1" cy="222"/>
              </a:xfrm>
              <a:custGeom>
                <a:avLst/>
                <a:gdLst>
                  <a:gd name="T0" fmla="*/ 0 w 1"/>
                  <a:gd name="T1" fmla="*/ 0 h 222"/>
                  <a:gd name="T2" fmla="*/ 0 w 1"/>
                  <a:gd name="T3" fmla="*/ 221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22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1569" name="Line 17">
              <a:extLst>
                <a:ext uri="{FF2B5EF4-FFF2-40B4-BE49-F238E27FC236}">
                  <a16:creationId xmlns:a16="http://schemas.microsoft.com/office/drawing/2014/main" id="{CC78AB59-3D1D-C94C-4DAD-F554944A9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" y="2599"/>
              <a:ext cx="2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0" name="Line 18">
              <a:extLst>
                <a:ext uri="{FF2B5EF4-FFF2-40B4-BE49-F238E27FC236}">
                  <a16:creationId xmlns:a16="http://schemas.microsoft.com/office/drawing/2014/main" id="{56CAB66B-48E6-7AFC-8614-63ED76F16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47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1" name="Line 19">
              <a:extLst>
                <a:ext uri="{FF2B5EF4-FFF2-40B4-BE49-F238E27FC236}">
                  <a16:creationId xmlns:a16="http://schemas.microsoft.com/office/drawing/2014/main" id="{31019E63-A4FE-B0FB-6A19-A89CCE23D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2478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2" name="Line 20">
              <a:extLst>
                <a:ext uri="{FF2B5EF4-FFF2-40B4-BE49-F238E27FC236}">
                  <a16:creationId xmlns:a16="http://schemas.microsoft.com/office/drawing/2014/main" id="{19C0E724-3897-52D6-0959-04912A1DB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3" name="Line 21">
              <a:extLst>
                <a:ext uri="{FF2B5EF4-FFF2-40B4-BE49-F238E27FC236}">
                  <a16:creationId xmlns:a16="http://schemas.microsoft.com/office/drawing/2014/main" id="{888697C2-2666-E15F-EC6E-11ECD6FC5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2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4" name="Line 22">
              <a:extLst>
                <a:ext uri="{FF2B5EF4-FFF2-40B4-BE49-F238E27FC236}">
                  <a16:creationId xmlns:a16="http://schemas.microsoft.com/office/drawing/2014/main" id="{0B3F9E77-8AFA-2D4C-2CF8-202793818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5" name="Line 23">
              <a:extLst>
                <a:ext uri="{FF2B5EF4-FFF2-40B4-BE49-F238E27FC236}">
                  <a16:creationId xmlns:a16="http://schemas.microsoft.com/office/drawing/2014/main" id="{0DA4601C-C29D-6297-6C17-1A28804CE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6" name="Line 24">
              <a:extLst>
                <a:ext uri="{FF2B5EF4-FFF2-40B4-BE49-F238E27FC236}">
                  <a16:creationId xmlns:a16="http://schemas.microsoft.com/office/drawing/2014/main" id="{F20F707A-D3D9-D293-0843-2CEEE9687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7" name="Line 25">
              <a:extLst>
                <a:ext uri="{FF2B5EF4-FFF2-40B4-BE49-F238E27FC236}">
                  <a16:creationId xmlns:a16="http://schemas.microsoft.com/office/drawing/2014/main" id="{4A3B3D3F-1A48-C16A-FAE1-52B7604C9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4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8" name="Line 26">
              <a:extLst>
                <a:ext uri="{FF2B5EF4-FFF2-40B4-BE49-F238E27FC236}">
                  <a16:creationId xmlns:a16="http://schemas.microsoft.com/office/drawing/2014/main" id="{42091E28-38EC-9A5F-7394-C55A907C2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" y="2703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79" name="Line 27">
              <a:extLst>
                <a:ext uri="{FF2B5EF4-FFF2-40B4-BE49-F238E27FC236}">
                  <a16:creationId xmlns:a16="http://schemas.microsoft.com/office/drawing/2014/main" id="{DEF670A1-3C10-F562-F9DB-5AE31BE24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2599"/>
              <a:ext cx="0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580" name="Freeform 28">
              <a:extLst>
                <a:ext uri="{FF2B5EF4-FFF2-40B4-BE49-F238E27FC236}">
                  <a16:creationId xmlns:a16="http://schemas.microsoft.com/office/drawing/2014/main" id="{0371BE49-C3EA-9552-11FF-5355E0C25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2695"/>
              <a:ext cx="601" cy="169"/>
            </a:xfrm>
            <a:custGeom>
              <a:avLst/>
              <a:gdLst>
                <a:gd name="T0" fmla="*/ 600 w 601"/>
                <a:gd name="T1" fmla="*/ 0 h 169"/>
                <a:gd name="T2" fmla="*/ 0 w 601"/>
                <a:gd name="T3" fmla="*/ 0 h 169"/>
                <a:gd name="T4" fmla="*/ 0 w 601"/>
                <a:gd name="T5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1" h="169">
                  <a:moveTo>
                    <a:pt x="600" y="0"/>
                  </a:moveTo>
                  <a:lnTo>
                    <a:pt x="0" y="0"/>
                  </a:lnTo>
                  <a:lnTo>
                    <a:pt x="0" y="16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81" name="Freeform 29">
              <a:extLst>
                <a:ext uri="{FF2B5EF4-FFF2-40B4-BE49-F238E27FC236}">
                  <a16:creationId xmlns:a16="http://schemas.microsoft.com/office/drawing/2014/main" id="{531B98CF-4C53-3D93-82E6-EEF2EE550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599"/>
              <a:ext cx="633" cy="273"/>
            </a:xfrm>
            <a:custGeom>
              <a:avLst/>
              <a:gdLst>
                <a:gd name="T0" fmla="*/ 632 w 633"/>
                <a:gd name="T1" fmla="*/ 0 h 273"/>
                <a:gd name="T2" fmla="*/ 0 w 633"/>
                <a:gd name="T3" fmla="*/ 0 h 273"/>
                <a:gd name="T4" fmla="*/ 0 w 633"/>
                <a:gd name="T5" fmla="*/ 272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3" h="273">
                  <a:moveTo>
                    <a:pt x="632" y="0"/>
                  </a:moveTo>
                  <a:lnTo>
                    <a:pt x="0" y="0"/>
                  </a:lnTo>
                  <a:lnTo>
                    <a:pt x="0" y="27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82" name="Rectangle 30">
              <a:extLst>
                <a:ext uri="{FF2B5EF4-FFF2-40B4-BE49-F238E27FC236}">
                  <a16:creationId xmlns:a16="http://schemas.microsoft.com/office/drawing/2014/main" id="{49E77BCF-8BDE-D17E-3DEB-68387CFF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" y="2889"/>
              <a:ext cx="45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Load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 Unit</a:t>
              </a:r>
            </a:p>
          </p:txBody>
        </p:sp>
        <p:sp>
          <p:nvSpPr>
            <p:cNvPr id="2071583" name="Rectangle 31">
              <a:extLst>
                <a:ext uri="{FF2B5EF4-FFF2-40B4-BE49-F238E27FC236}">
                  <a16:creationId xmlns:a16="http://schemas.microsoft.com/office/drawing/2014/main" id="{9229E84F-D41B-886F-3C8D-D1F25903C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" y="2969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1584" name="Rectangle 32">
              <a:extLst>
                <a:ext uri="{FF2B5EF4-FFF2-40B4-BE49-F238E27FC236}">
                  <a16:creationId xmlns:a16="http://schemas.microsoft.com/office/drawing/2014/main" id="{850C7230-A612-1A2C-AFD8-C9B75D0AC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" y="2969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1585" name="Rectangle 33">
              <a:extLst>
                <a:ext uri="{FF2B5EF4-FFF2-40B4-BE49-F238E27FC236}">
                  <a16:creationId xmlns:a16="http://schemas.microsoft.com/office/drawing/2014/main" id="{63BF0DB4-BCDB-568C-598A-D8912640F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977"/>
              <a:ext cx="3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FU</a:t>
              </a:r>
            </a:p>
          </p:txBody>
        </p:sp>
        <p:sp>
          <p:nvSpPr>
            <p:cNvPr id="2071586" name="Rectangle 34">
              <a:extLst>
                <a:ext uri="{FF2B5EF4-FFF2-40B4-BE49-F238E27FC236}">
                  <a16:creationId xmlns:a16="http://schemas.microsoft.com/office/drawing/2014/main" id="{FD4E84DB-027B-A3FF-FB99-43736AD45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2897"/>
              <a:ext cx="503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Store</a:t>
              </a:r>
            </a:p>
            <a:p>
              <a:pPr algn="l" eaLnBrk="0" hangingPunct="0"/>
              <a:r>
                <a:rPr lang="en-US" altLang="en-US" sz="1800">
                  <a:latin typeface="Verdana" panose="020B0604030504040204" pitchFamily="34" charset="0"/>
                </a:rPr>
                <a:t> Unit</a:t>
              </a:r>
            </a:p>
          </p:txBody>
        </p:sp>
        <p:sp>
          <p:nvSpPr>
            <p:cNvPr id="2071587" name="Rectangle 35">
              <a:extLst>
                <a:ext uri="{FF2B5EF4-FFF2-40B4-BE49-F238E27FC236}">
                  <a16:creationId xmlns:a16="http://schemas.microsoft.com/office/drawing/2014/main" id="{73E826EF-13EF-1515-3D33-1A4748CDC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3310"/>
              <a:ext cx="1119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>
                  <a:latin typeface="Verdana" panose="020B0604030504040204" pitchFamily="34" charset="0"/>
                </a:rPr>
                <a:t>&lt; t, result &gt;</a:t>
              </a:r>
            </a:p>
          </p:txBody>
        </p:sp>
        <p:sp>
          <p:nvSpPr>
            <p:cNvPr id="2071588" name="Rectangle 36">
              <a:extLst>
                <a:ext uri="{FF2B5EF4-FFF2-40B4-BE49-F238E27FC236}">
                  <a16:creationId xmlns:a16="http://schemas.microsoft.com/office/drawing/2014/main" id="{935831F7-2D0E-4809-D15C-B28FE7F55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2" y="1584"/>
              <a:ext cx="232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1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2</a:t>
              </a:r>
              <a:endParaRPr lang="en-US" altLang="en-US" sz="1800" i="1">
                <a:latin typeface="Verdana" panose="020B0604030504040204" pitchFamily="34" charset="0"/>
              </a:endParaRP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.</a:t>
              </a:r>
            </a:p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t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n</a:t>
              </a:r>
            </a:p>
          </p:txBody>
        </p:sp>
        <p:grpSp>
          <p:nvGrpSpPr>
            <p:cNvPr id="2071589" name="Group 37">
              <a:extLst>
                <a:ext uri="{FF2B5EF4-FFF2-40B4-BE49-F238E27FC236}">
                  <a16:creationId xmlns:a16="http://schemas.microsoft.com/office/drawing/2014/main" id="{EBE69CEE-7039-47F1-6414-7F9D65139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584"/>
              <a:ext cx="4243" cy="902"/>
              <a:chOff x="1324" y="924"/>
              <a:chExt cx="4243" cy="902"/>
            </a:xfrm>
          </p:grpSpPr>
          <p:grpSp>
            <p:nvGrpSpPr>
              <p:cNvPr id="2071590" name="Group 38">
                <a:extLst>
                  <a:ext uri="{FF2B5EF4-FFF2-40B4-BE49-F238E27FC236}">
                    <a16:creationId xmlns:a16="http://schemas.microsoft.com/office/drawing/2014/main" id="{261E5F8F-84E5-30FB-01A4-F205D8C9E4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2" y="959"/>
                <a:ext cx="3798" cy="856"/>
                <a:chOff x="1762" y="959"/>
                <a:chExt cx="3798" cy="1726"/>
              </a:xfrm>
            </p:grpSpPr>
            <p:sp>
              <p:nvSpPr>
                <p:cNvPr id="2071591" name="Rectangle 39">
                  <a:extLst>
                    <a:ext uri="{FF2B5EF4-FFF2-40B4-BE49-F238E27FC236}">
                      <a16:creationId xmlns:a16="http://schemas.microsoft.com/office/drawing/2014/main" id="{A38DDD9A-E543-3251-6C90-A019F0FA1E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984"/>
                  <a:ext cx="1192" cy="1696"/>
                </a:xfrm>
                <a:prstGeom prst="rect">
                  <a:avLst/>
                </a:prstGeom>
                <a:pattFill prst="wdDnDiag">
                  <a:fgClr>
                    <a:schemeClr val="bg2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2" name="Line 40">
                  <a:extLst>
                    <a:ext uri="{FF2B5EF4-FFF2-40B4-BE49-F238E27FC236}">
                      <a16:creationId xmlns:a16="http://schemas.microsoft.com/office/drawing/2014/main" id="{9655D62C-6206-0C06-3881-A29ABC005B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2" y="981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3" name="Line 41">
                  <a:extLst>
                    <a:ext uri="{FF2B5EF4-FFF2-40B4-BE49-F238E27FC236}">
                      <a16:creationId xmlns:a16="http://schemas.microsoft.com/office/drawing/2014/main" id="{3B88A904-D768-3A14-B587-163E75685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0" y="975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4" name="Line 42">
                  <a:extLst>
                    <a:ext uri="{FF2B5EF4-FFF2-40B4-BE49-F238E27FC236}">
                      <a16:creationId xmlns:a16="http://schemas.microsoft.com/office/drawing/2014/main" id="{051500EF-06F3-5A71-31D4-E5D7FE8A35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5" name="Line 43">
                  <a:extLst>
                    <a:ext uri="{FF2B5EF4-FFF2-40B4-BE49-F238E27FC236}">
                      <a16:creationId xmlns:a16="http://schemas.microsoft.com/office/drawing/2014/main" id="{9F0A6B8C-5B7C-2F27-AFC8-BC246ACDDA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6" y="964"/>
                  <a:ext cx="0" cy="171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6" name="Line 44">
                  <a:extLst>
                    <a:ext uri="{FF2B5EF4-FFF2-40B4-BE49-F238E27FC236}">
                      <a16:creationId xmlns:a16="http://schemas.microsoft.com/office/drawing/2014/main" id="{E65431F6-3FDC-EA84-3A7A-E87327534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58" y="965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7" name="Line 45">
                  <a:extLst>
                    <a:ext uri="{FF2B5EF4-FFF2-40B4-BE49-F238E27FC236}">
                      <a16:creationId xmlns:a16="http://schemas.microsoft.com/office/drawing/2014/main" id="{1275FD66-BC83-AEE6-18F7-10BE17EBA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9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8" name="Line 46">
                  <a:extLst>
                    <a:ext uri="{FF2B5EF4-FFF2-40B4-BE49-F238E27FC236}">
                      <a16:creationId xmlns:a16="http://schemas.microsoft.com/office/drawing/2014/main" id="{B73F5A9B-B31E-595E-324A-6A70CA314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2" y="968"/>
                  <a:ext cx="0" cy="17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599" name="Line 47">
                  <a:extLst>
                    <a:ext uri="{FF2B5EF4-FFF2-40B4-BE49-F238E27FC236}">
                      <a16:creationId xmlns:a16="http://schemas.microsoft.com/office/drawing/2014/main" id="{BCB2F753-7AE8-1FF4-28A5-E4BF27D414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2" y="965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1600" name="Line 48">
                  <a:extLst>
                    <a:ext uri="{FF2B5EF4-FFF2-40B4-BE49-F238E27FC236}">
                      <a16:creationId xmlns:a16="http://schemas.microsoft.com/office/drawing/2014/main" id="{D4817EF0-0369-B502-962A-9F1E89E1ED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8" y="959"/>
                  <a:ext cx="0" cy="17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071601" name="Rectangle 49">
                <a:extLst>
                  <a:ext uri="{FF2B5EF4-FFF2-40B4-BE49-F238E27FC236}">
                    <a16:creationId xmlns:a16="http://schemas.microsoft.com/office/drawing/2014/main" id="{7E294457-A4DF-A37D-8F49-B07A707E9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4" y="924"/>
                <a:ext cx="411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l" eaLnBrk="0" hangingPunct="0"/>
                <a:r>
                  <a:rPr lang="en-US" altLang="en-US" sz="1600">
                    <a:latin typeface="Verdana" panose="020B0604030504040204" pitchFamily="34" charset="0"/>
                  </a:rPr>
                  <a:t>Ins#  use  exec   op   p1    src1   p2    src2    pd  dest     data</a:t>
                </a:r>
              </a:p>
            </p:txBody>
          </p:sp>
          <p:sp>
            <p:nvSpPr>
              <p:cNvPr id="2071602" name="Rectangle 50">
                <a:extLst>
                  <a:ext uri="{FF2B5EF4-FFF2-40B4-BE49-F238E27FC236}">
                    <a16:creationId xmlns:a16="http://schemas.microsoft.com/office/drawing/2014/main" id="{B9750F50-B806-D172-0DD0-05CE8CBD1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4" y="966"/>
                <a:ext cx="4210" cy="8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03" name="Line 51">
                <a:extLst>
                  <a:ext uri="{FF2B5EF4-FFF2-40B4-BE49-F238E27FC236}">
                    <a16:creationId xmlns:a16="http://schemas.microsoft.com/office/drawing/2014/main" id="{BC85C9AA-4FEE-5580-F2DA-689FF9F6A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118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04" name="Line 52">
                <a:extLst>
                  <a:ext uri="{FF2B5EF4-FFF2-40B4-BE49-F238E27FC236}">
                    <a16:creationId xmlns:a16="http://schemas.microsoft.com/office/drawing/2014/main" id="{98037CF8-9862-C615-919E-4ECE4DDD6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294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05" name="Line 53">
                <a:extLst>
                  <a:ext uri="{FF2B5EF4-FFF2-40B4-BE49-F238E27FC236}">
                    <a16:creationId xmlns:a16="http://schemas.microsoft.com/office/drawing/2014/main" id="{995944F7-D4F4-F716-FDCA-C4DC85510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3" y="1462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06" name="Line 54">
                <a:extLst>
                  <a:ext uri="{FF2B5EF4-FFF2-40B4-BE49-F238E27FC236}">
                    <a16:creationId xmlns:a16="http://schemas.microsoft.com/office/drawing/2014/main" id="{BBBB610C-07F1-DE6D-C44E-8D9824A42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1622"/>
                <a:ext cx="4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07" name="Line 55">
                <a:extLst>
                  <a:ext uri="{FF2B5EF4-FFF2-40B4-BE49-F238E27FC236}">
                    <a16:creationId xmlns:a16="http://schemas.microsoft.com/office/drawing/2014/main" id="{F067770B-51E2-A54B-F768-7F7E0F849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7" y="968"/>
                <a:ext cx="0" cy="8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71608" name="Freeform 56">
              <a:extLst>
                <a:ext uri="{FF2B5EF4-FFF2-40B4-BE49-F238E27FC236}">
                  <a16:creationId xmlns:a16="http://schemas.microsoft.com/office/drawing/2014/main" id="{5F6FCA68-55B8-CF85-1A2F-71ED66A71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1410"/>
              <a:ext cx="4560" cy="2112"/>
            </a:xfrm>
            <a:custGeom>
              <a:avLst/>
              <a:gdLst>
                <a:gd name="T0" fmla="*/ 0 w 4560"/>
                <a:gd name="T1" fmla="*/ 2112 h 2112"/>
                <a:gd name="T2" fmla="*/ 4560 w 4560"/>
                <a:gd name="T3" fmla="*/ 2112 h 2112"/>
                <a:gd name="T4" fmla="*/ 4560 w 4560"/>
                <a:gd name="T5" fmla="*/ 0 h 2112"/>
                <a:gd name="T6" fmla="*/ 1824 w 4560"/>
                <a:gd name="T7" fmla="*/ 0 h 2112"/>
                <a:gd name="T8" fmla="*/ 1816 w 4560"/>
                <a:gd name="T9" fmla="*/ 223 h 2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0" h="2112">
                  <a:moveTo>
                    <a:pt x="0" y="2112"/>
                  </a:moveTo>
                  <a:lnTo>
                    <a:pt x="4560" y="2112"/>
                  </a:lnTo>
                  <a:lnTo>
                    <a:pt x="4560" y="0"/>
                  </a:lnTo>
                  <a:lnTo>
                    <a:pt x="1824" y="0"/>
                  </a:lnTo>
                  <a:lnTo>
                    <a:pt x="1816" y="223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09" name="Freeform 57">
              <a:extLst>
                <a:ext uri="{FF2B5EF4-FFF2-40B4-BE49-F238E27FC236}">
                  <a16:creationId xmlns:a16="http://schemas.microsoft.com/office/drawing/2014/main" id="{D95F18E5-AECF-1741-3E0A-6E4A9374F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406"/>
              <a:ext cx="5" cy="196"/>
            </a:xfrm>
            <a:custGeom>
              <a:avLst/>
              <a:gdLst>
                <a:gd name="T0" fmla="*/ 0 w 5"/>
                <a:gd name="T1" fmla="*/ 0 h 196"/>
                <a:gd name="T2" fmla="*/ 5 w 5"/>
                <a:gd name="T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96">
                  <a:moveTo>
                    <a:pt x="0" y="0"/>
                  </a:moveTo>
                  <a:lnTo>
                    <a:pt x="5" y="196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10" name="Line 58">
              <a:extLst>
                <a:ext uri="{FF2B5EF4-FFF2-40B4-BE49-F238E27FC236}">
                  <a16:creationId xmlns:a16="http://schemas.microsoft.com/office/drawing/2014/main" id="{9F9B31AD-B489-114D-7EC9-016FE00A9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141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11" name="Rectangle 59">
              <a:extLst>
                <a:ext uri="{FF2B5EF4-FFF2-40B4-BE49-F238E27FC236}">
                  <a16:creationId xmlns:a16="http://schemas.microsoft.com/office/drawing/2014/main" id="{F89E38EA-E36F-D904-FB77-E276FB01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2754"/>
              <a:ext cx="624" cy="44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n-US" sz="1800">
                  <a:latin typeface="Verdana" panose="020B0604030504040204" pitchFamily="34" charset="0"/>
                </a:rPr>
                <a:t>Commit</a:t>
              </a:r>
            </a:p>
          </p:txBody>
        </p:sp>
        <p:sp>
          <p:nvSpPr>
            <p:cNvPr id="2071612" name="Line 60">
              <a:extLst>
                <a:ext uri="{FF2B5EF4-FFF2-40B4-BE49-F238E27FC236}">
                  <a16:creationId xmlns:a16="http://schemas.microsoft.com/office/drawing/2014/main" id="{B3B2BB13-7D19-D8FE-69CE-318EDD56E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" y="246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71613" name="Group 61">
            <a:extLst>
              <a:ext uri="{FF2B5EF4-FFF2-40B4-BE49-F238E27FC236}">
                <a16:creationId xmlns:a16="http://schemas.microsoft.com/office/drawing/2014/main" id="{52388591-F7E6-45B7-F217-8C42A3CEB380}"/>
              </a:ext>
            </a:extLst>
          </p:cNvPr>
          <p:cNvGrpSpPr>
            <a:grpSpLocks/>
          </p:cNvGrpSpPr>
          <p:nvPr/>
        </p:nvGrpSpPr>
        <p:grpSpPr bwMode="auto">
          <a:xfrm>
            <a:off x="6616700" y="1285875"/>
            <a:ext cx="1098550" cy="896938"/>
            <a:chOff x="4272" y="674"/>
            <a:chExt cx="692" cy="613"/>
          </a:xfrm>
        </p:grpSpPr>
        <p:sp>
          <p:nvSpPr>
            <p:cNvPr id="2071614" name="Rectangle 62">
              <a:extLst>
                <a:ext uri="{FF2B5EF4-FFF2-40B4-BE49-F238E27FC236}">
                  <a16:creationId xmlns:a16="http://schemas.microsoft.com/office/drawing/2014/main" id="{B7B10D41-6041-F1E0-7BBA-D3CCDF84D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674"/>
              <a:ext cx="688" cy="6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71615" name="Group 63">
              <a:extLst>
                <a:ext uri="{FF2B5EF4-FFF2-40B4-BE49-F238E27FC236}">
                  <a16:creationId xmlns:a16="http://schemas.microsoft.com/office/drawing/2014/main" id="{1DCA2C16-8713-EA69-CAA9-4CA4F8926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843"/>
              <a:ext cx="692" cy="295"/>
              <a:chOff x="4272" y="843"/>
              <a:chExt cx="756" cy="295"/>
            </a:xfrm>
          </p:grpSpPr>
          <p:sp>
            <p:nvSpPr>
              <p:cNvPr id="2071616" name="Line 64">
                <a:extLst>
                  <a:ext uri="{FF2B5EF4-FFF2-40B4-BE49-F238E27FC236}">
                    <a16:creationId xmlns:a16="http://schemas.microsoft.com/office/drawing/2014/main" id="{68A748B1-1567-60E8-CAB3-DE86214C7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0" y="843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17" name="Line 65">
                <a:extLst>
                  <a:ext uri="{FF2B5EF4-FFF2-40B4-BE49-F238E27FC236}">
                    <a16:creationId xmlns:a16="http://schemas.microsoft.com/office/drawing/2014/main" id="{EF01BED6-1E18-9AE8-DB10-A391B1D41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0" y="113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18" name="Line 66">
                <a:extLst>
                  <a:ext uri="{FF2B5EF4-FFF2-40B4-BE49-F238E27FC236}">
                    <a16:creationId xmlns:a16="http://schemas.microsoft.com/office/drawing/2014/main" id="{346F0EE6-7A3F-DA5F-A4F9-6BF887B29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97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71619" name="Rectangle 67">
            <a:extLst>
              <a:ext uri="{FF2B5EF4-FFF2-40B4-BE49-F238E27FC236}">
                <a16:creationId xmlns:a16="http://schemas.microsoft.com/office/drawing/2014/main" id="{05647209-AC83-5C0E-6753-D1ED9973F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387475"/>
            <a:ext cx="13081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Rename </a:t>
            </a:r>
          </a:p>
          <a:p>
            <a:pPr algn="l" eaLnBrk="0" hangingPunct="0"/>
            <a:r>
              <a:rPr lang="en-US" altLang="en-US" i="1">
                <a:solidFill>
                  <a:srgbClr val="56127A"/>
                </a:solidFill>
                <a:latin typeface="Verdana" panose="020B0604030504040204" pitchFamily="34" charset="0"/>
              </a:rPr>
              <a:t>Table</a:t>
            </a:r>
          </a:p>
        </p:txBody>
      </p:sp>
      <p:sp>
        <p:nvSpPr>
          <p:cNvPr id="2071620" name="Rectangle 68">
            <a:extLst>
              <a:ext uri="{FF2B5EF4-FFF2-40B4-BE49-F238E27FC236}">
                <a16:creationId xmlns:a16="http://schemas.microsoft.com/office/drawing/2014/main" id="{28A24BF9-C484-EE04-A960-BB1FEF03D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5588000"/>
            <a:ext cx="8372475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Renaming table is a cache to speed up register name look up. It needs to be cleared after each exception taken. </a:t>
            </a:r>
          </a:p>
          <a:p>
            <a:pPr algn="l" eaLnBrk="0" hangingPunct="0"/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When else are valid bits cleared? </a:t>
            </a:r>
          </a:p>
        </p:txBody>
      </p:sp>
      <p:sp>
        <p:nvSpPr>
          <p:cNvPr id="2071621" name="Text Box 69">
            <a:extLst>
              <a:ext uri="{FF2B5EF4-FFF2-40B4-BE49-F238E27FC236}">
                <a16:creationId xmlns:a16="http://schemas.microsoft.com/office/drawing/2014/main" id="{BC4C2690-3170-3D3E-0153-43352441F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213" y="6197600"/>
            <a:ext cx="2328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>
                <a:solidFill>
                  <a:srgbClr val="FF0000"/>
                </a:solidFill>
                <a:latin typeface="Verdana" panose="020B0604030504040204" pitchFamily="34" charset="0"/>
              </a:rPr>
              <a:t>Control transfers</a:t>
            </a:r>
          </a:p>
        </p:txBody>
      </p:sp>
      <p:grpSp>
        <p:nvGrpSpPr>
          <p:cNvPr id="2071622" name="Group 70">
            <a:extLst>
              <a:ext uri="{FF2B5EF4-FFF2-40B4-BE49-F238E27FC236}">
                <a16:creationId xmlns:a16="http://schemas.microsoft.com/office/drawing/2014/main" id="{92814CFE-5435-811F-0133-E87DE9185BCD}"/>
              </a:ext>
            </a:extLst>
          </p:cNvPr>
          <p:cNvGrpSpPr>
            <a:grpSpLocks/>
          </p:cNvGrpSpPr>
          <p:nvPr/>
        </p:nvGrpSpPr>
        <p:grpSpPr bwMode="auto">
          <a:xfrm>
            <a:off x="1552575" y="1257300"/>
            <a:ext cx="2876550" cy="1196975"/>
            <a:chOff x="1098" y="648"/>
            <a:chExt cx="1812" cy="754"/>
          </a:xfrm>
        </p:grpSpPr>
        <p:sp>
          <p:nvSpPr>
            <p:cNvPr id="2071623" name="Rectangle 71">
              <a:extLst>
                <a:ext uri="{FF2B5EF4-FFF2-40B4-BE49-F238E27FC236}">
                  <a16:creationId xmlns:a16="http://schemas.microsoft.com/office/drawing/2014/main" id="{C3A576BA-E0A9-4B9E-1B83-FE82DBA0B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666"/>
              <a:ext cx="24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r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1 </a:t>
              </a:r>
            </a:p>
          </p:txBody>
        </p:sp>
        <p:grpSp>
          <p:nvGrpSpPr>
            <p:cNvPr id="2071624" name="Group 72">
              <a:extLst>
                <a:ext uri="{FF2B5EF4-FFF2-40B4-BE49-F238E27FC236}">
                  <a16:creationId xmlns:a16="http://schemas.microsoft.com/office/drawing/2014/main" id="{BBE0F652-5F49-722B-EACD-730C0A043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8" y="690"/>
              <a:ext cx="624" cy="712"/>
              <a:chOff x="1338" y="714"/>
              <a:chExt cx="624" cy="720"/>
            </a:xfrm>
          </p:grpSpPr>
          <p:sp>
            <p:nvSpPr>
              <p:cNvPr id="2071625" name="Rectangle 73">
                <a:extLst>
                  <a:ext uri="{FF2B5EF4-FFF2-40B4-BE49-F238E27FC236}">
                    <a16:creationId xmlns:a16="http://schemas.microsoft.com/office/drawing/2014/main" id="{4FABAD06-C5A3-93AC-5D1B-E916188FE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762"/>
                <a:ext cx="432" cy="67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26" name="Rectangle 74">
                <a:extLst>
                  <a:ext uri="{FF2B5EF4-FFF2-40B4-BE49-F238E27FC236}">
                    <a16:creationId xmlns:a16="http://schemas.microsoft.com/office/drawing/2014/main" id="{DB827CA0-59A6-3471-1D45-125D38153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714"/>
                <a:ext cx="432" cy="19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800" i="1">
                    <a:latin typeface="Verdana" panose="020B0604030504040204" pitchFamily="34" charset="0"/>
                  </a:rPr>
                  <a:t>t</a:t>
                </a:r>
                <a:endParaRPr lang="en-US" altLang="en-US" sz="1800" i="1" baseline="-25000">
                  <a:latin typeface="Verdana" panose="020B0604030504040204" pitchFamily="34" charset="0"/>
                </a:endParaRPr>
              </a:p>
            </p:txBody>
          </p:sp>
          <p:sp>
            <p:nvSpPr>
              <p:cNvPr id="2071627" name="Rectangle 75">
                <a:extLst>
                  <a:ext uri="{FF2B5EF4-FFF2-40B4-BE49-F238E27FC236}">
                    <a16:creationId xmlns:a16="http://schemas.microsoft.com/office/drawing/2014/main" id="{F345B31D-27D6-5E7B-725F-A44B93106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906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28" name="Rectangle 76">
                <a:extLst>
                  <a:ext uri="{FF2B5EF4-FFF2-40B4-BE49-F238E27FC236}">
                    <a16:creationId xmlns:a16="http://schemas.microsoft.com/office/drawing/2014/main" id="{15084987-A4B3-372D-4D04-FA4B409EB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1290"/>
                <a:ext cx="432" cy="14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29" name="Rectangle 77">
                <a:extLst>
                  <a:ext uri="{FF2B5EF4-FFF2-40B4-BE49-F238E27FC236}">
                    <a16:creationId xmlns:a16="http://schemas.microsoft.com/office/drawing/2014/main" id="{D3D722EA-AEF9-517C-B9AB-6A0EB2ACA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0" y="714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en-US" altLang="en-US" sz="1800" i="1">
                    <a:latin typeface="Verdana" panose="020B0604030504040204" pitchFamily="34" charset="0"/>
                  </a:rPr>
                  <a:t>v</a:t>
                </a:r>
                <a:endParaRPr lang="en-US" altLang="en-US" i="1" baseline="-25000">
                  <a:latin typeface="Verdana" panose="020B0604030504040204" pitchFamily="34" charset="0"/>
                </a:endParaRPr>
              </a:p>
            </p:txBody>
          </p:sp>
          <p:sp>
            <p:nvSpPr>
              <p:cNvPr id="2071630" name="Rectangle 78">
                <a:extLst>
                  <a:ext uri="{FF2B5EF4-FFF2-40B4-BE49-F238E27FC236}">
                    <a16:creationId xmlns:a16="http://schemas.microsoft.com/office/drawing/2014/main" id="{108F97A3-8DBF-0BE3-85CD-232307764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0" y="906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31" name="Rectangle 79">
                <a:extLst>
                  <a:ext uri="{FF2B5EF4-FFF2-40B4-BE49-F238E27FC236}">
                    <a16:creationId xmlns:a16="http://schemas.microsoft.com/office/drawing/2014/main" id="{7DA96D89-D188-D7A1-4249-BFDFA52BD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0" y="1050"/>
                <a:ext cx="192" cy="24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1632" name="Rectangle 80">
                <a:extLst>
                  <a:ext uri="{FF2B5EF4-FFF2-40B4-BE49-F238E27FC236}">
                    <a16:creationId xmlns:a16="http://schemas.microsoft.com/office/drawing/2014/main" id="{A1E9D371-8B02-2D8E-8DC2-11A7FCB24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0" y="1290"/>
                <a:ext cx="192" cy="14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71633" name="Rectangle 81">
              <a:extLst>
                <a:ext uri="{FF2B5EF4-FFF2-40B4-BE49-F238E27FC236}">
                  <a16:creationId xmlns:a16="http://schemas.microsoft.com/office/drawing/2014/main" id="{BD3BCBF9-6D49-AC5D-BAE6-97435162A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858"/>
              <a:ext cx="24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1800" i="1">
                  <a:latin typeface="Verdana" panose="020B0604030504040204" pitchFamily="34" charset="0"/>
                </a:rPr>
                <a:t>r</a:t>
              </a:r>
              <a:r>
                <a:rPr lang="en-US" altLang="en-US" sz="1800" i="1" baseline="-25000">
                  <a:latin typeface="Verdana" panose="020B0604030504040204" pitchFamily="34" charset="0"/>
                </a:rPr>
                <a:t>2 </a:t>
              </a:r>
            </a:p>
          </p:txBody>
        </p:sp>
        <p:sp>
          <p:nvSpPr>
            <p:cNvPr id="2071634" name="Text Box 82">
              <a:extLst>
                <a:ext uri="{FF2B5EF4-FFF2-40B4-BE49-F238E27FC236}">
                  <a16:creationId xmlns:a16="http://schemas.microsoft.com/office/drawing/2014/main" id="{CE1BB21D-163B-ECBE-A40E-036C238F4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648"/>
              <a:ext cx="75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en-US" i="1">
                  <a:latin typeface="Verdana" panose="020B0604030504040204" pitchFamily="34" charset="0"/>
                </a:rPr>
                <a:t>tag</a:t>
              </a:r>
            </a:p>
            <a:p>
              <a:pPr algn="l" eaLnBrk="0" hangingPunct="0"/>
              <a:r>
                <a:rPr lang="en-US" altLang="en-US" i="1">
                  <a:latin typeface="Verdana" panose="020B0604030504040204" pitchFamily="34" charset="0"/>
                </a:rPr>
                <a:t>valid bit</a:t>
              </a:r>
            </a:p>
          </p:txBody>
        </p:sp>
        <p:sp>
          <p:nvSpPr>
            <p:cNvPr id="2071635" name="Freeform 83">
              <a:extLst>
                <a:ext uri="{FF2B5EF4-FFF2-40B4-BE49-F238E27FC236}">
                  <a16:creationId xmlns:a16="http://schemas.microsoft.com/office/drawing/2014/main" id="{9C8D9F75-9961-7BE4-0B68-75CE619D6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648"/>
              <a:ext cx="528" cy="96"/>
            </a:xfrm>
            <a:custGeom>
              <a:avLst/>
              <a:gdLst>
                <a:gd name="T0" fmla="*/ 0 w 528"/>
                <a:gd name="T1" fmla="*/ 96 h 96"/>
                <a:gd name="T2" fmla="*/ 288 w 528"/>
                <a:gd name="T3" fmla="*/ 0 h 96"/>
                <a:gd name="T4" fmla="*/ 528 w 528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96">
                  <a:moveTo>
                    <a:pt x="0" y="96"/>
                  </a:moveTo>
                  <a:cubicBezTo>
                    <a:pt x="100" y="48"/>
                    <a:pt x="200" y="0"/>
                    <a:pt x="288" y="0"/>
                  </a:cubicBezTo>
                  <a:cubicBezTo>
                    <a:pt x="376" y="0"/>
                    <a:pt x="488" y="80"/>
                    <a:pt x="528" y="96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36" name="Line 84">
              <a:extLst>
                <a:ext uri="{FF2B5EF4-FFF2-40B4-BE49-F238E27FC236}">
                  <a16:creationId xmlns:a16="http://schemas.microsoft.com/office/drawing/2014/main" id="{D0B3DFD1-BF9C-0DE8-5DD3-1EE50EDFC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2" y="840"/>
              <a:ext cx="240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71637" name="Freeform 85">
            <a:extLst>
              <a:ext uri="{FF2B5EF4-FFF2-40B4-BE49-F238E27FC236}">
                <a16:creationId xmlns:a16="http://schemas.microsoft.com/office/drawing/2014/main" id="{73E3BE23-C9C1-7F83-F6CE-3FC73626CD8C}"/>
              </a:ext>
            </a:extLst>
          </p:cNvPr>
          <p:cNvSpPr>
            <a:spLocks/>
          </p:cNvSpPr>
          <p:nvPr/>
        </p:nvSpPr>
        <p:spPr bwMode="auto">
          <a:xfrm>
            <a:off x="7721600" y="1638300"/>
            <a:ext cx="927100" cy="3644900"/>
          </a:xfrm>
          <a:custGeom>
            <a:avLst/>
            <a:gdLst>
              <a:gd name="T0" fmla="*/ 0 w 584"/>
              <a:gd name="T1" fmla="*/ 2168 h 2296"/>
              <a:gd name="T2" fmla="*/ 0 w 584"/>
              <a:gd name="T3" fmla="*/ 2296 h 2296"/>
              <a:gd name="T4" fmla="*/ 584 w 584"/>
              <a:gd name="T5" fmla="*/ 2296 h 2296"/>
              <a:gd name="T6" fmla="*/ 584 w 584"/>
              <a:gd name="T7" fmla="*/ 0 h 2296"/>
              <a:gd name="T8" fmla="*/ 8 w 584"/>
              <a:gd name="T9" fmla="*/ 0 h 2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296">
                <a:moveTo>
                  <a:pt x="0" y="2168"/>
                </a:moveTo>
                <a:lnTo>
                  <a:pt x="0" y="2296"/>
                </a:lnTo>
                <a:lnTo>
                  <a:pt x="584" y="2296"/>
                </a:lnTo>
                <a:lnTo>
                  <a:pt x="584" y="0"/>
                </a:lnTo>
                <a:lnTo>
                  <a:pt x="8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1115DC-3C2B-09AE-B7B0-58ED9B76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5738D15-A8C7-4B39-A314-A255FC8F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986DE4-4DB0-21FE-E605-C5B0E4F2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45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621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A01E9F5A-D560-B4DE-73F0-01B98DD4E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dirty="0">
                <a:latin typeface="+mj-lt"/>
              </a:rPr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1C4D-FB94-F699-00AF-F435BCA8D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46</a:t>
            </a:fld>
            <a:endParaRPr lang="en-US" altLang="en-US"/>
          </a:p>
          <a:p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CAEFF-1086-04B3-8180-39DD997EE6A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16700"/>
            <a:ext cx="1828800" cy="304800"/>
          </a:xfrm>
        </p:spPr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1626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3234" name="Group 2">
            <a:extLst>
              <a:ext uri="{FF2B5EF4-FFF2-40B4-BE49-F238E27FC236}">
                <a16:creationId xmlns:a16="http://schemas.microsoft.com/office/drawing/2014/main" id="{2445BB54-553F-E582-2FF0-2F636A15A6F4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423988"/>
            <a:ext cx="7239000" cy="1193800"/>
            <a:chOff x="672" y="897"/>
            <a:chExt cx="4560" cy="752"/>
          </a:xfrm>
        </p:grpSpPr>
        <p:sp>
          <p:nvSpPr>
            <p:cNvPr id="2143235" name="Rectangle 3">
              <a:extLst>
                <a:ext uri="{FF2B5EF4-FFF2-40B4-BE49-F238E27FC236}">
                  <a16:creationId xmlns:a16="http://schemas.microsoft.com/office/drawing/2014/main" id="{2097EBC4-915C-D306-6FB8-3410CD9B8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897"/>
              <a:ext cx="4560" cy="75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en-US" i="1">
                <a:solidFill>
                  <a:srgbClr val="FFCC66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143236" name="Text Box 4">
              <a:extLst>
                <a:ext uri="{FF2B5EF4-FFF2-40B4-BE49-F238E27FC236}">
                  <a16:creationId xmlns:a16="http://schemas.microsoft.com/office/drawing/2014/main" id="{B34724E2-678D-4B24-F89E-7E6957F9B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034"/>
              <a:ext cx="29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i="1">
                  <a:solidFill>
                    <a:srgbClr val="FFCC66"/>
                  </a:solidFill>
                  <a:latin typeface="Verdana" panose="020B0604030504040204" pitchFamily="34" charset="0"/>
                </a:rPr>
                <a:t>Fetch: Instruction bits retrieved from cache.</a:t>
              </a:r>
            </a:p>
          </p:txBody>
        </p:sp>
      </p:grpSp>
      <p:sp>
        <p:nvSpPr>
          <p:cNvPr id="2143237" name="Rectangle 5">
            <a:extLst>
              <a:ext uri="{FF2B5EF4-FFF2-40B4-BE49-F238E27FC236}">
                <a16:creationId xmlns:a16="http://schemas.microsoft.com/office/drawing/2014/main" id="{93515DDB-DF06-F86E-B162-0EC4A3E55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292100"/>
            <a:ext cx="7759700" cy="889000"/>
          </a:xfrm>
        </p:spPr>
        <p:txBody>
          <a:bodyPr/>
          <a:lstStyle/>
          <a:p>
            <a:r>
              <a:rPr lang="en-US" altLang="en-US"/>
              <a:t>Phases of Instruction Execution</a:t>
            </a:r>
          </a:p>
        </p:txBody>
      </p:sp>
      <p:sp>
        <p:nvSpPr>
          <p:cNvPr id="2143238" name="Rectangle 6">
            <a:extLst>
              <a:ext uri="{FF2B5EF4-FFF2-40B4-BE49-F238E27FC236}">
                <a16:creationId xmlns:a16="http://schemas.microsoft.com/office/drawing/2014/main" id="{D91312EC-2A99-69B9-1124-BAB77CF14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429250"/>
            <a:ext cx="7239000" cy="912813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240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2143239" name="Rectangle 7">
            <a:extLst>
              <a:ext uri="{FF2B5EF4-FFF2-40B4-BE49-F238E27FC236}">
                <a16:creationId xmlns:a16="http://schemas.microsoft.com/office/drawing/2014/main" id="{8ACB44D2-0625-A904-C129-1AE7848C5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41738"/>
            <a:ext cx="7239000" cy="15462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240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2143240" name="Rectangle 8">
            <a:extLst>
              <a:ext uri="{FF2B5EF4-FFF2-40B4-BE49-F238E27FC236}">
                <a16:creationId xmlns:a16="http://schemas.microsoft.com/office/drawing/2014/main" id="{062526F1-F99A-E5B6-4BC5-F9E0C5D5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759075"/>
            <a:ext cx="7239000" cy="842963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240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2143241" name="Rectangle 9">
            <a:extLst>
              <a:ext uri="{FF2B5EF4-FFF2-40B4-BE49-F238E27FC236}">
                <a16:creationId xmlns:a16="http://schemas.microsoft.com/office/drawing/2014/main" id="{2D811A89-5B33-3781-BB6B-545FC76C8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774825"/>
            <a:ext cx="1066800" cy="4921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I-cache</a:t>
            </a:r>
          </a:p>
        </p:txBody>
      </p:sp>
      <p:sp>
        <p:nvSpPr>
          <p:cNvPr id="2143242" name="Rectangle 10">
            <a:extLst>
              <a:ext uri="{FF2B5EF4-FFF2-40B4-BE49-F238E27FC236}">
                <a16:creationId xmlns:a16="http://schemas.microsoft.com/office/drawing/2014/main" id="{F464E241-738F-3865-2CFB-5268DDB2F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478088"/>
            <a:ext cx="1066800" cy="561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Fetch Buffer</a:t>
            </a:r>
          </a:p>
        </p:txBody>
      </p:sp>
      <p:sp>
        <p:nvSpPr>
          <p:cNvPr id="2143243" name="Rectangle 11">
            <a:extLst>
              <a:ext uri="{FF2B5EF4-FFF2-40B4-BE49-F238E27FC236}">
                <a16:creationId xmlns:a16="http://schemas.microsoft.com/office/drawing/2014/main" id="{EBEF6AB1-0E21-5465-212D-01512B883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321050"/>
            <a:ext cx="1066800" cy="561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Issue</a:t>
            </a:r>
          </a:p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Buffer</a:t>
            </a:r>
          </a:p>
        </p:txBody>
      </p:sp>
      <p:sp>
        <p:nvSpPr>
          <p:cNvPr id="2143244" name="Rectangle 12">
            <a:extLst>
              <a:ext uri="{FF2B5EF4-FFF2-40B4-BE49-F238E27FC236}">
                <a16:creationId xmlns:a16="http://schemas.microsoft.com/office/drawing/2014/main" id="{2EC52B4C-C219-4159-D967-272B71271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64013"/>
            <a:ext cx="1066800" cy="6318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Func.</a:t>
            </a:r>
          </a:p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Units</a:t>
            </a:r>
          </a:p>
        </p:txBody>
      </p:sp>
      <p:sp>
        <p:nvSpPr>
          <p:cNvPr id="2143245" name="Rectangle 13">
            <a:extLst>
              <a:ext uri="{FF2B5EF4-FFF2-40B4-BE49-F238E27FC236}">
                <a16:creationId xmlns:a16="http://schemas.microsoft.com/office/drawing/2014/main" id="{B905C988-D5E0-E08B-3EBB-82CE0BE5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991225"/>
            <a:ext cx="1066800" cy="561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Arch.</a:t>
            </a:r>
          </a:p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State</a:t>
            </a:r>
          </a:p>
        </p:txBody>
      </p:sp>
      <p:sp>
        <p:nvSpPr>
          <p:cNvPr id="2143246" name="Line 14">
            <a:extLst>
              <a:ext uri="{FF2B5EF4-FFF2-40B4-BE49-F238E27FC236}">
                <a16:creationId xmlns:a16="http://schemas.microsoft.com/office/drawing/2014/main" id="{EAECFBAE-5B9C-5977-88E9-FE6E20E035A7}"/>
              </a:ext>
            </a:extLst>
          </p:cNvPr>
          <p:cNvSpPr>
            <a:spLocks noChangeShapeType="1"/>
          </p:cNvSpPr>
          <p:nvPr/>
        </p:nvSpPr>
        <p:spPr bwMode="auto">
          <a:xfrm rot="-16200000">
            <a:off x="1723231" y="1669257"/>
            <a:ext cx="211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47" name="Line 15">
            <a:extLst>
              <a:ext uri="{FF2B5EF4-FFF2-40B4-BE49-F238E27FC236}">
                <a16:creationId xmlns:a16="http://schemas.microsoft.com/office/drawing/2014/main" id="{9268FB44-EF9B-5ACB-6C37-0A6491C8F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266950"/>
            <a:ext cx="0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48" name="Line 16">
            <a:extLst>
              <a:ext uri="{FF2B5EF4-FFF2-40B4-BE49-F238E27FC236}">
                <a16:creationId xmlns:a16="http://schemas.microsoft.com/office/drawing/2014/main" id="{175C4D2A-F283-C3AA-8B1B-340E2EC98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040063"/>
            <a:ext cx="0" cy="280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49" name="Line 17">
            <a:extLst>
              <a:ext uri="{FF2B5EF4-FFF2-40B4-BE49-F238E27FC236}">
                <a16:creationId xmlns:a16="http://schemas.microsoft.com/office/drawing/2014/main" id="{9ADDF862-D83D-C1B6-0214-76112944D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883025"/>
            <a:ext cx="0" cy="280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50" name="Text Box 18">
            <a:extLst>
              <a:ext uri="{FF2B5EF4-FFF2-40B4-BE49-F238E27FC236}">
                <a16:creationId xmlns:a16="http://schemas.microsoft.com/office/drawing/2014/main" id="{0D3C8ED7-7CB4-A318-2DF1-B39587AFE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3838575"/>
            <a:ext cx="5715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CC66"/>
                </a:solidFill>
                <a:latin typeface="Verdana" panose="020B0604030504040204" pitchFamily="34" charset="0"/>
              </a:rPr>
              <a:t>Execute: Instructions and operands sent to execution units . </a:t>
            </a:r>
          </a:p>
          <a:p>
            <a:pPr algn="l" eaLnBrk="0" hangingPunct="0"/>
            <a:r>
              <a:rPr lang="en-US" altLang="en-US" i="1">
                <a:solidFill>
                  <a:srgbClr val="FFCC66"/>
                </a:solidFill>
                <a:latin typeface="Verdana" panose="020B0604030504040204" pitchFamily="34" charset="0"/>
              </a:rPr>
              <a:t>When execution completes, all results and exception flags are available.</a:t>
            </a:r>
          </a:p>
        </p:txBody>
      </p:sp>
      <p:sp>
        <p:nvSpPr>
          <p:cNvPr id="2143251" name="Text Box 19">
            <a:extLst>
              <a:ext uri="{FF2B5EF4-FFF2-40B4-BE49-F238E27FC236}">
                <a16:creationId xmlns:a16="http://schemas.microsoft.com/office/drawing/2014/main" id="{650FC4F6-696F-7A2D-E96A-F970091C5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2828925"/>
            <a:ext cx="57531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CC66"/>
                </a:solidFill>
                <a:latin typeface="Verdana" panose="020B0604030504040204" pitchFamily="34" charset="0"/>
              </a:rPr>
              <a:t>Decode: Instructions placed in appropriate issue (aka “dispatch”) stage buffer</a:t>
            </a:r>
          </a:p>
        </p:txBody>
      </p:sp>
      <p:sp>
        <p:nvSpPr>
          <p:cNvPr id="2143252" name="Rectangle 20">
            <a:extLst>
              <a:ext uri="{FF2B5EF4-FFF2-40B4-BE49-F238E27FC236}">
                <a16:creationId xmlns:a16="http://schemas.microsoft.com/office/drawing/2014/main" id="{634AFB28-2983-CF52-4CB3-D99FF6099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076825"/>
            <a:ext cx="1066800" cy="6334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Result</a:t>
            </a:r>
          </a:p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Buffer</a:t>
            </a:r>
          </a:p>
        </p:txBody>
      </p:sp>
      <p:sp>
        <p:nvSpPr>
          <p:cNvPr id="2143253" name="Line 21">
            <a:extLst>
              <a:ext uri="{FF2B5EF4-FFF2-40B4-BE49-F238E27FC236}">
                <a16:creationId xmlns:a16="http://schemas.microsoft.com/office/drawing/2014/main" id="{67B333A1-B54C-437A-EF7B-005B99431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795838"/>
            <a:ext cx="0" cy="280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54" name="Line 22">
            <a:extLst>
              <a:ext uri="{FF2B5EF4-FFF2-40B4-BE49-F238E27FC236}">
                <a16:creationId xmlns:a16="http://schemas.microsoft.com/office/drawing/2014/main" id="{8E7A1A1B-83F6-6BDA-8F61-3D38DE293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710238"/>
            <a:ext cx="0" cy="280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255" name="Text Box 23">
            <a:extLst>
              <a:ext uri="{FF2B5EF4-FFF2-40B4-BE49-F238E27FC236}">
                <a16:creationId xmlns:a16="http://schemas.microsoft.com/office/drawing/2014/main" id="{EF01F9E8-105B-53F0-7715-774E1E581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5378450"/>
            <a:ext cx="56372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en-US" i="1">
                <a:solidFill>
                  <a:srgbClr val="FFCC66"/>
                </a:solidFill>
                <a:latin typeface="Verdana" panose="020B0604030504040204" pitchFamily="34" charset="0"/>
              </a:rPr>
              <a:t>Commit: Instruction irrevocably updates architectural state (aka “graduation” or “completion”).</a:t>
            </a:r>
          </a:p>
        </p:txBody>
      </p:sp>
      <p:sp>
        <p:nvSpPr>
          <p:cNvPr id="2143256" name="Rectangle 24">
            <a:extLst>
              <a:ext uri="{FF2B5EF4-FFF2-40B4-BE49-F238E27FC236}">
                <a16:creationId xmlns:a16="http://schemas.microsoft.com/office/drawing/2014/main" id="{823084BF-994C-71A8-637D-905B88540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82700"/>
            <a:ext cx="1066800" cy="280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>
                <a:latin typeface="Verdana" panose="020B0604030504040204" pitchFamily="34" charset="0"/>
              </a:rPr>
              <a:t>PC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53CA-3EA7-B5EA-AA4E-B7527CA9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1E116-11B1-77EB-0521-627038DE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7C5D0-093F-DBB6-D119-F25483DA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47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114" name="Rectangle 2">
            <a:extLst>
              <a:ext uri="{FF2B5EF4-FFF2-40B4-BE49-F238E27FC236}">
                <a16:creationId xmlns:a16="http://schemas.microsoft.com/office/drawing/2014/main" id="{EBF2C865-BF23-51A5-EF04-88061A93B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Fetch Stage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BE3E84-76D9-CDB7-D157-6FA07066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4D2E4-291D-792E-D805-1099FA48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2A0C-E863-0EC9-3504-88175B91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B2330-38CE-2532-35A9-32F58171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6.823 L11-</a:t>
            </a:r>
            <a:fld id="{56CF7AE2-BA51-4D21-8EB5-7A82141A76AD}" type="slidenum">
              <a:rPr lang="en-US" altLang="en-US" smtClean="0"/>
              <a:pPr/>
              <a:t>48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  <p:grpSp>
        <p:nvGrpSpPr>
          <p:cNvPr id="2138115" name="Group 3">
            <a:extLst>
              <a:ext uri="{FF2B5EF4-FFF2-40B4-BE49-F238E27FC236}">
                <a16:creationId xmlns:a16="http://schemas.microsoft.com/office/drawing/2014/main" id="{0D8F6B85-AC1E-B820-76DB-EE29AD6223D2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1460500"/>
            <a:ext cx="1447800" cy="304800"/>
            <a:chOff x="2208" y="1344"/>
            <a:chExt cx="912" cy="192"/>
          </a:xfrm>
        </p:grpSpPr>
        <p:sp>
          <p:nvSpPr>
            <p:cNvPr id="2138116" name="Rectangle 4">
              <a:extLst>
                <a:ext uri="{FF2B5EF4-FFF2-40B4-BE49-F238E27FC236}">
                  <a16:creationId xmlns:a16="http://schemas.microsoft.com/office/drawing/2014/main" id="{91E375F7-54FC-9F59-1714-BA22AFD12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44"/>
              <a:ext cx="91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FFA74F"/>
                  </a:solidFill>
                  <a:latin typeface="Verdana" panose="020B0604030504040204" pitchFamily="34" charset="0"/>
                </a:rPr>
                <a:t>PC</a:t>
              </a:r>
            </a:p>
          </p:txBody>
        </p:sp>
        <p:sp>
          <p:nvSpPr>
            <p:cNvPr id="2138117" name="Freeform 5">
              <a:extLst>
                <a:ext uri="{FF2B5EF4-FFF2-40B4-BE49-F238E27FC236}">
                  <a16:creationId xmlns:a16="http://schemas.microsoft.com/office/drawing/2014/main" id="{BE397344-FD3C-F77D-5CD2-22B120A04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344"/>
              <a:ext cx="96" cy="192"/>
            </a:xfrm>
            <a:custGeom>
              <a:avLst/>
              <a:gdLst>
                <a:gd name="T0" fmla="*/ 0 w 96"/>
                <a:gd name="T1" fmla="*/ 0 h 192"/>
                <a:gd name="T2" fmla="*/ 96 w 96"/>
                <a:gd name="T3" fmla="*/ 96 h 192"/>
                <a:gd name="T4" fmla="*/ 0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96" y="96"/>
                  </a:lnTo>
                  <a:lnTo>
                    <a:pt x="0" y="192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38118" name="Rectangle 6">
            <a:extLst>
              <a:ext uri="{FF2B5EF4-FFF2-40B4-BE49-F238E27FC236}">
                <a16:creationId xmlns:a16="http://schemas.microsoft.com/office/drawing/2014/main" id="{26A81546-A145-EF69-D0B3-B53142DE9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2222500"/>
            <a:ext cx="2514600" cy="8382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Instruction Cache</a:t>
            </a:r>
          </a:p>
        </p:txBody>
      </p:sp>
      <p:sp>
        <p:nvSpPr>
          <p:cNvPr id="2138119" name="Line 7">
            <a:extLst>
              <a:ext uri="{FF2B5EF4-FFF2-40B4-BE49-F238E27FC236}">
                <a16:creationId xmlns:a16="http://schemas.microsoft.com/office/drawing/2014/main" id="{3FF9531E-27BD-2005-93E1-037EB27BE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176530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8120" name="Line 8">
            <a:extLst>
              <a:ext uri="{FF2B5EF4-FFF2-40B4-BE49-F238E27FC236}">
                <a16:creationId xmlns:a16="http://schemas.microsoft.com/office/drawing/2014/main" id="{298A9672-2E35-2068-80DD-7D68C4495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30607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8121" name="Text Box 9">
            <a:extLst>
              <a:ext uri="{FF2B5EF4-FFF2-40B4-BE49-F238E27FC236}">
                <a16:creationId xmlns:a16="http://schemas.microsoft.com/office/drawing/2014/main" id="{D8D42938-445B-CCEF-C303-AE2D5BFB0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25" y="3213100"/>
            <a:ext cx="682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Verdana" panose="020B0604030504040204" pitchFamily="34" charset="0"/>
              </a:rPr>
              <a:t>Hit?</a:t>
            </a:r>
          </a:p>
        </p:txBody>
      </p:sp>
      <p:sp>
        <p:nvSpPr>
          <p:cNvPr id="2138122" name="Line 10">
            <a:extLst>
              <a:ext uri="{FF2B5EF4-FFF2-40B4-BE49-F238E27FC236}">
                <a16:creationId xmlns:a16="http://schemas.microsoft.com/office/drawing/2014/main" id="{5DD869F3-1676-1C18-CDF2-55C764EFC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3600" y="3060700"/>
            <a:ext cx="0" cy="1219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8127" name="Text Box 15">
            <a:extLst>
              <a:ext uri="{FF2B5EF4-FFF2-40B4-BE49-F238E27FC236}">
                <a16:creationId xmlns:a16="http://schemas.microsoft.com/office/drawing/2014/main" id="{2705C631-1D63-E494-F46E-4C48321C4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078413"/>
            <a:ext cx="1698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i="1">
                <a:latin typeface="Verdana" panose="020B0604030504040204" pitchFamily="34" charset="0"/>
              </a:rPr>
              <a:t>Instructions</a:t>
            </a:r>
          </a:p>
        </p:txBody>
      </p:sp>
      <p:sp>
        <p:nvSpPr>
          <p:cNvPr id="2138134" name="Text Box 22">
            <a:extLst>
              <a:ext uri="{FF2B5EF4-FFF2-40B4-BE49-F238E27FC236}">
                <a16:creationId xmlns:a16="http://schemas.microsoft.com/office/drawing/2014/main" id="{06888DA5-5CD6-39D3-0273-7173A3BC7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3" y="5561013"/>
            <a:ext cx="234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Verdana" panose="020B0604030504040204" pitchFamily="34" charset="0"/>
              </a:rPr>
              <a:t>To Decode Stage</a:t>
            </a:r>
          </a:p>
        </p:txBody>
      </p:sp>
      <p:sp>
        <p:nvSpPr>
          <p:cNvPr id="2138132" name="Freeform 20">
            <a:extLst>
              <a:ext uri="{FF2B5EF4-FFF2-40B4-BE49-F238E27FC236}">
                <a16:creationId xmlns:a16="http://schemas.microsoft.com/office/drawing/2014/main" id="{0B7DCF39-90DE-E7EF-8B61-144ADB9F1934}"/>
              </a:ext>
            </a:extLst>
          </p:cNvPr>
          <p:cNvSpPr>
            <a:spLocks/>
          </p:cNvSpPr>
          <p:nvPr/>
        </p:nvSpPr>
        <p:spPr bwMode="auto">
          <a:xfrm>
            <a:off x="2552700" y="4252913"/>
            <a:ext cx="4229100" cy="1184275"/>
          </a:xfrm>
          <a:custGeom>
            <a:avLst/>
            <a:gdLst>
              <a:gd name="T0" fmla="*/ 0 w 4848"/>
              <a:gd name="T1" fmla="*/ 0 h 528"/>
              <a:gd name="T2" fmla="*/ 0 w 4848"/>
              <a:gd name="T3" fmla="*/ 528 h 528"/>
              <a:gd name="T4" fmla="*/ 4848 w 4848"/>
              <a:gd name="T5" fmla="*/ 528 h 528"/>
              <a:gd name="T6" fmla="*/ 4848 w 4848"/>
              <a:gd name="T7" fmla="*/ 0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48" h="528">
                <a:moveTo>
                  <a:pt x="0" y="0"/>
                </a:moveTo>
                <a:lnTo>
                  <a:pt x="0" y="528"/>
                </a:lnTo>
                <a:lnTo>
                  <a:pt x="4848" y="528"/>
                </a:lnTo>
                <a:lnTo>
                  <a:pt x="4848" y="0"/>
                </a:lnTo>
              </a:path>
            </a:pathLst>
          </a:cu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8133" name="Line 21">
            <a:extLst>
              <a:ext uri="{FF2B5EF4-FFF2-40B4-BE49-F238E27FC236}">
                <a16:creationId xmlns:a16="http://schemas.microsoft.com/office/drawing/2014/main" id="{8344B29A-6D54-D404-12AA-AE3D715AA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454650"/>
            <a:ext cx="0" cy="53816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8136" name="Line 24">
            <a:extLst>
              <a:ext uri="{FF2B5EF4-FFF2-40B4-BE49-F238E27FC236}">
                <a16:creationId xmlns:a16="http://schemas.microsoft.com/office/drawing/2014/main" id="{EC873E2C-1AAB-C5A2-F13B-B47B31B81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5045075"/>
            <a:ext cx="42291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38137" name="Line 25">
            <a:extLst>
              <a:ext uri="{FF2B5EF4-FFF2-40B4-BE49-F238E27FC236}">
                <a16:creationId xmlns:a16="http://schemas.microsoft.com/office/drawing/2014/main" id="{12199B2A-6174-A54F-C9AD-547A261EF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4664075"/>
            <a:ext cx="42291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38138" name="Text Box 26">
            <a:extLst>
              <a:ext uri="{FF2B5EF4-FFF2-40B4-BE49-F238E27FC236}">
                <a16:creationId xmlns:a16="http://schemas.microsoft.com/office/drawing/2014/main" id="{77697733-4282-21A3-E910-5443DB67A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638" y="4659313"/>
            <a:ext cx="156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A74F"/>
                </a:solidFill>
              </a:rPr>
              <a:t>Fetch Buffer</a:t>
            </a:r>
          </a:p>
        </p:txBody>
      </p:sp>
      <p:grpSp>
        <p:nvGrpSpPr>
          <p:cNvPr id="2138141" name="Group 29">
            <a:extLst>
              <a:ext uri="{FF2B5EF4-FFF2-40B4-BE49-F238E27FC236}">
                <a16:creationId xmlns:a16="http://schemas.microsoft.com/office/drawing/2014/main" id="{D4FE190B-5EA0-8658-BE72-832CB7D7F797}"/>
              </a:ext>
            </a:extLst>
          </p:cNvPr>
          <p:cNvGrpSpPr>
            <a:grpSpLocks/>
          </p:cNvGrpSpPr>
          <p:nvPr/>
        </p:nvGrpSpPr>
        <p:grpSpPr bwMode="auto">
          <a:xfrm>
            <a:off x="2578100" y="4278313"/>
            <a:ext cx="4191000" cy="381000"/>
            <a:chOff x="1624" y="3191"/>
            <a:chExt cx="2640" cy="240"/>
          </a:xfrm>
        </p:grpSpPr>
        <p:sp>
          <p:nvSpPr>
            <p:cNvPr id="2138123" name="Rectangle 11">
              <a:extLst>
                <a:ext uri="{FF2B5EF4-FFF2-40B4-BE49-F238E27FC236}">
                  <a16:creationId xmlns:a16="http://schemas.microsoft.com/office/drawing/2014/main" id="{99731383-B2CF-5D12-FC68-B9EA5D96B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3191"/>
              <a:ext cx="62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Opcode</a:t>
              </a:r>
            </a:p>
          </p:txBody>
        </p:sp>
        <p:sp>
          <p:nvSpPr>
            <p:cNvPr id="2138124" name="Rectangle 12">
              <a:extLst>
                <a:ext uri="{FF2B5EF4-FFF2-40B4-BE49-F238E27FC236}">
                  <a16:creationId xmlns:a16="http://schemas.microsoft.com/office/drawing/2014/main" id="{06F151B8-0DA0-8896-D1D4-9C0C5072E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3191"/>
              <a:ext cx="528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Rd</a:t>
              </a:r>
            </a:p>
          </p:txBody>
        </p:sp>
        <p:sp>
          <p:nvSpPr>
            <p:cNvPr id="2138125" name="Rectangle 13">
              <a:extLst>
                <a:ext uri="{FF2B5EF4-FFF2-40B4-BE49-F238E27FC236}">
                  <a16:creationId xmlns:a16="http://schemas.microsoft.com/office/drawing/2014/main" id="{902770FA-8E96-43E3-1329-79ACE85AB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191"/>
              <a:ext cx="62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Rsrc1</a:t>
              </a:r>
            </a:p>
          </p:txBody>
        </p:sp>
        <p:sp>
          <p:nvSpPr>
            <p:cNvPr id="2138126" name="Rectangle 14">
              <a:extLst>
                <a:ext uri="{FF2B5EF4-FFF2-40B4-BE49-F238E27FC236}">
                  <a16:creationId xmlns:a16="http://schemas.microsoft.com/office/drawing/2014/main" id="{3292CF4A-6798-7729-66C2-9F47F5495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3191"/>
              <a:ext cx="86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Rsrc2/Imm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259" name="Rectangle 123">
            <a:extLst>
              <a:ext uri="{FF2B5EF4-FFF2-40B4-BE49-F238E27FC236}">
                <a16:creationId xmlns:a16="http://schemas.microsoft.com/office/drawing/2014/main" id="{EA85C411-A62C-3ABD-2CCD-F340DDAF9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5003800"/>
            <a:ext cx="7391400" cy="12319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39138" name="Rectangle 2">
            <a:extLst>
              <a:ext uri="{FF2B5EF4-FFF2-40B4-BE49-F238E27FC236}">
                <a16:creationId xmlns:a16="http://schemas.microsoft.com/office/drawing/2014/main" id="{8AFB6125-12AA-E5A2-E9AF-B50F83B60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Decode &amp; Rename Stage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3B7A28-8E1D-3E61-6287-39241FA31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18269-354C-85ED-9F1C-3A685B63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E740-B0D6-210B-560C-3D6FD000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9E1E9-B6B7-6F42-4391-9A3DF479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6.823 L11-</a:t>
            </a:r>
            <a:fld id="{56CF7AE2-BA51-4D21-8EB5-7A82141A76AD}" type="slidenum">
              <a:rPr lang="en-US" altLang="en-US" smtClean="0"/>
              <a:pPr/>
              <a:t>49</a:t>
            </a:fld>
            <a:endParaRPr lang="en-US" altLang="en-US"/>
          </a:p>
          <a:p>
            <a:r>
              <a:rPr lang="en-US" altLang="en-US"/>
              <a:t>Arvind</a:t>
            </a:r>
          </a:p>
          <a:p>
            <a:endParaRPr lang="en-US" altLang="en-US"/>
          </a:p>
        </p:txBody>
      </p:sp>
      <p:grpSp>
        <p:nvGrpSpPr>
          <p:cNvPr id="2139139" name="Group 3">
            <a:extLst>
              <a:ext uri="{FF2B5EF4-FFF2-40B4-BE49-F238E27FC236}">
                <a16:creationId xmlns:a16="http://schemas.microsoft.com/office/drawing/2014/main" id="{AADD83D5-013D-9F9F-F192-6F0354741BD1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1358900"/>
            <a:ext cx="4191000" cy="381000"/>
            <a:chOff x="480" y="2928"/>
            <a:chExt cx="2640" cy="240"/>
          </a:xfrm>
        </p:grpSpPr>
        <p:sp>
          <p:nvSpPr>
            <p:cNvPr id="2139140" name="Rectangle 4">
              <a:extLst>
                <a:ext uri="{FF2B5EF4-FFF2-40B4-BE49-F238E27FC236}">
                  <a16:creationId xmlns:a16="http://schemas.microsoft.com/office/drawing/2014/main" id="{031F0B11-E035-3819-76D6-6B97DB5B2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28"/>
              <a:ext cx="62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Opcode</a:t>
              </a:r>
            </a:p>
          </p:txBody>
        </p:sp>
        <p:sp>
          <p:nvSpPr>
            <p:cNvPr id="2139141" name="Rectangle 5">
              <a:extLst>
                <a:ext uri="{FF2B5EF4-FFF2-40B4-BE49-F238E27FC236}">
                  <a16:creationId xmlns:a16="http://schemas.microsoft.com/office/drawing/2014/main" id="{2134AEF5-FC78-ABAE-228B-ADE7ABE33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928"/>
              <a:ext cx="528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Rd</a:t>
              </a:r>
            </a:p>
          </p:txBody>
        </p:sp>
        <p:sp>
          <p:nvSpPr>
            <p:cNvPr id="2139142" name="Rectangle 6">
              <a:extLst>
                <a:ext uri="{FF2B5EF4-FFF2-40B4-BE49-F238E27FC236}">
                  <a16:creationId xmlns:a16="http://schemas.microsoft.com/office/drawing/2014/main" id="{AD75EA6D-D076-B57B-5B5C-241FE15B5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28"/>
              <a:ext cx="62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Rsrc1</a:t>
              </a:r>
            </a:p>
          </p:txBody>
        </p:sp>
        <p:sp>
          <p:nvSpPr>
            <p:cNvPr id="2139143" name="Rectangle 7">
              <a:extLst>
                <a:ext uri="{FF2B5EF4-FFF2-40B4-BE49-F238E27FC236}">
                  <a16:creationId xmlns:a16="http://schemas.microsoft.com/office/drawing/2014/main" id="{D8709255-2A9F-9E21-52CC-A0A9B1DF6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928"/>
              <a:ext cx="864" cy="24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56127A"/>
                  </a:solidFill>
                  <a:latin typeface="Verdana" panose="020B0604030504040204" pitchFamily="34" charset="0"/>
                </a:rPr>
                <a:t>Rsrc2/Imm</a:t>
              </a:r>
            </a:p>
          </p:txBody>
        </p:sp>
      </p:grpSp>
      <p:grpSp>
        <p:nvGrpSpPr>
          <p:cNvPr id="2139260" name="Group 124">
            <a:extLst>
              <a:ext uri="{FF2B5EF4-FFF2-40B4-BE49-F238E27FC236}">
                <a16:creationId xmlns:a16="http://schemas.microsoft.com/office/drawing/2014/main" id="{C37C4131-0684-F8CC-25D9-6D8956BA1495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5016500"/>
            <a:ext cx="7391400" cy="304800"/>
            <a:chOff x="432" y="3160"/>
            <a:chExt cx="4656" cy="192"/>
          </a:xfrm>
        </p:grpSpPr>
        <p:sp>
          <p:nvSpPr>
            <p:cNvPr id="2139144" name="Rectangle 8">
              <a:extLst>
                <a:ext uri="{FF2B5EF4-FFF2-40B4-BE49-F238E27FC236}">
                  <a16:creationId xmlns:a16="http://schemas.microsoft.com/office/drawing/2014/main" id="{F51BE947-B6DA-5939-FB5B-4FC521667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160"/>
              <a:ext cx="566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Opcode</a:t>
              </a:r>
            </a:p>
          </p:txBody>
        </p:sp>
        <p:sp>
          <p:nvSpPr>
            <p:cNvPr id="2139145" name="Rectangle 9">
              <a:extLst>
                <a:ext uri="{FF2B5EF4-FFF2-40B4-BE49-F238E27FC236}">
                  <a16:creationId xmlns:a16="http://schemas.microsoft.com/office/drawing/2014/main" id="{CA7C9187-473E-4CC9-DC66-398F74BD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3160"/>
              <a:ext cx="17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U</a:t>
              </a:r>
            </a:p>
          </p:txBody>
        </p:sp>
        <p:sp>
          <p:nvSpPr>
            <p:cNvPr id="2139146" name="Rectangle 10">
              <a:extLst>
                <a:ext uri="{FF2B5EF4-FFF2-40B4-BE49-F238E27FC236}">
                  <a16:creationId xmlns:a16="http://schemas.microsoft.com/office/drawing/2014/main" id="{CCBE394E-2706-9246-9D67-04EFA2860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" y="3160"/>
              <a:ext cx="17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2139147" name="Rectangle 11">
              <a:extLst>
                <a:ext uri="{FF2B5EF4-FFF2-40B4-BE49-F238E27FC236}">
                  <a16:creationId xmlns:a16="http://schemas.microsoft.com/office/drawing/2014/main" id="{1F439195-296B-6B4A-BD40-76D23D02E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160"/>
              <a:ext cx="391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Tag1</a:t>
              </a:r>
            </a:p>
          </p:txBody>
        </p:sp>
        <p:sp>
          <p:nvSpPr>
            <p:cNvPr id="2139148" name="Rectangle 12">
              <a:extLst>
                <a:ext uri="{FF2B5EF4-FFF2-40B4-BE49-F238E27FC236}">
                  <a16:creationId xmlns:a16="http://schemas.microsoft.com/office/drawing/2014/main" id="{1D5EEBF5-7BE6-61F5-39FF-9910A3230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3160"/>
              <a:ext cx="21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P1</a:t>
              </a:r>
            </a:p>
          </p:txBody>
        </p:sp>
        <p:sp>
          <p:nvSpPr>
            <p:cNvPr id="2139149" name="Rectangle 13">
              <a:extLst>
                <a:ext uri="{FF2B5EF4-FFF2-40B4-BE49-F238E27FC236}">
                  <a16:creationId xmlns:a16="http://schemas.microsoft.com/office/drawing/2014/main" id="{986E011C-364B-215F-9D0F-04BFA5E1B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3160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Data1</a:t>
              </a:r>
            </a:p>
          </p:txBody>
        </p:sp>
        <p:sp>
          <p:nvSpPr>
            <p:cNvPr id="2139150" name="Rectangle 14">
              <a:extLst>
                <a:ext uri="{FF2B5EF4-FFF2-40B4-BE49-F238E27FC236}">
                  <a16:creationId xmlns:a16="http://schemas.microsoft.com/office/drawing/2014/main" id="{90B5B17B-403F-71FD-F147-9FEFF4E61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3160"/>
              <a:ext cx="392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Tag2</a:t>
              </a:r>
            </a:p>
          </p:txBody>
        </p:sp>
        <p:sp>
          <p:nvSpPr>
            <p:cNvPr id="2139151" name="Rectangle 15">
              <a:extLst>
                <a:ext uri="{FF2B5EF4-FFF2-40B4-BE49-F238E27FC236}">
                  <a16:creationId xmlns:a16="http://schemas.microsoft.com/office/drawing/2014/main" id="{8F099347-2232-8B84-081A-0E3A79FD9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3160"/>
              <a:ext cx="217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P2</a:t>
              </a:r>
            </a:p>
          </p:txBody>
        </p:sp>
        <p:sp>
          <p:nvSpPr>
            <p:cNvPr id="2139152" name="Rectangle 16">
              <a:extLst>
                <a:ext uri="{FF2B5EF4-FFF2-40B4-BE49-F238E27FC236}">
                  <a16:creationId xmlns:a16="http://schemas.microsoft.com/office/drawing/2014/main" id="{908B9299-37E8-7068-F410-273A56CC3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" y="3160"/>
              <a:ext cx="47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Data2</a:t>
              </a:r>
            </a:p>
          </p:txBody>
        </p:sp>
        <p:sp>
          <p:nvSpPr>
            <p:cNvPr id="2139153" name="Rectangle 17">
              <a:extLst>
                <a:ext uri="{FF2B5EF4-FFF2-40B4-BE49-F238E27FC236}">
                  <a16:creationId xmlns:a16="http://schemas.microsoft.com/office/drawing/2014/main" id="{D0B33727-76EF-CB4F-6041-2023900C7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" y="3160"/>
              <a:ext cx="391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Rd</a:t>
              </a:r>
            </a:p>
          </p:txBody>
        </p:sp>
        <p:sp>
          <p:nvSpPr>
            <p:cNvPr id="2139154" name="Rectangle 18">
              <a:extLst>
                <a:ext uri="{FF2B5EF4-FFF2-40B4-BE49-F238E27FC236}">
                  <a16:creationId xmlns:a16="http://schemas.microsoft.com/office/drawing/2014/main" id="{D377FCD0-3194-06F7-FA43-05AF6B2A6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160"/>
              <a:ext cx="21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Pd</a:t>
              </a:r>
            </a:p>
          </p:txBody>
        </p:sp>
        <p:sp>
          <p:nvSpPr>
            <p:cNvPr id="2139155" name="Rectangle 19">
              <a:extLst>
                <a:ext uri="{FF2B5EF4-FFF2-40B4-BE49-F238E27FC236}">
                  <a16:creationId xmlns:a16="http://schemas.microsoft.com/office/drawing/2014/main" id="{261F0E10-B19C-72C4-6C0B-DCB159D6D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3160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Datad</a:t>
              </a:r>
            </a:p>
          </p:txBody>
        </p:sp>
        <p:sp>
          <p:nvSpPr>
            <p:cNvPr id="2139156" name="Rectangle 20">
              <a:extLst>
                <a:ext uri="{FF2B5EF4-FFF2-40B4-BE49-F238E27FC236}">
                  <a16:creationId xmlns:a16="http://schemas.microsoft.com/office/drawing/2014/main" id="{4F21703A-1D66-AD3A-41A2-768E9E351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3160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Cause</a:t>
              </a:r>
            </a:p>
          </p:txBody>
        </p:sp>
      </p:grpSp>
      <p:sp>
        <p:nvSpPr>
          <p:cNvPr id="2139195" name="Text Box 59">
            <a:extLst>
              <a:ext uri="{FF2B5EF4-FFF2-40B4-BE49-F238E27FC236}">
                <a16:creationId xmlns:a16="http://schemas.microsoft.com/office/drawing/2014/main" id="{27A8F28D-0655-4DC0-A6B8-DA6C034B7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5016500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t1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196" name="Text Box 60">
            <a:extLst>
              <a:ext uri="{FF2B5EF4-FFF2-40B4-BE49-F238E27FC236}">
                <a16:creationId xmlns:a16="http://schemas.microsoft.com/office/drawing/2014/main" id="{2622AD6B-06CC-55B3-5626-8C6D02360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5321300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t2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197" name="Text Box 61">
            <a:extLst>
              <a:ext uri="{FF2B5EF4-FFF2-40B4-BE49-F238E27FC236}">
                <a16:creationId xmlns:a16="http://schemas.microsoft.com/office/drawing/2014/main" id="{230A3E49-B9E3-C19D-4AF5-1CB908F8A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943600"/>
            <a:ext cx="419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</a:t>
            </a:r>
            <a:r>
              <a:rPr lang="en-US" altLang="en-US" sz="1800" i="1">
                <a:latin typeface="Verdana" panose="020B0604030504040204" pitchFamily="34" charset="0"/>
              </a:rPr>
              <a:t>n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198" name="Line 62">
            <a:extLst>
              <a:ext uri="{FF2B5EF4-FFF2-40B4-BE49-F238E27FC236}">
                <a16:creationId xmlns:a16="http://schemas.microsoft.com/office/drawing/2014/main" id="{2F2894B5-045A-D22C-E652-E54088579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864100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199" name="AutoShape 63">
            <a:extLst>
              <a:ext uri="{FF2B5EF4-FFF2-40B4-BE49-F238E27FC236}">
                <a16:creationId xmlns:a16="http://schemas.microsoft.com/office/drawing/2014/main" id="{5FD2F690-E6A4-ACF5-E0F2-8C8C52105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635500"/>
            <a:ext cx="9906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0    1</a:t>
            </a:r>
          </a:p>
        </p:txBody>
      </p:sp>
      <p:sp>
        <p:nvSpPr>
          <p:cNvPr id="2139200" name="Line 64">
            <a:extLst>
              <a:ext uri="{FF2B5EF4-FFF2-40B4-BE49-F238E27FC236}">
                <a16:creationId xmlns:a16="http://schemas.microsoft.com/office/drawing/2014/main" id="{A27AEE47-B5AC-2D1F-0538-34A6EBDB7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864100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01" name="AutoShape 65">
            <a:extLst>
              <a:ext uri="{FF2B5EF4-FFF2-40B4-BE49-F238E27FC236}">
                <a16:creationId xmlns:a16="http://schemas.microsoft.com/office/drawing/2014/main" id="{F5216700-1066-EE9A-006C-63676B84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6355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0   1</a:t>
            </a:r>
          </a:p>
        </p:txBody>
      </p:sp>
      <p:sp>
        <p:nvSpPr>
          <p:cNvPr id="2139202" name="Text Box 66">
            <a:extLst>
              <a:ext uri="{FF2B5EF4-FFF2-40B4-BE49-F238E27FC236}">
                <a16:creationId xmlns:a16="http://schemas.microsoft.com/office/drawing/2014/main" id="{2AF805D3-1864-5634-9C37-A84763228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102100"/>
            <a:ext cx="346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139203" name="Line 67">
            <a:extLst>
              <a:ext uri="{FF2B5EF4-FFF2-40B4-BE49-F238E27FC236}">
                <a16:creationId xmlns:a16="http://schemas.microsoft.com/office/drawing/2014/main" id="{89A1FDD0-6B48-8E50-69E0-60E8D448D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83100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04" name="Text Box 68">
            <a:extLst>
              <a:ext uri="{FF2B5EF4-FFF2-40B4-BE49-F238E27FC236}">
                <a16:creationId xmlns:a16="http://schemas.microsoft.com/office/drawing/2014/main" id="{7569A414-7489-9FE6-1D54-C6E747F2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2138" y="4559300"/>
            <a:ext cx="1081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ImmSel</a:t>
            </a:r>
            <a:endParaRPr lang="en-US" altLang="en-US">
              <a:solidFill>
                <a:srgbClr val="56127A"/>
              </a:solidFill>
              <a:latin typeface="Verdana" panose="020B0604030504040204" pitchFamily="34" charset="0"/>
            </a:endParaRPr>
          </a:p>
        </p:txBody>
      </p:sp>
      <p:sp>
        <p:nvSpPr>
          <p:cNvPr id="2139205" name="Line 69">
            <a:extLst>
              <a:ext uri="{FF2B5EF4-FFF2-40B4-BE49-F238E27FC236}">
                <a16:creationId xmlns:a16="http://schemas.microsoft.com/office/drawing/2014/main" id="{64A0C559-DF25-7246-57FB-E572989454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787900"/>
            <a:ext cx="304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06" name="Line 70">
            <a:extLst>
              <a:ext uri="{FF2B5EF4-FFF2-40B4-BE49-F238E27FC236}">
                <a16:creationId xmlns:a16="http://schemas.microsoft.com/office/drawing/2014/main" id="{64B503D1-D997-5F8B-2FDC-552B674EBF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787900"/>
            <a:ext cx="533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07" name="Line 71">
            <a:extLst>
              <a:ext uri="{FF2B5EF4-FFF2-40B4-BE49-F238E27FC236}">
                <a16:creationId xmlns:a16="http://schemas.microsoft.com/office/drawing/2014/main" id="{E3E87C4D-DEAA-C1F9-058D-B4A9DEF01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78100"/>
            <a:ext cx="0" cy="2057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08" name="AutoShape 72">
            <a:extLst>
              <a:ext uri="{FF2B5EF4-FFF2-40B4-BE49-F238E27FC236}">
                <a16:creationId xmlns:a16="http://schemas.microsoft.com/office/drawing/2014/main" id="{36236B14-E918-5437-4A9B-57794F016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7973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0   1</a:t>
            </a:r>
          </a:p>
        </p:txBody>
      </p:sp>
      <p:sp>
        <p:nvSpPr>
          <p:cNvPr id="2139209" name="AutoShape 73">
            <a:extLst>
              <a:ext uri="{FF2B5EF4-FFF2-40B4-BE49-F238E27FC236}">
                <a16:creationId xmlns:a16="http://schemas.microsoft.com/office/drawing/2014/main" id="{EE0795C8-5577-054A-EE46-3E9AF30F0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7973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0   1</a:t>
            </a:r>
          </a:p>
        </p:txBody>
      </p:sp>
      <p:sp>
        <p:nvSpPr>
          <p:cNvPr id="2139210" name="AutoShape 74">
            <a:extLst>
              <a:ext uri="{FF2B5EF4-FFF2-40B4-BE49-F238E27FC236}">
                <a16:creationId xmlns:a16="http://schemas.microsoft.com/office/drawing/2014/main" id="{CADBE15F-087E-D79B-3493-91FFA4EDE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797300"/>
            <a:ext cx="762000" cy="228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56127A"/>
                </a:solidFill>
                <a:latin typeface="Verdana" panose="020B0604030504040204" pitchFamily="34" charset="0"/>
              </a:rPr>
              <a:t>0   1</a:t>
            </a:r>
          </a:p>
        </p:txBody>
      </p:sp>
      <p:sp>
        <p:nvSpPr>
          <p:cNvPr id="2139211" name="Freeform 75">
            <a:extLst>
              <a:ext uri="{FF2B5EF4-FFF2-40B4-BE49-F238E27FC236}">
                <a16:creationId xmlns:a16="http://schemas.microsoft.com/office/drawing/2014/main" id="{804E3A1D-0016-23EE-984C-F38A67DFBD58}"/>
              </a:ext>
            </a:extLst>
          </p:cNvPr>
          <p:cNvSpPr>
            <a:spLocks/>
          </p:cNvSpPr>
          <p:nvPr/>
        </p:nvSpPr>
        <p:spPr bwMode="auto">
          <a:xfrm>
            <a:off x="4114800" y="4025900"/>
            <a:ext cx="457200" cy="990600"/>
          </a:xfrm>
          <a:custGeom>
            <a:avLst/>
            <a:gdLst>
              <a:gd name="T0" fmla="*/ 0 w 288"/>
              <a:gd name="T1" fmla="*/ 0 h 624"/>
              <a:gd name="T2" fmla="*/ 0 w 288"/>
              <a:gd name="T3" fmla="*/ 48 h 624"/>
              <a:gd name="T4" fmla="*/ 288 w 288"/>
              <a:gd name="T5" fmla="*/ 48 h 624"/>
              <a:gd name="T6" fmla="*/ 288 w 288"/>
              <a:gd name="T7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624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  <a:lnTo>
                  <a:pt x="288" y="624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39212" name="Group 76">
            <a:extLst>
              <a:ext uri="{FF2B5EF4-FFF2-40B4-BE49-F238E27FC236}">
                <a16:creationId xmlns:a16="http://schemas.microsoft.com/office/drawing/2014/main" id="{D061342E-181B-64F2-7E9C-EBDAE0BF7FB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197100"/>
            <a:ext cx="990600" cy="990600"/>
            <a:chOff x="4272" y="1104"/>
            <a:chExt cx="624" cy="624"/>
          </a:xfrm>
        </p:grpSpPr>
        <p:grpSp>
          <p:nvGrpSpPr>
            <p:cNvPr id="2139213" name="Group 77">
              <a:extLst>
                <a:ext uri="{FF2B5EF4-FFF2-40B4-BE49-F238E27FC236}">
                  <a16:creationId xmlns:a16="http://schemas.microsoft.com/office/drawing/2014/main" id="{DE8EFF4D-E0FE-CFFE-CE84-FA17A942E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104"/>
              <a:ext cx="624" cy="144"/>
              <a:chOff x="4272" y="1104"/>
              <a:chExt cx="624" cy="144"/>
            </a:xfrm>
          </p:grpSpPr>
          <p:sp>
            <p:nvSpPr>
              <p:cNvPr id="2139214" name="Rectangle 78">
                <a:extLst>
                  <a:ext uri="{FF2B5EF4-FFF2-40B4-BE49-F238E27FC236}">
                    <a16:creationId xmlns:a16="http://schemas.microsoft.com/office/drawing/2014/main" id="{5C213E94-EB24-219B-44A5-BE0FDDE2C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1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Tag</a:t>
                </a:r>
              </a:p>
            </p:txBody>
          </p:sp>
          <p:sp>
            <p:nvSpPr>
              <p:cNvPr id="2139215" name="Rectangle 79">
                <a:extLst>
                  <a:ext uri="{FF2B5EF4-FFF2-40B4-BE49-F238E27FC236}">
                    <a16:creationId xmlns:a16="http://schemas.microsoft.com/office/drawing/2014/main" id="{AFA260D8-CE62-4F36-5110-2FFC80D90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19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V</a:t>
                </a:r>
              </a:p>
            </p:txBody>
          </p:sp>
        </p:grpSp>
        <p:sp>
          <p:nvSpPr>
            <p:cNvPr id="2139216" name="Line 80">
              <a:extLst>
                <a:ext uri="{FF2B5EF4-FFF2-40B4-BE49-F238E27FC236}">
                  <a16:creationId xmlns:a16="http://schemas.microsoft.com/office/drawing/2014/main" id="{9E52DE38-4B40-0D96-7279-2281BE6AF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392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9217" name="Line 81">
              <a:extLst>
                <a:ext uri="{FF2B5EF4-FFF2-40B4-BE49-F238E27FC236}">
                  <a16:creationId xmlns:a16="http://schemas.microsoft.com/office/drawing/2014/main" id="{642549FB-67C3-D288-7606-792549915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92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39218" name="Group 82">
              <a:extLst>
                <a:ext uri="{FF2B5EF4-FFF2-40B4-BE49-F238E27FC236}">
                  <a16:creationId xmlns:a16="http://schemas.microsoft.com/office/drawing/2014/main" id="{8751117E-648A-9325-E507-845B85C1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248"/>
              <a:ext cx="624" cy="144"/>
              <a:chOff x="4272" y="1104"/>
              <a:chExt cx="624" cy="144"/>
            </a:xfrm>
          </p:grpSpPr>
          <p:sp>
            <p:nvSpPr>
              <p:cNvPr id="2139219" name="Rectangle 83">
                <a:extLst>
                  <a:ext uri="{FF2B5EF4-FFF2-40B4-BE49-F238E27FC236}">
                    <a16:creationId xmlns:a16="http://schemas.microsoft.com/office/drawing/2014/main" id="{E309027F-5694-8764-B8A5-A3D050447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1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Tag</a:t>
                </a:r>
              </a:p>
            </p:txBody>
          </p:sp>
          <p:sp>
            <p:nvSpPr>
              <p:cNvPr id="2139220" name="Rectangle 84">
                <a:extLst>
                  <a:ext uri="{FF2B5EF4-FFF2-40B4-BE49-F238E27FC236}">
                    <a16:creationId xmlns:a16="http://schemas.microsoft.com/office/drawing/2014/main" id="{E3048776-5C1D-5E27-DC36-35ACDDB9F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19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V</a:t>
                </a:r>
              </a:p>
            </p:txBody>
          </p:sp>
        </p:grpSp>
        <p:grpSp>
          <p:nvGrpSpPr>
            <p:cNvPr id="2139221" name="Group 85">
              <a:extLst>
                <a:ext uri="{FF2B5EF4-FFF2-40B4-BE49-F238E27FC236}">
                  <a16:creationId xmlns:a16="http://schemas.microsoft.com/office/drawing/2014/main" id="{C4FA39DC-58FA-BA88-1D08-6BB9C49499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584"/>
              <a:ext cx="624" cy="144"/>
              <a:chOff x="4272" y="1104"/>
              <a:chExt cx="624" cy="144"/>
            </a:xfrm>
          </p:grpSpPr>
          <p:sp>
            <p:nvSpPr>
              <p:cNvPr id="2139222" name="Rectangle 86">
                <a:extLst>
                  <a:ext uri="{FF2B5EF4-FFF2-40B4-BE49-F238E27FC236}">
                    <a16:creationId xmlns:a16="http://schemas.microsoft.com/office/drawing/2014/main" id="{17B4E8CB-1BD2-1012-C2CB-F5AE1A221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1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Tag</a:t>
                </a:r>
              </a:p>
            </p:txBody>
          </p:sp>
          <p:sp>
            <p:nvSpPr>
              <p:cNvPr id="2139223" name="Rectangle 87">
                <a:extLst>
                  <a:ext uri="{FF2B5EF4-FFF2-40B4-BE49-F238E27FC236}">
                    <a16:creationId xmlns:a16="http://schemas.microsoft.com/office/drawing/2014/main" id="{7BB21542-AE17-D7F4-BF19-731B4E7C9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19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V</a:t>
                </a:r>
              </a:p>
            </p:txBody>
          </p:sp>
        </p:grpSp>
      </p:grpSp>
      <p:sp>
        <p:nvSpPr>
          <p:cNvPr id="2139224" name="Freeform 88">
            <a:extLst>
              <a:ext uri="{FF2B5EF4-FFF2-40B4-BE49-F238E27FC236}">
                <a16:creationId xmlns:a16="http://schemas.microsoft.com/office/drawing/2014/main" id="{376971E0-9B28-F013-1BAD-8FDF3027623F}"/>
              </a:ext>
            </a:extLst>
          </p:cNvPr>
          <p:cNvSpPr>
            <a:spLocks/>
          </p:cNvSpPr>
          <p:nvPr/>
        </p:nvSpPr>
        <p:spPr bwMode="auto">
          <a:xfrm>
            <a:off x="5105400" y="3187700"/>
            <a:ext cx="1066800" cy="762000"/>
          </a:xfrm>
          <a:custGeom>
            <a:avLst/>
            <a:gdLst>
              <a:gd name="T0" fmla="*/ 624 w 624"/>
              <a:gd name="T1" fmla="*/ 0 h 288"/>
              <a:gd name="T2" fmla="*/ 624 w 624"/>
              <a:gd name="T3" fmla="*/ 288 h 288"/>
              <a:gd name="T4" fmla="*/ 0 w 624"/>
              <a:gd name="T5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24" h="288">
                <a:moveTo>
                  <a:pt x="624" y="0"/>
                </a:moveTo>
                <a:lnTo>
                  <a:pt x="624" y="288"/>
                </a:lnTo>
                <a:lnTo>
                  <a:pt x="0" y="288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25" name="Line 89">
            <a:extLst>
              <a:ext uri="{FF2B5EF4-FFF2-40B4-BE49-F238E27FC236}">
                <a16:creationId xmlns:a16="http://schemas.microsoft.com/office/drawing/2014/main" id="{967DC109-CA02-AD71-A76E-541D06BAF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025900"/>
            <a:ext cx="1588" cy="609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26" name="Text Box 90">
            <a:extLst>
              <a:ext uri="{FF2B5EF4-FFF2-40B4-BE49-F238E27FC236}">
                <a16:creationId xmlns:a16="http://schemas.microsoft.com/office/drawing/2014/main" id="{9D4C9AF6-7D5D-6E21-701B-E0AF35330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273300"/>
            <a:ext cx="1133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Rename Table</a:t>
            </a:r>
          </a:p>
        </p:txBody>
      </p:sp>
      <p:sp>
        <p:nvSpPr>
          <p:cNvPr id="2139227" name="Text Box 91">
            <a:extLst>
              <a:ext uri="{FF2B5EF4-FFF2-40B4-BE49-F238E27FC236}">
                <a16:creationId xmlns:a16="http://schemas.microsoft.com/office/drawing/2014/main" id="{32CC8F82-8455-751A-4FC1-6D8B6E7FB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2882900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R0</a:t>
            </a:r>
          </a:p>
        </p:txBody>
      </p:sp>
      <p:sp>
        <p:nvSpPr>
          <p:cNvPr id="2139228" name="Text Box 92">
            <a:extLst>
              <a:ext uri="{FF2B5EF4-FFF2-40B4-BE49-F238E27FC236}">
                <a16:creationId xmlns:a16="http://schemas.microsoft.com/office/drawing/2014/main" id="{E641982A-B5D1-BFD5-6677-6E18DB675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2349500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R30</a:t>
            </a:r>
          </a:p>
        </p:txBody>
      </p:sp>
      <p:sp>
        <p:nvSpPr>
          <p:cNvPr id="2139229" name="Text Box 93">
            <a:extLst>
              <a:ext uri="{FF2B5EF4-FFF2-40B4-BE49-F238E27FC236}">
                <a16:creationId xmlns:a16="http://schemas.microsoft.com/office/drawing/2014/main" id="{0F06FB63-EB73-9F08-FC5C-74BEAE583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2117725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R31</a:t>
            </a:r>
          </a:p>
        </p:txBody>
      </p:sp>
      <p:sp>
        <p:nvSpPr>
          <p:cNvPr id="2139230" name="Freeform 94">
            <a:extLst>
              <a:ext uri="{FF2B5EF4-FFF2-40B4-BE49-F238E27FC236}">
                <a16:creationId xmlns:a16="http://schemas.microsoft.com/office/drawing/2014/main" id="{7D4622E5-8218-117C-FB31-B53143FAAA6C}"/>
              </a:ext>
            </a:extLst>
          </p:cNvPr>
          <p:cNvSpPr>
            <a:spLocks/>
          </p:cNvSpPr>
          <p:nvPr/>
        </p:nvSpPr>
        <p:spPr bwMode="auto">
          <a:xfrm>
            <a:off x="4800600" y="1739900"/>
            <a:ext cx="1143000" cy="1066800"/>
          </a:xfrm>
          <a:custGeom>
            <a:avLst/>
            <a:gdLst>
              <a:gd name="T0" fmla="*/ 0 w 720"/>
              <a:gd name="T1" fmla="*/ 0 h 480"/>
              <a:gd name="T2" fmla="*/ 0 w 720"/>
              <a:gd name="T3" fmla="*/ 480 h 480"/>
              <a:gd name="T4" fmla="*/ 720 w 720"/>
              <a:gd name="T5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480">
                <a:moveTo>
                  <a:pt x="0" y="0"/>
                </a:moveTo>
                <a:lnTo>
                  <a:pt x="0" y="480"/>
                </a:lnTo>
                <a:lnTo>
                  <a:pt x="720" y="48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1" name="Freeform 95">
            <a:extLst>
              <a:ext uri="{FF2B5EF4-FFF2-40B4-BE49-F238E27FC236}">
                <a16:creationId xmlns:a16="http://schemas.microsoft.com/office/drawing/2014/main" id="{64B54A6C-9A38-30D1-CA02-A4A1BA8026F0}"/>
              </a:ext>
            </a:extLst>
          </p:cNvPr>
          <p:cNvSpPr>
            <a:spLocks/>
          </p:cNvSpPr>
          <p:nvPr/>
        </p:nvSpPr>
        <p:spPr bwMode="auto">
          <a:xfrm>
            <a:off x="4267200" y="3187700"/>
            <a:ext cx="2362200" cy="609600"/>
          </a:xfrm>
          <a:custGeom>
            <a:avLst/>
            <a:gdLst>
              <a:gd name="T0" fmla="*/ 1488 w 1488"/>
              <a:gd name="T1" fmla="*/ 0 h 240"/>
              <a:gd name="T2" fmla="*/ 1488 w 1488"/>
              <a:gd name="T3" fmla="*/ 96 h 240"/>
              <a:gd name="T4" fmla="*/ 0 w 1488"/>
              <a:gd name="T5" fmla="*/ 96 h 240"/>
              <a:gd name="T6" fmla="*/ 0 w 1488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88" h="240">
                <a:moveTo>
                  <a:pt x="1488" y="0"/>
                </a:moveTo>
                <a:lnTo>
                  <a:pt x="1488" y="96"/>
                </a:lnTo>
                <a:lnTo>
                  <a:pt x="0" y="96"/>
                </a:lnTo>
                <a:lnTo>
                  <a:pt x="0" y="24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2" name="Freeform 96">
            <a:extLst>
              <a:ext uri="{FF2B5EF4-FFF2-40B4-BE49-F238E27FC236}">
                <a16:creationId xmlns:a16="http://schemas.microsoft.com/office/drawing/2014/main" id="{0E56C6A3-604E-27AC-1837-C968C9A67648}"/>
              </a:ext>
            </a:extLst>
          </p:cNvPr>
          <p:cNvSpPr>
            <a:spLocks/>
          </p:cNvSpPr>
          <p:nvPr/>
        </p:nvSpPr>
        <p:spPr bwMode="auto">
          <a:xfrm>
            <a:off x="3352800" y="4025900"/>
            <a:ext cx="533400" cy="609600"/>
          </a:xfrm>
          <a:custGeom>
            <a:avLst/>
            <a:gdLst>
              <a:gd name="T0" fmla="*/ 0 w 336"/>
              <a:gd name="T1" fmla="*/ 0 h 384"/>
              <a:gd name="T2" fmla="*/ 0 w 336"/>
              <a:gd name="T3" fmla="*/ 192 h 384"/>
              <a:gd name="T4" fmla="*/ 336 w 336"/>
              <a:gd name="T5" fmla="*/ 192 h 384"/>
              <a:gd name="T6" fmla="*/ 336 w 336"/>
              <a:gd name="T7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" h="384">
                <a:moveTo>
                  <a:pt x="0" y="0"/>
                </a:moveTo>
                <a:lnTo>
                  <a:pt x="0" y="192"/>
                </a:lnTo>
                <a:lnTo>
                  <a:pt x="336" y="192"/>
                </a:lnTo>
                <a:lnTo>
                  <a:pt x="336" y="384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3" name="Text Box 97">
            <a:extLst>
              <a:ext uri="{FF2B5EF4-FFF2-40B4-BE49-F238E27FC236}">
                <a16:creationId xmlns:a16="http://schemas.microsoft.com/office/drawing/2014/main" id="{E5CF8F16-39DE-0C16-5001-EC7211F02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475" y="3263900"/>
            <a:ext cx="346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solidFill>
                  <a:srgbClr val="56127A"/>
                </a:solidFill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2139234" name="Line 98">
            <a:extLst>
              <a:ext uri="{FF2B5EF4-FFF2-40B4-BE49-F238E27FC236}">
                <a16:creationId xmlns:a16="http://schemas.microsoft.com/office/drawing/2014/main" id="{0A28AC70-C3D1-38D7-D794-B8C557FF3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644900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5" name="Text Box 99">
            <a:extLst>
              <a:ext uri="{FF2B5EF4-FFF2-40B4-BE49-F238E27FC236}">
                <a16:creationId xmlns:a16="http://schemas.microsoft.com/office/drawing/2014/main" id="{59D6312C-D99B-E8FE-2B12-7583A941D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3" y="3263900"/>
            <a:ext cx="35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Verdana" panose="020B0604030504040204" pitchFamily="34" charset="0"/>
              </a:rPr>
              <a:t>X</a:t>
            </a:r>
          </a:p>
        </p:txBody>
      </p:sp>
      <p:sp>
        <p:nvSpPr>
          <p:cNvPr id="2139236" name="Line 100">
            <a:extLst>
              <a:ext uri="{FF2B5EF4-FFF2-40B4-BE49-F238E27FC236}">
                <a16:creationId xmlns:a16="http://schemas.microsoft.com/office/drawing/2014/main" id="{CDE86BF2-EDC7-08C8-B058-0301A8884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8" y="3644900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7" name="Rectangle 101">
            <a:extLst>
              <a:ext uri="{FF2B5EF4-FFF2-40B4-BE49-F238E27FC236}">
                <a16:creationId xmlns:a16="http://schemas.microsoft.com/office/drawing/2014/main" id="{BD062F08-A7C8-A5F8-0CB1-BB264AC7F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197100"/>
            <a:ext cx="762000" cy="381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 sz="1600">
                <a:solidFill>
                  <a:srgbClr val="56127A"/>
                </a:solidFill>
                <a:latin typeface="Verdana" panose="020B0604030504040204" pitchFamily="34" charset="0"/>
              </a:rPr>
              <a:t>SignExt</a:t>
            </a:r>
          </a:p>
        </p:txBody>
      </p:sp>
      <p:sp>
        <p:nvSpPr>
          <p:cNvPr id="2139238" name="Line 102">
            <a:extLst>
              <a:ext uri="{FF2B5EF4-FFF2-40B4-BE49-F238E27FC236}">
                <a16:creationId xmlns:a16="http://schemas.microsoft.com/office/drawing/2014/main" id="{8CA1FE56-9CA9-DFDB-F31F-1F4C662F7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173990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39" name="Rectangle 103">
            <a:extLst>
              <a:ext uri="{FF2B5EF4-FFF2-40B4-BE49-F238E27FC236}">
                <a16:creationId xmlns:a16="http://schemas.microsoft.com/office/drawing/2014/main" id="{16BD9F7E-CE1B-95B4-5C08-143AB4064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120900"/>
            <a:ext cx="990600" cy="2286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240" name="Rectangle 104">
            <a:extLst>
              <a:ext uri="{FF2B5EF4-FFF2-40B4-BE49-F238E27FC236}">
                <a16:creationId xmlns:a16="http://schemas.microsoft.com/office/drawing/2014/main" id="{18AAB7F2-8D10-87EE-23C0-110CC03D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349500"/>
            <a:ext cx="990600" cy="2286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241" name="Rectangle 105">
            <a:extLst>
              <a:ext uri="{FF2B5EF4-FFF2-40B4-BE49-F238E27FC236}">
                <a16:creationId xmlns:a16="http://schemas.microsoft.com/office/drawing/2014/main" id="{8799EA7C-CC4E-C4C2-2276-58F003AA2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882900"/>
            <a:ext cx="990600" cy="2286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39242" name="Line 106">
            <a:extLst>
              <a:ext uri="{FF2B5EF4-FFF2-40B4-BE49-F238E27FC236}">
                <a16:creationId xmlns:a16="http://schemas.microsoft.com/office/drawing/2014/main" id="{A7E1CBA2-0BB2-D9B1-E651-2F0DE9D2C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5781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43" name="Line 107">
            <a:extLst>
              <a:ext uri="{FF2B5EF4-FFF2-40B4-BE49-F238E27FC236}">
                <a16:creationId xmlns:a16="http://schemas.microsoft.com/office/drawing/2014/main" id="{B433A06F-362D-7FE6-D929-CE12C1270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5781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44" name="Text Box 108">
            <a:extLst>
              <a:ext uri="{FF2B5EF4-FFF2-40B4-BE49-F238E27FC236}">
                <a16:creationId xmlns:a16="http://schemas.microsoft.com/office/drawing/2014/main" id="{47466CF8-02F1-181A-A34F-470DF9298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2844800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R0</a:t>
            </a:r>
          </a:p>
        </p:txBody>
      </p:sp>
      <p:sp>
        <p:nvSpPr>
          <p:cNvPr id="2139245" name="Text Box 109">
            <a:extLst>
              <a:ext uri="{FF2B5EF4-FFF2-40B4-BE49-F238E27FC236}">
                <a16:creationId xmlns:a16="http://schemas.microsoft.com/office/drawing/2014/main" id="{CE3EAEC7-CFDC-6DD4-86A2-EAFFFF4DA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025" y="2276475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R30</a:t>
            </a:r>
          </a:p>
        </p:txBody>
      </p:sp>
      <p:sp>
        <p:nvSpPr>
          <p:cNvPr id="2139246" name="Text Box 110">
            <a:extLst>
              <a:ext uri="{FF2B5EF4-FFF2-40B4-BE49-F238E27FC236}">
                <a16:creationId xmlns:a16="http://schemas.microsoft.com/office/drawing/2014/main" id="{178A3F5C-B7D4-EFD4-1E0D-55E16E076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044700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R31</a:t>
            </a:r>
          </a:p>
        </p:txBody>
      </p:sp>
      <p:sp>
        <p:nvSpPr>
          <p:cNvPr id="2139247" name="Text Box 111">
            <a:extLst>
              <a:ext uri="{FF2B5EF4-FFF2-40B4-BE49-F238E27FC236}">
                <a16:creationId xmlns:a16="http://schemas.microsoft.com/office/drawing/2014/main" id="{C7A466BC-88A7-3EF2-AC2C-955F5FADD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2273300"/>
            <a:ext cx="1752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latin typeface="Verdana" panose="020B0604030504040204" pitchFamily="34" charset="0"/>
              </a:rPr>
              <a:t>Committed Architectural Regfile</a:t>
            </a:r>
          </a:p>
        </p:txBody>
      </p:sp>
      <p:sp>
        <p:nvSpPr>
          <p:cNvPr id="2139248" name="Line 112">
            <a:extLst>
              <a:ext uri="{FF2B5EF4-FFF2-40B4-BE49-F238E27FC236}">
                <a16:creationId xmlns:a16="http://schemas.microsoft.com/office/drawing/2014/main" id="{2C50DB2C-C515-894C-DC0F-DC1DC893F0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806700"/>
            <a:ext cx="1143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49" name="Freeform 113">
            <a:extLst>
              <a:ext uri="{FF2B5EF4-FFF2-40B4-BE49-F238E27FC236}">
                <a16:creationId xmlns:a16="http://schemas.microsoft.com/office/drawing/2014/main" id="{09E2D68D-9AD9-5444-4611-8F3E55222676}"/>
              </a:ext>
            </a:extLst>
          </p:cNvPr>
          <p:cNvSpPr>
            <a:spLocks/>
          </p:cNvSpPr>
          <p:nvPr/>
        </p:nvSpPr>
        <p:spPr bwMode="auto">
          <a:xfrm>
            <a:off x="3200400" y="3111500"/>
            <a:ext cx="1524000" cy="685800"/>
          </a:xfrm>
          <a:custGeom>
            <a:avLst/>
            <a:gdLst>
              <a:gd name="T0" fmla="*/ 0 w 960"/>
              <a:gd name="T1" fmla="*/ 0 h 432"/>
              <a:gd name="T2" fmla="*/ 0 w 960"/>
              <a:gd name="T3" fmla="*/ 48 h 432"/>
              <a:gd name="T4" fmla="*/ 960 w 960"/>
              <a:gd name="T5" fmla="*/ 48 h 432"/>
              <a:gd name="T6" fmla="*/ 960 w 960"/>
              <a:gd name="T7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0" h="432">
                <a:moveTo>
                  <a:pt x="0" y="0"/>
                </a:moveTo>
                <a:lnTo>
                  <a:pt x="0" y="48"/>
                </a:lnTo>
                <a:lnTo>
                  <a:pt x="960" y="48"/>
                </a:lnTo>
                <a:lnTo>
                  <a:pt x="960" y="432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0" name="Text Box 114">
            <a:extLst>
              <a:ext uri="{FF2B5EF4-FFF2-40B4-BE49-F238E27FC236}">
                <a16:creationId xmlns:a16="http://schemas.microsoft.com/office/drawing/2014/main" id="{B8CE6752-FE9A-8300-C867-6CCC9963B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00" y="1385888"/>
            <a:ext cx="345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 i="1">
                <a:solidFill>
                  <a:srgbClr val="56127A"/>
                </a:solidFill>
                <a:latin typeface="Verdana" panose="020B0604030504040204" pitchFamily="34" charset="0"/>
              </a:rPr>
              <a:t>(Renaming is shown only for Rsrc2, similar for Rsrc1)</a:t>
            </a:r>
            <a:endParaRPr lang="en-US" altLang="en-US" sz="1800">
              <a:solidFill>
                <a:srgbClr val="56127A"/>
              </a:solidFill>
              <a:latin typeface="Verdana" panose="020B0604030504040204" pitchFamily="34" charset="0"/>
            </a:endParaRPr>
          </a:p>
        </p:txBody>
      </p:sp>
      <p:sp>
        <p:nvSpPr>
          <p:cNvPr id="2139251" name="Freeform 115">
            <a:extLst>
              <a:ext uri="{FF2B5EF4-FFF2-40B4-BE49-F238E27FC236}">
                <a16:creationId xmlns:a16="http://schemas.microsoft.com/office/drawing/2014/main" id="{8AF17BBC-57FB-EE22-85B9-B83FCAEDECA3}"/>
              </a:ext>
            </a:extLst>
          </p:cNvPr>
          <p:cNvSpPr>
            <a:spLocks/>
          </p:cNvSpPr>
          <p:nvPr/>
        </p:nvSpPr>
        <p:spPr bwMode="auto">
          <a:xfrm>
            <a:off x="5016500" y="3594100"/>
            <a:ext cx="3670300" cy="2806700"/>
          </a:xfrm>
          <a:custGeom>
            <a:avLst/>
            <a:gdLst>
              <a:gd name="T0" fmla="*/ 1256 w 2312"/>
              <a:gd name="T1" fmla="*/ 1672 h 1768"/>
              <a:gd name="T2" fmla="*/ 1256 w 2312"/>
              <a:gd name="T3" fmla="*/ 1768 h 1768"/>
              <a:gd name="T4" fmla="*/ 2312 w 2312"/>
              <a:gd name="T5" fmla="*/ 1768 h 1768"/>
              <a:gd name="T6" fmla="*/ 2304 w 2312"/>
              <a:gd name="T7" fmla="*/ 0 h 1768"/>
              <a:gd name="T8" fmla="*/ 0 w 2312"/>
              <a:gd name="T9" fmla="*/ 0 h 1768"/>
              <a:gd name="T10" fmla="*/ 0 w 2312"/>
              <a:gd name="T11" fmla="*/ 128 h 1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12" h="1768">
                <a:moveTo>
                  <a:pt x="1256" y="1672"/>
                </a:moveTo>
                <a:lnTo>
                  <a:pt x="1256" y="1768"/>
                </a:lnTo>
                <a:lnTo>
                  <a:pt x="2312" y="1768"/>
                </a:lnTo>
                <a:lnTo>
                  <a:pt x="2304" y="0"/>
                </a:lnTo>
                <a:lnTo>
                  <a:pt x="0" y="0"/>
                </a:lnTo>
                <a:lnTo>
                  <a:pt x="0" y="128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2" name="Freeform 116">
            <a:extLst>
              <a:ext uri="{FF2B5EF4-FFF2-40B4-BE49-F238E27FC236}">
                <a16:creationId xmlns:a16="http://schemas.microsoft.com/office/drawing/2014/main" id="{3521AE59-DF71-C3A7-70DC-9D501703483D}"/>
              </a:ext>
            </a:extLst>
          </p:cNvPr>
          <p:cNvSpPr>
            <a:spLocks/>
          </p:cNvSpPr>
          <p:nvPr/>
        </p:nvSpPr>
        <p:spPr bwMode="auto">
          <a:xfrm>
            <a:off x="3505200" y="3289300"/>
            <a:ext cx="5334000" cy="3263900"/>
          </a:xfrm>
          <a:custGeom>
            <a:avLst/>
            <a:gdLst>
              <a:gd name="T0" fmla="*/ 1440 w 3360"/>
              <a:gd name="T1" fmla="*/ 1864 h 2056"/>
              <a:gd name="T2" fmla="*/ 1440 w 3360"/>
              <a:gd name="T3" fmla="*/ 2056 h 2056"/>
              <a:gd name="T4" fmla="*/ 3360 w 3360"/>
              <a:gd name="T5" fmla="*/ 2056 h 2056"/>
              <a:gd name="T6" fmla="*/ 3360 w 3360"/>
              <a:gd name="T7" fmla="*/ 16 h 2056"/>
              <a:gd name="T8" fmla="*/ 8 w 3360"/>
              <a:gd name="T9" fmla="*/ 0 h 2056"/>
              <a:gd name="T10" fmla="*/ 0 w 3360"/>
              <a:gd name="T11" fmla="*/ 312 h 2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60" h="2056">
                <a:moveTo>
                  <a:pt x="1440" y="1864"/>
                </a:moveTo>
                <a:lnTo>
                  <a:pt x="1440" y="2056"/>
                </a:lnTo>
                <a:lnTo>
                  <a:pt x="3360" y="2056"/>
                </a:lnTo>
                <a:lnTo>
                  <a:pt x="3360" y="16"/>
                </a:lnTo>
                <a:lnTo>
                  <a:pt x="8" y="0"/>
                </a:lnTo>
                <a:lnTo>
                  <a:pt x="0" y="312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3" name="Freeform 117">
            <a:extLst>
              <a:ext uri="{FF2B5EF4-FFF2-40B4-BE49-F238E27FC236}">
                <a16:creationId xmlns:a16="http://schemas.microsoft.com/office/drawing/2014/main" id="{70C64C94-DDFC-DAF1-1C79-69DA70591628}"/>
              </a:ext>
            </a:extLst>
          </p:cNvPr>
          <p:cNvSpPr>
            <a:spLocks/>
          </p:cNvSpPr>
          <p:nvPr/>
        </p:nvSpPr>
        <p:spPr bwMode="auto">
          <a:xfrm>
            <a:off x="6629400" y="3416300"/>
            <a:ext cx="1752600" cy="2438400"/>
          </a:xfrm>
          <a:custGeom>
            <a:avLst/>
            <a:gdLst>
              <a:gd name="T0" fmla="*/ 0 w 1104"/>
              <a:gd name="T1" fmla="*/ 0 h 1536"/>
              <a:gd name="T2" fmla="*/ 0 w 1104"/>
              <a:gd name="T3" fmla="*/ 432 h 1536"/>
              <a:gd name="T4" fmla="*/ 1104 w 1104"/>
              <a:gd name="T5" fmla="*/ 432 h 1536"/>
              <a:gd name="T6" fmla="*/ 1104 w 1104"/>
              <a:gd name="T7" fmla="*/ 1536 h 1536"/>
              <a:gd name="T8" fmla="*/ 912 w 1104"/>
              <a:gd name="T9" fmla="*/ 1536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04" h="1536">
                <a:moveTo>
                  <a:pt x="0" y="0"/>
                </a:moveTo>
                <a:lnTo>
                  <a:pt x="0" y="432"/>
                </a:lnTo>
                <a:lnTo>
                  <a:pt x="1104" y="432"/>
                </a:lnTo>
                <a:lnTo>
                  <a:pt x="1104" y="1536"/>
                </a:lnTo>
                <a:lnTo>
                  <a:pt x="912" y="1536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4" name="Line 118">
            <a:extLst>
              <a:ext uri="{FF2B5EF4-FFF2-40B4-BE49-F238E27FC236}">
                <a16:creationId xmlns:a16="http://schemas.microsoft.com/office/drawing/2014/main" id="{B5B31A8E-E302-7CD2-9998-309BF2ABFD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3949700"/>
            <a:ext cx="304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5" name="Line 119">
            <a:extLst>
              <a:ext uri="{FF2B5EF4-FFF2-40B4-BE49-F238E27FC236}">
                <a16:creationId xmlns:a16="http://schemas.microsoft.com/office/drawing/2014/main" id="{2FFB5B92-9CCF-B05F-3462-5E65B60BEA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3949700"/>
            <a:ext cx="304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9258" name="Text Box 122">
            <a:extLst>
              <a:ext uri="{FF2B5EF4-FFF2-40B4-BE49-F238E27FC236}">
                <a16:creationId xmlns:a16="http://schemas.microsoft.com/office/drawing/2014/main" id="{6F500699-00CF-8C00-AAE5-C07B18D86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553075"/>
            <a:ext cx="955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800" i="1">
                <a:solidFill>
                  <a:srgbClr val="FFA74F"/>
                </a:solidFill>
                <a:latin typeface="Verdana" panose="020B0604030504040204" pitchFamily="34" charset="0"/>
              </a:rPr>
              <a:t>ROB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18" name="AutoShape 58">
            <a:extLst>
              <a:ext uri="{FF2B5EF4-FFF2-40B4-BE49-F238E27FC236}">
                <a16:creationId xmlns:a16="http://schemas.microsoft.com/office/drawing/2014/main" id="{6858D9BD-8817-D082-5A90-EC9465D5A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562600"/>
            <a:ext cx="2057400" cy="3810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Verdana" panose="020B0604030504040204" pitchFamily="34" charset="0"/>
              </a:rPr>
              <a:t>Func. Unit</a:t>
            </a:r>
          </a:p>
        </p:txBody>
      </p:sp>
      <p:sp>
        <p:nvSpPr>
          <p:cNvPr id="2140219" name="Line 59">
            <a:extLst>
              <a:ext uri="{FF2B5EF4-FFF2-40B4-BE49-F238E27FC236}">
                <a16:creationId xmlns:a16="http://schemas.microsoft.com/office/drawing/2014/main" id="{DA1E640C-3322-3894-4CE9-3D0C71173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8006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0" name="Line 60">
            <a:extLst>
              <a:ext uri="{FF2B5EF4-FFF2-40B4-BE49-F238E27FC236}">
                <a16:creationId xmlns:a16="http://schemas.microsoft.com/office/drawing/2014/main" id="{35F67A3D-97F7-5B2E-A0B4-E2C5D32C5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8006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1" name="Freeform 61">
            <a:extLst>
              <a:ext uri="{FF2B5EF4-FFF2-40B4-BE49-F238E27FC236}">
                <a16:creationId xmlns:a16="http://schemas.microsoft.com/office/drawing/2014/main" id="{146E7CB3-89A6-97A9-2A3C-4D98D247E409}"/>
              </a:ext>
            </a:extLst>
          </p:cNvPr>
          <p:cNvSpPr>
            <a:spLocks/>
          </p:cNvSpPr>
          <p:nvPr/>
        </p:nvSpPr>
        <p:spPr bwMode="auto">
          <a:xfrm>
            <a:off x="1524000" y="4800600"/>
            <a:ext cx="2362200" cy="914400"/>
          </a:xfrm>
          <a:custGeom>
            <a:avLst/>
            <a:gdLst>
              <a:gd name="T0" fmla="*/ 0 w 1488"/>
              <a:gd name="T1" fmla="*/ 0 h 576"/>
              <a:gd name="T2" fmla="*/ 0 w 1488"/>
              <a:gd name="T3" fmla="*/ 576 h 576"/>
              <a:gd name="T4" fmla="*/ 1488 w 1488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8" h="576">
                <a:moveTo>
                  <a:pt x="0" y="0"/>
                </a:moveTo>
                <a:lnTo>
                  <a:pt x="0" y="576"/>
                </a:lnTo>
                <a:lnTo>
                  <a:pt x="1488" y="576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31" name="Rectangle 71">
            <a:extLst>
              <a:ext uri="{FF2B5EF4-FFF2-40B4-BE49-F238E27FC236}">
                <a16:creationId xmlns:a16="http://schemas.microsoft.com/office/drawing/2014/main" id="{2D4515C8-D7AA-856C-A325-124D532AB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3911600"/>
            <a:ext cx="7391400" cy="673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40162" name="Rectangle 2">
            <a:extLst>
              <a:ext uri="{FF2B5EF4-FFF2-40B4-BE49-F238E27FC236}">
                <a16:creationId xmlns:a16="http://schemas.microsoft.com/office/drawing/2014/main" id="{05926093-AD67-3353-7EC1-94915D0A7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225" y="442913"/>
            <a:ext cx="7648575" cy="831850"/>
          </a:xfrm>
        </p:spPr>
        <p:txBody>
          <a:bodyPr/>
          <a:lstStyle/>
          <a:p>
            <a:r>
              <a:rPr lang="en-US" altLang="en-US"/>
              <a:t>Execute Stage</a:t>
            </a:r>
          </a:p>
        </p:txBody>
      </p:sp>
      <p:grpSp>
        <p:nvGrpSpPr>
          <p:cNvPr id="2140230" name="Group 70">
            <a:extLst>
              <a:ext uri="{FF2B5EF4-FFF2-40B4-BE49-F238E27FC236}">
                <a16:creationId xmlns:a16="http://schemas.microsoft.com/office/drawing/2014/main" id="{DD911674-53E8-5245-0926-F9604E28EFE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619500"/>
            <a:ext cx="7391400" cy="304800"/>
            <a:chOff x="624" y="2456"/>
            <a:chExt cx="4656" cy="192"/>
          </a:xfrm>
        </p:grpSpPr>
        <p:sp>
          <p:nvSpPr>
            <p:cNvPr id="2140164" name="Rectangle 4">
              <a:extLst>
                <a:ext uri="{FF2B5EF4-FFF2-40B4-BE49-F238E27FC236}">
                  <a16:creationId xmlns:a16="http://schemas.microsoft.com/office/drawing/2014/main" id="{EC15919C-6512-467E-60DA-39CAD4B4B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56"/>
              <a:ext cx="566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Opcode</a:t>
              </a:r>
            </a:p>
          </p:txBody>
        </p:sp>
        <p:sp>
          <p:nvSpPr>
            <p:cNvPr id="2140165" name="Rectangle 5">
              <a:extLst>
                <a:ext uri="{FF2B5EF4-FFF2-40B4-BE49-F238E27FC236}">
                  <a16:creationId xmlns:a16="http://schemas.microsoft.com/office/drawing/2014/main" id="{7698EC5B-1E28-F3AB-52D0-61A7A1C8C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2456"/>
              <a:ext cx="17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U</a:t>
              </a:r>
            </a:p>
          </p:txBody>
        </p:sp>
        <p:sp>
          <p:nvSpPr>
            <p:cNvPr id="2140166" name="Rectangle 6">
              <a:extLst>
                <a:ext uri="{FF2B5EF4-FFF2-40B4-BE49-F238E27FC236}">
                  <a16:creationId xmlns:a16="http://schemas.microsoft.com/office/drawing/2014/main" id="{E27E30C7-00CF-9E83-3BC8-60C685D6A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456"/>
              <a:ext cx="17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2140167" name="Rectangle 7">
              <a:extLst>
                <a:ext uri="{FF2B5EF4-FFF2-40B4-BE49-F238E27FC236}">
                  <a16:creationId xmlns:a16="http://schemas.microsoft.com/office/drawing/2014/main" id="{1836FDB2-12A7-94C0-012B-0232110FD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" y="2456"/>
              <a:ext cx="391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Tag1</a:t>
              </a:r>
            </a:p>
          </p:txBody>
        </p:sp>
        <p:sp>
          <p:nvSpPr>
            <p:cNvPr id="2140168" name="Rectangle 8">
              <a:extLst>
                <a:ext uri="{FF2B5EF4-FFF2-40B4-BE49-F238E27FC236}">
                  <a16:creationId xmlns:a16="http://schemas.microsoft.com/office/drawing/2014/main" id="{C524F036-4E78-9E72-3531-52DF52D3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456"/>
              <a:ext cx="21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P1</a:t>
              </a:r>
            </a:p>
          </p:txBody>
        </p:sp>
        <p:sp>
          <p:nvSpPr>
            <p:cNvPr id="2140169" name="Rectangle 9">
              <a:extLst>
                <a:ext uri="{FF2B5EF4-FFF2-40B4-BE49-F238E27FC236}">
                  <a16:creationId xmlns:a16="http://schemas.microsoft.com/office/drawing/2014/main" id="{95E37C2F-03D0-B310-D81D-927DD44E9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" y="2456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Data1</a:t>
              </a:r>
            </a:p>
          </p:txBody>
        </p:sp>
        <p:sp>
          <p:nvSpPr>
            <p:cNvPr id="2140170" name="Rectangle 10">
              <a:extLst>
                <a:ext uri="{FF2B5EF4-FFF2-40B4-BE49-F238E27FC236}">
                  <a16:creationId xmlns:a16="http://schemas.microsoft.com/office/drawing/2014/main" id="{0CC48441-2EFD-0BCE-2188-101F6FDCC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" y="2456"/>
              <a:ext cx="392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Tag2</a:t>
              </a:r>
            </a:p>
          </p:txBody>
        </p:sp>
        <p:sp>
          <p:nvSpPr>
            <p:cNvPr id="2140171" name="Rectangle 11">
              <a:extLst>
                <a:ext uri="{FF2B5EF4-FFF2-40B4-BE49-F238E27FC236}">
                  <a16:creationId xmlns:a16="http://schemas.microsoft.com/office/drawing/2014/main" id="{B44427FA-0AD6-F9F4-EB9D-0AB82C260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2456"/>
              <a:ext cx="217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P2</a:t>
              </a:r>
            </a:p>
          </p:txBody>
        </p:sp>
        <p:sp>
          <p:nvSpPr>
            <p:cNvPr id="2140172" name="Rectangle 12">
              <a:extLst>
                <a:ext uri="{FF2B5EF4-FFF2-40B4-BE49-F238E27FC236}">
                  <a16:creationId xmlns:a16="http://schemas.microsoft.com/office/drawing/2014/main" id="{183D777B-BA0E-B210-759F-0CDEA95A0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2456"/>
              <a:ext cx="47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Data2</a:t>
              </a:r>
            </a:p>
          </p:txBody>
        </p:sp>
        <p:sp>
          <p:nvSpPr>
            <p:cNvPr id="2140173" name="Rectangle 13">
              <a:extLst>
                <a:ext uri="{FF2B5EF4-FFF2-40B4-BE49-F238E27FC236}">
                  <a16:creationId xmlns:a16="http://schemas.microsoft.com/office/drawing/2014/main" id="{C4FFCCE2-D832-B873-7514-70047EABA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2456"/>
              <a:ext cx="391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Rd</a:t>
              </a:r>
            </a:p>
          </p:txBody>
        </p:sp>
        <p:sp>
          <p:nvSpPr>
            <p:cNvPr id="2140174" name="Rectangle 14">
              <a:extLst>
                <a:ext uri="{FF2B5EF4-FFF2-40B4-BE49-F238E27FC236}">
                  <a16:creationId xmlns:a16="http://schemas.microsoft.com/office/drawing/2014/main" id="{B45CE550-610A-DC1D-8FB2-FE5C3BCB0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2456"/>
              <a:ext cx="218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Pd</a:t>
              </a:r>
            </a:p>
          </p:txBody>
        </p:sp>
        <p:sp>
          <p:nvSpPr>
            <p:cNvPr id="2140175" name="Rectangle 15">
              <a:extLst>
                <a:ext uri="{FF2B5EF4-FFF2-40B4-BE49-F238E27FC236}">
                  <a16:creationId xmlns:a16="http://schemas.microsoft.com/office/drawing/2014/main" id="{05BD9639-3683-8BA9-6CC0-AFD2A42E4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2456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Datad</a:t>
              </a:r>
            </a:p>
          </p:txBody>
        </p:sp>
        <p:sp>
          <p:nvSpPr>
            <p:cNvPr id="2140176" name="Rectangle 16">
              <a:extLst>
                <a:ext uri="{FF2B5EF4-FFF2-40B4-BE49-F238E27FC236}">
                  <a16:creationId xmlns:a16="http://schemas.microsoft.com/office/drawing/2014/main" id="{F930E7F4-7A1F-3B40-34FA-BEC1A23AB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" y="2456"/>
              <a:ext cx="479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Cause</a:t>
              </a:r>
            </a:p>
          </p:txBody>
        </p:sp>
      </p:grpSp>
      <p:grpSp>
        <p:nvGrpSpPr>
          <p:cNvPr id="2140195" name="Group 35">
            <a:extLst>
              <a:ext uri="{FF2B5EF4-FFF2-40B4-BE49-F238E27FC236}">
                <a16:creationId xmlns:a16="http://schemas.microsoft.com/office/drawing/2014/main" id="{2084BF4E-DFCE-6BE3-3DAF-36A56716FC7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559300"/>
            <a:ext cx="7391400" cy="304800"/>
            <a:chOff x="240" y="1632"/>
            <a:chExt cx="5136" cy="240"/>
          </a:xfrm>
        </p:grpSpPr>
        <p:grpSp>
          <p:nvGrpSpPr>
            <p:cNvPr id="2140196" name="Group 36">
              <a:extLst>
                <a:ext uri="{FF2B5EF4-FFF2-40B4-BE49-F238E27FC236}">
                  <a16:creationId xmlns:a16="http://schemas.microsoft.com/office/drawing/2014/main" id="{3FDCC0EC-79CF-B437-DFE1-12046EA1C1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632"/>
              <a:ext cx="1008" cy="240"/>
              <a:chOff x="912" y="1776"/>
              <a:chExt cx="1008" cy="240"/>
            </a:xfrm>
          </p:grpSpPr>
          <p:sp>
            <p:nvSpPr>
              <p:cNvPr id="2140197" name="Rectangle 37">
                <a:extLst>
                  <a:ext uri="{FF2B5EF4-FFF2-40B4-BE49-F238E27FC236}">
                    <a16:creationId xmlns:a16="http://schemas.microsoft.com/office/drawing/2014/main" id="{9F6D8CE1-142F-C114-ED8C-39AE90104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776"/>
                <a:ext cx="624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Opcode</a:t>
                </a:r>
              </a:p>
            </p:txBody>
          </p:sp>
          <p:sp>
            <p:nvSpPr>
              <p:cNvPr id="2140198" name="Rectangle 38">
                <a:extLst>
                  <a:ext uri="{FF2B5EF4-FFF2-40B4-BE49-F238E27FC236}">
                    <a16:creationId xmlns:a16="http://schemas.microsoft.com/office/drawing/2014/main" id="{E20A987F-8FEF-007D-28BB-C105A5517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192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U</a:t>
                </a:r>
              </a:p>
            </p:txBody>
          </p:sp>
          <p:sp>
            <p:nvSpPr>
              <p:cNvPr id="2140199" name="Rectangle 39">
                <a:extLst>
                  <a:ext uri="{FF2B5EF4-FFF2-40B4-BE49-F238E27FC236}">
                    <a16:creationId xmlns:a16="http://schemas.microsoft.com/office/drawing/2014/main" id="{1AB0F448-90AE-8FD2-E87A-1DD9663B8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92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E</a:t>
                </a:r>
              </a:p>
            </p:txBody>
          </p:sp>
        </p:grpSp>
        <p:grpSp>
          <p:nvGrpSpPr>
            <p:cNvPr id="2140200" name="Group 40">
              <a:extLst>
                <a:ext uri="{FF2B5EF4-FFF2-40B4-BE49-F238E27FC236}">
                  <a16:creationId xmlns:a16="http://schemas.microsoft.com/office/drawing/2014/main" id="{46E33581-5B5B-D549-438C-F05E999D01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632"/>
              <a:ext cx="1200" cy="240"/>
              <a:chOff x="1920" y="1776"/>
              <a:chExt cx="1200" cy="240"/>
            </a:xfrm>
          </p:grpSpPr>
          <p:sp>
            <p:nvSpPr>
              <p:cNvPr id="2140201" name="Rectangle 41">
                <a:extLst>
                  <a:ext uri="{FF2B5EF4-FFF2-40B4-BE49-F238E27FC236}">
                    <a16:creationId xmlns:a16="http://schemas.microsoft.com/office/drawing/2014/main" id="{16A93527-DF25-73AF-7ACF-832052863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432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Tag1</a:t>
                </a:r>
              </a:p>
            </p:txBody>
          </p:sp>
          <p:sp>
            <p:nvSpPr>
              <p:cNvPr id="2140202" name="Rectangle 42">
                <a:extLst>
                  <a:ext uri="{FF2B5EF4-FFF2-40B4-BE49-F238E27FC236}">
                    <a16:creationId xmlns:a16="http://schemas.microsoft.com/office/drawing/2014/main" id="{A264BC67-BABC-7F37-6C90-0C746B2B4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240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P1</a:t>
                </a:r>
              </a:p>
            </p:txBody>
          </p:sp>
          <p:sp>
            <p:nvSpPr>
              <p:cNvPr id="2140203" name="Rectangle 43">
                <a:extLst>
                  <a:ext uri="{FF2B5EF4-FFF2-40B4-BE49-F238E27FC236}">
                    <a16:creationId xmlns:a16="http://schemas.microsoft.com/office/drawing/2014/main" id="{A94A094B-3102-6606-FE20-92455EC5E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528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Data1</a:t>
                </a:r>
              </a:p>
            </p:txBody>
          </p:sp>
        </p:grpSp>
        <p:grpSp>
          <p:nvGrpSpPr>
            <p:cNvPr id="2140204" name="Group 44">
              <a:extLst>
                <a:ext uri="{FF2B5EF4-FFF2-40B4-BE49-F238E27FC236}">
                  <a16:creationId xmlns:a16="http://schemas.microsoft.com/office/drawing/2014/main" id="{71C3EA6C-D6D8-78D0-5ED8-F174D987A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1200" cy="240"/>
              <a:chOff x="1920" y="1776"/>
              <a:chExt cx="1200" cy="240"/>
            </a:xfrm>
          </p:grpSpPr>
          <p:sp>
            <p:nvSpPr>
              <p:cNvPr id="2140205" name="Rectangle 45">
                <a:extLst>
                  <a:ext uri="{FF2B5EF4-FFF2-40B4-BE49-F238E27FC236}">
                    <a16:creationId xmlns:a16="http://schemas.microsoft.com/office/drawing/2014/main" id="{E835218A-D807-52AD-DD44-0FBC5B49A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432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Tag2</a:t>
                </a:r>
              </a:p>
            </p:txBody>
          </p:sp>
          <p:sp>
            <p:nvSpPr>
              <p:cNvPr id="2140206" name="Rectangle 46">
                <a:extLst>
                  <a:ext uri="{FF2B5EF4-FFF2-40B4-BE49-F238E27FC236}">
                    <a16:creationId xmlns:a16="http://schemas.microsoft.com/office/drawing/2014/main" id="{094FF06B-B800-2FED-D834-B1BB0AC5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76"/>
                <a:ext cx="240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P2</a:t>
                </a:r>
              </a:p>
            </p:txBody>
          </p:sp>
          <p:sp>
            <p:nvSpPr>
              <p:cNvPr id="2140207" name="Rectangle 47">
                <a:extLst>
                  <a:ext uri="{FF2B5EF4-FFF2-40B4-BE49-F238E27FC236}">
                    <a16:creationId xmlns:a16="http://schemas.microsoft.com/office/drawing/2014/main" id="{F036A36C-9945-9EC6-46B5-68F0BF3F8A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528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Data2</a:t>
                </a:r>
              </a:p>
            </p:txBody>
          </p:sp>
        </p:grpSp>
        <p:grpSp>
          <p:nvGrpSpPr>
            <p:cNvPr id="2140208" name="Group 48">
              <a:extLst>
                <a:ext uri="{FF2B5EF4-FFF2-40B4-BE49-F238E27FC236}">
                  <a16:creationId xmlns:a16="http://schemas.microsoft.com/office/drawing/2014/main" id="{8BA73057-9E9D-5D2D-FC5D-4315A838F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32"/>
              <a:ext cx="1728" cy="240"/>
              <a:chOff x="2640" y="2208"/>
              <a:chExt cx="1728" cy="240"/>
            </a:xfrm>
          </p:grpSpPr>
          <p:sp>
            <p:nvSpPr>
              <p:cNvPr id="2140209" name="Rectangle 49">
                <a:extLst>
                  <a:ext uri="{FF2B5EF4-FFF2-40B4-BE49-F238E27FC236}">
                    <a16:creationId xmlns:a16="http://schemas.microsoft.com/office/drawing/2014/main" id="{30EDA6D0-42F8-547A-AC72-0D29388AB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208"/>
                <a:ext cx="432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Rd</a:t>
                </a:r>
              </a:p>
            </p:txBody>
          </p:sp>
          <p:sp>
            <p:nvSpPr>
              <p:cNvPr id="2140210" name="Rectangle 50">
                <a:extLst>
                  <a:ext uri="{FF2B5EF4-FFF2-40B4-BE49-F238E27FC236}">
                    <a16:creationId xmlns:a16="http://schemas.microsoft.com/office/drawing/2014/main" id="{6D8F1B46-2CB2-6BBD-53DB-015CB0CDC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208"/>
                <a:ext cx="240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Pd</a:t>
                </a:r>
              </a:p>
            </p:txBody>
          </p:sp>
          <p:sp>
            <p:nvSpPr>
              <p:cNvPr id="2140211" name="Rectangle 51">
                <a:extLst>
                  <a:ext uri="{FF2B5EF4-FFF2-40B4-BE49-F238E27FC236}">
                    <a16:creationId xmlns:a16="http://schemas.microsoft.com/office/drawing/2014/main" id="{2CD665EA-8044-53CB-DB09-FAF788FD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208"/>
                <a:ext cx="528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Datad</a:t>
                </a:r>
              </a:p>
            </p:txBody>
          </p:sp>
          <p:sp>
            <p:nvSpPr>
              <p:cNvPr id="2140212" name="Rectangle 52">
                <a:extLst>
                  <a:ext uri="{FF2B5EF4-FFF2-40B4-BE49-F238E27FC236}">
                    <a16:creationId xmlns:a16="http://schemas.microsoft.com/office/drawing/2014/main" id="{3956380E-86A4-1204-2EC1-BAD9E663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208"/>
                <a:ext cx="528" cy="2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en-US" sz="1800">
                    <a:solidFill>
                      <a:srgbClr val="56127A"/>
                    </a:solidFill>
                    <a:latin typeface="Verdana" panose="020B0604030504040204" pitchFamily="34" charset="0"/>
                  </a:rPr>
                  <a:t>Cause</a:t>
                </a:r>
              </a:p>
            </p:txBody>
          </p:sp>
        </p:grpSp>
      </p:grpSp>
      <p:sp>
        <p:nvSpPr>
          <p:cNvPr id="2140213" name="Line 53">
            <a:extLst>
              <a:ext uri="{FF2B5EF4-FFF2-40B4-BE49-F238E27FC236}">
                <a16:creationId xmlns:a16="http://schemas.microsoft.com/office/drawing/2014/main" id="{3A8F6333-D6F7-EDBC-B7F3-D5B15C7CB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7973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14" name="Line 54">
            <a:extLst>
              <a:ext uri="{FF2B5EF4-FFF2-40B4-BE49-F238E27FC236}">
                <a16:creationId xmlns:a16="http://schemas.microsoft.com/office/drawing/2014/main" id="{7428E498-2C93-22B6-30A8-5DD4A05F1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7973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15" name="Text Box 55">
            <a:extLst>
              <a:ext uri="{FF2B5EF4-FFF2-40B4-BE49-F238E27FC236}">
                <a16:creationId xmlns:a16="http://schemas.microsoft.com/office/drawing/2014/main" id="{30A14FC6-B31D-3E6D-0CDD-8E46F19E8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3619500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t1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40216" name="Text Box 56">
            <a:extLst>
              <a:ext uri="{FF2B5EF4-FFF2-40B4-BE49-F238E27FC236}">
                <a16:creationId xmlns:a16="http://schemas.microsoft.com/office/drawing/2014/main" id="{75BD2DDF-E249-AD6C-FE48-3B9C09B58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3924300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t2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40217" name="Text Box 57">
            <a:extLst>
              <a:ext uri="{FF2B5EF4-FFF2-40B4-BE49-F238E27FC236}">
                <a16:creationId xmlns:a16="http://schemas.microsoft.com/office/drawing/2014/main" id="{41B76C9D-010F-8EE9-EA73-CDB324635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4559300"/>
            <a:ext cx="419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latin typeface="Verdana" panose="020B0604030504040204" pitchFamily="34" charset="0"/>
              </a:rPr>
              <a:t>t</a:t>
            </a:r>
            <a:r>
              <a:rPr lang="en-US" altLang="en-US" sz="1800" i="1">
                <a:latin typeface="Verdana" panose="020B0604030504040204" pitchFamily="34" charset="0"/>
              </a:rPr>
              <a:t>n</a:t>
            </a: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40226" name="Line 66">
            <a:extLst>
              <a:ext uri="{FF2B5EF4-FFF2-40B4-BE49-F238E27FC236}">
                <a16:creationId xmlns:a16="http://schemas.microsoft.com/office/drawing/2014/main" id="{1A299560-E473-D3B7-5E44-30145C4027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2921000"/>
            <a:ext cx="12700" cy="711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2" name="Freeform 62">
            <a:extLst>
              <a:ext uri="{FF2B5EF4-FFF2-40B4-BE49-F238E27FC236}">
                <a16:creationId xmlns:a16="http://schemas.microsoft.com/office/drawing/2014/main" id="{11CD0D56-BA2D-01C1-7A5B-6074AA920254}"/>
              </a:ext>
            </a:extLst>
          </p:cNvPr>
          <p:cNvSpPr>
            <a:spLocks/>
          </p:cNvSpPr>
          <p:nvPr/>
        </p:nvSpPr>
        <p:spPr bwMode="auto">
          <a:xfrm>
            <a:off x="3835400" y="3121025"/>
            <a:ext cx="4876800" cy="3067050"/>
          </a:xfrm>
          <a:custGeom>
            <a:avLst/>
            <a:gdLst>
              <a:gd name="T0" fmla="*/ 576 w 3168"/>
              <a:gd name="T1" fmla="*/ 2160 h 2352"/>
              <a:gd name="T2" fmla="*/ 576 w 3168"/>
              <a:gd name="T3" fmla="*/ 2352 h 2352"/>
              <a:gd name="T4" fmla="*/ 3168 w 3168"/>
              <a:gd name="T5" fmla="*/ 2352 h 2352"/>
              <a:gd name="T6" fmla="*/ 3168 w 3168"/>
              <a:gd name="T7" fmla="*/ 0 h 2352"/>
              <a:gd name="T8" fmla="*/ 0 w 3168"/>
              <a:gd name="T9" fmla="*/ 0 h 2352"/>
              <a:gd name="T10" fmla="*/ 0 w 3168"/>
              <a:gd name="T11" fmla="*/ 384 h 2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68" h="2352">
                <a:moveTo>
                  <a:pt x="576" y="2160"/>
                </a:moveTo>
                <a:lnTo>
                  <a:pt x="576" y="2352"/>
                </a:lnTo>
                <a:lnTo>
                  <a:pt x="3168" y="2352"/>
                </a:lnTo>
                <a:lnTo>
                  <a:pt x="3168" y="0"/>
                </a:ln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3" name="Line 63">
            <a:extLst>
              <a:ext uri="{FF2B5EF4-FFF2-40B4-BE49-F238E27FC236}">
                <a16:creationId xmlns:a16="http://schemas.microsoft.com/office/drawing/2014/main" id="{99D7CB46-0236-AA50-DDC5-18A543829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1800" y="3121025"/>
            <a:ext cx="0" cy="5016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4" name="Line 64">
            <a:extLst>
              <a:ext uri="{FF2B5EF4-FFF2-40B4-BE49-F238E27FC236}">
                <a16:creationId xmlns:a16="http://schemas.microsoft.com/office/drawing/2014/main" id="{79C3FEA4-31DA-B636-5E49-A95972B0F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4400" y="3121025"/>
            <a:ext cx="0" cy="5016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5" name="Freeform 65">
            <a:extLst>
              <a:ext uri="{FF2B5EF4-FFF2-40B4-BE49-F238E27FC236}">
                <a16:creationId xmlns:a16="http://schemas.microsoft.com/office/drawing/2014/main" id="{43BB2738-E462-894B-618D-F0955DC4EB2E}"/>
              </a:ext>
            </a:extLst>
          </p:cNvPr>
          <p:cNvSpPr>
            <a:spLocks/>
          </p:cNvSpPr>
          <p:nvPr/>
        </p:nvSpPr>
        <p:spPr bwMode="auto">
          <a:xfrm>
            <a:off x="863600" y="2933700"/>
            <a:ext cx="8001000" cy="3441700"/>
          </a:xfrm>
          <a:custGeom>
            <a:avLst/>
            <a:gdLst>
              <a:gd name="T0" fmla="*/ 0 w 5040"/>
              <a:gd name="T1" fmla="*/ 1216 h 2168"/>
              <a:gd name="T2" fmla="*/ 0 w 5040"/>
              <a:gd name="T3" fmla="*/ 2168 h 2168"/>
              <a:gd name="T4" fmla="*/ 5040 w 5040"/>
              <a:gd name="T5" fmla="*/ 2168 h 2168"/>
              <a:gd name="T6" fmla="*/ 5040 w 5040"/>
              <a:gd name="T7" fmla="*/ 0 h 2168"/>
              <a:gd name="T8" fmla="*/ 1392 w 5040"/>
              <a:gd name="T9" fmla="*/ 0 h 2168"/>
              <a:gd name="T10" fmla="*/ 1392 w 5040"/>
              <a:gd name="T11" fmla="*/ 434 h 2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40" h="2168">
                <a:moveTo>
                  <a:pt x="0" y="1216"/>
                </a:moveTo>
                <a:lnTo>
                  <a:pt x="0" y="2168"/>
                </a:lnTo>
                <a:lnTo>
                  <a:pt x="5040" y="2168"/>
                </a:lnTo>
                <a:lnTo>
                  <a:pt x="5040" y="0"/>
                </a:lnTo>
                <a:lnTo>
                  <a:pt x="1392" y="0"/>
                </a:lnTo>
                <a:lnTo>
                  <a:pt x="1392" y="434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7" name="Freeform 67">
            <a:extLst>
              <a:ext uri="{FF2B5EF4-FFF2-40B4-BE49-F238E27FC236}">
                <a16:creationId xmlns:a16="http://schemas.microsoft.com/office/drawing/2014/main" id="{B8F27A7A-C973-B1A5-1686-0283252C4D77}"/>
              </a:ext>
            </a:extLst>
          </p:cNvPr>
          <p:cNvSpPr>
            <a:spLocks/>
          </p:cNvSpPr>
          <p:nvPr/>
        </p:nvSpPr>
        <p:spPr bwMode="auto">
          <a:xfrm>
            <a:off x="4978400" y="3309938"/>
            <a:ext cx="3581400" cy="2752725"/>
          </a:xfrm>
          <a:custGeom>
            <a:avLst/>
            <a:gdLst>
              <a:gd name="T0" fmla="*/ 0 w 2256"/>
              <a:gd name="T1" fmla="*/ 2016 h 2112"/>
              <a:gd name="T2" fmla="*/ 0 w 2256"/>
              <a:gd name="T3" fmla="*/ 2112 h 2112"/>
              <a:gd name="T4" fmla="*/ 2256 w 2256"/>
              <a:gd name="T5" fmla="*/ 2112 h 2112"/>
              <a:gd name="T6" fmla="*/ 2256 w 2256"/>
              <a:gd name="T7" fmla="*/ 0 h 2112"/>
              <a:gd name="T8" fmla="*/ 1920 w 2256"/>
              <a:gd name="T9" fmla="*/ 0 h 2112"/>
              <a:gd name="T10" fmla="*/ 1920 w 2256"/>
              <a:gd name="T11" fmla="*/ 240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56" h="2112">
                <a:moveTo>
                  <a:pt x="0" y="2016"/>
                </a:moveTo>
                <a:lnTo>
                  <a:pt x="0" y="2112"/>
                </a:lnTo>
                <a:lnTo>
                  <a:pt x="2256" y="2112"/>
                </a:lnTo>
                <a:lnTo>
                  <a:pt x="2256" y="0"/>
                </a:lnTo>
                <a:lnTo>
                  <a:pt x="1920" y="0"/>
                </a:lnTo>
                <a:lnTo>
                  <a:pt x="1920" y="24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8" name="Text Box 68">
            <a:extLst>
              <a:ext uri="{FF2B5EF4-FFF2-40B4-BE49-F238E27FC236}">
                <a16:creationId xmlns:a16="http://schemas.microsoft.com/office/drawing/2014/main" id="{A0E9D7C1-9BC1-EDCD-0690-E92D480A4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3987800"/>
            <a:ext cx="955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800" i="1">
                <a:solidFill>
                  <a:srgbClr val="FFA74F"/>
                </a:solidFill>
                <a:latin typeface="Verdana" panose="020B0604030504040204" pitchFamily="34" charset="0"/>
              </a:rPr>
              <a:t>ROB</a:t>
            </a:r>
          </a:p>
        </p:txBody>
      </p:sp>
      <p:sp>
        <p:nvSpPr>
          <p:cNvPr id="2140229" name="Text Box 69">
            <a:extLst>
              <a:ext uri="{FF2B5EF4-FFF2-40B4-BE49-F238E27FC236}">
                <a16:creationId xmlns:a16="http://schemas.microsoft.com/office/drawing/2014/main" id="{A958EE36-3393-5705-57AF-CE291D2C789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654050" y="1271588"/>
            <a:ext cx="8061325" cy="1570037"/>
          </a:xfrm>
          <a:noFill/>
          <a:ln/>
          <a:extLs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en-US" sz="2000"/>
              <a:t>Arbiter selects one ready instruction (P1=1 AND P2=1) to execute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000"/>
              <a:t>Instruction reads operands from ROB, executes, and broadcasts tag and result to waiting instructions in ROB.  Also saves result and exception flags for commit.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F1226-5E88-3478-6291-5D83E71C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0CEDA-1CA9-0172-0E39-0D38864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82EC1-CB0B-DC08-1FEB-E75A18D6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50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186" name="Rectangle 2">
            <a:extLst>
              <a:ext uri="{FF2B5EF4-FFF2-40B4-BE49-F238E27FC236}">
                <a16:creationId xmlns:a16="http://schemas.microsoft.com/office/drawing/2014/main" id="{2401B2E3-D366-1E12-1E60-9F28DC215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Commit Stage</a:t>
            </a:r>
          </a:p>
        </p:txBody>
      </p:sp>
      <p:grpSp>
        <p:nvGrpSpPr>
          <p:cNvPr id="2141282" name="Group 98">
            <a:extLst>
              <a:ext uri="{FF2B5EF4-FFF2-40B4-BE49-F238E27FC236}">
                <a16:creationId xmlns:a16="http://schemas.microsoft.com/office/drawing/2014/main" id="{DEA728B7-67FD-BCE9-F787-F1EC5C8190F9}"/>
              </a:ext>
            </a:extLst>
          </p:cNvPr>
          <p:cNvGrpSpPr>
            <a:grpSpLocks/>
          </p:cNvGrpSpPr>
          <p:nvPr/>
        </p:nvGrpSpPr>
        <p:grpSpPr bwMode="auto">
          <a:xfrm>
            <a:off x="206375" y="3111500"/>
            <a:ext cx="8750300" cy="3768725"/>
            <a:chOff x="130" y="1704"/>
            <a:chExt cx="5512" cy="2374"/>
          </a:xfrm>
        </p:grpSpPr>
        <p:sp>
          <p:nvSpPr>
            <p:cNvPr id="2141240" name="Text Box 56">
              <a:extLst>
                <a:ext uri="{FF2B5EF4-FFF2-40B4-BE49-F238E27FC236}">
                  <a16:creationId xmlns:a16="http://schemas.microsoft.com/office/drawing/2014/main" id="{07B75796-7E7F-B8F9-1EB3-A89AE4E05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" y="2400"/>
              <a:ext cx="2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latin typeface="Verdana" panose="020B0604030504040204" pitchFamily="34" charset="0"/>
                </a:rPr>
                <a:t>t</a:t>
              </a:r>
              <a:r>
                <a:rPr lang="en-US" altLang="en-US" sz="1800" i="1">
                  <a:latin typeface="Verdana" panose="020B0604030504040204" pitchFamily="34" charset="0"/>
                </a:rPr>
                <a:t>n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  <p:grpSp>
          <p:nvGrpSpPr>
            <p:cNvPr id="2141241" name="Group 57">
              <a:extLst>
                <a:ext uri="{FF2B5EF4-FFF2-40B4-BE49-F238E27FC236}">
                  <a16:creationId xmlns:a16="http://schemas.microsoft.com/office/drawing/2014/main" id="{EA381339-B2BC-53F3-FD15-82FFAA928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992"/>
              <a:ext cx="624" cy="624"/>
              <a:chOff x="4272" y="1104"/>
              <a:chExt cx="624" cy="624"/>
            </a:xfrm>
          </p:grpSpPr>
          <p:grpSp>
            <p:nvGrpSpPr>
              <p:cNvPr id="2141242" name="Group 58">
                <a:extLst>
                  <a:ext uri="{FF2B5EF4-FFF2-40B4-BE49-F238E27FC236}">
                    <a16:creationId xmlns:a16="http://schemas.microsoft.com/office/drawing/2014/main" id="{517A8E05-3839-5265-657F-083B8035CB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2" y="1104"/>
                <a:ext cx="624" cy="144"/>
                <a:chOff x="4272" y="1104"/>
                <a:chExt cx="624" cy="144"/>
              </a:xfrm>
            </p:grpSpPr>
            <p:sp>
              <p:nvSpPr>
                <p:cNvPr id="2141243" name="Rectangle 59">
                  <a:extLst>
                    <a:ext uri="{FF2B5EF4-FFF2-40B4-BE49-F238E27FC236}">
                      <a16:creationId xmlns:a16="http://schemas.microsoft.com/office/drawing/2014/main" id="{94326214-FD4C-5CDB-838E-E21817914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1104"/>
                  <a:ext cx="43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Tag</a:t>
                  </a:r>
                </a:p>
              </p:txBody>
            </p:sp>
            <p:sp>
              <p:nvSpPr>
                <p:cNvPr id="2141244" name="Rectangle 60">
                  <a:extLst>
                    <a:ext uri="{FF2B5EF4-FFF2-40B4-BE49-F238E27FC236}">
                      <a16:creationId xmlns:a16="http://schemas.microsoft.com/office/drawing/2014/main" id="{ED65D507-F297-5DB5-2F73-555D4305E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19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V</a:t>
                  </a:r>
                </a:p>
              </p:txBody>
            </p:sp>
          </p:grpSp>
          <p:sp>
            <p:nvSpPr>
              <p:cNvPr id="2141245" name="Line 61">
                <a:extLst>
                  <a:ext uri="{FF2B5EF4-FFF2-40B4-BE49-F238E27FC236}">
                    <a16:creationId xmlns:a16="http://schemas.microsoft.com/office/drawing/2014/main" id="{F71C6B06-9FD5-B99B-E3C6-45F5127DD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39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246" name="Line 62">
                <a:extLst>
                  <a:ext uri="{FF2B5EF4-FFF2-40B4-BE49-F238E27FC236}">
                    <a16:creationId xmlns:a16="http://schemas.microsoft.com/office/drawing/2014/main" id="{8656AE8B-D1BA-FDC3-1F44-10E0079A8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39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141247" name="Group 63">
                <a:extLst>
                  <a:ext uri="{FF2B5EF4-FFF2-40B4-BE49-F238E27FC236}">
                    <a16:creationId xmlns:a16="http://schemas.microsoft.com/office/drawing/2014/main" id="{5F40A36F-D41E-2582-932A-3DDB729F54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2" y="1248"/>
                <a:ext cx="624" cy="144"/>
                <a:chOff x="4272" y="1104"/>
                <a:chExt cx="624" cy="144"/>
              </a:xfrm>
            </p:grpSpPr>
            <p:sp>
              <p:nvSpPr>
                <p:cNvPr id="2141248" name="Rectangle 64">
                  <a:extLst>
                    <a:ext uri="{FF2B5EF4-FFF2-40B4-BE49-F238E27FC236}">
                      <a16:creationId xmlns:a16="http://schemas.microsoft.com/office/drawing/2014/main" id="{82180B36-87B6-AE11-C690-CBE95157EC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1104"/>
                  <a:ext cx="43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Tag</a:t>
                  </a:r>
                </a:p>
              </p:txBody>
            </p:sp>
            <p:sp>
              <p:nvSpPr>
                <p:cNvPr id="2141249" name="Rectangle 65">
                  <a:extLst>
                    <a:ext uri="{FF2B5EF4-FFF2-40B4-BE49-F238E27FC236}">
                      <a16:creationId xmlns:a16="http://schemas.microsoft.com/office/drawing/2014/main" id="{92D17FE4-4BE2-0515-D42D-619AB19A9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19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V</a:t>
                  </a:r>
                </a:p>
              </p:txBody>
            </p:sp>
          </p:grpSp>
          <p:grpSp>
            <p:nvGrpSpPr>
              <p:cNvPr id="2141250" name="Group 66">
                <a:extLst>
                  <a:ext uri="{FF2B5EF4-FFF2-40B4-BE49-F238E27FC236}">
                    <a16:creationId xmlns:a16="http://schemas.microsoft.com/office/drawing/2014/main" id="{143F3CE3-C8BB-0744-715F-717F1192C7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2" y="1584"/>
                <a:ext cx="624" cy="144"/>
                <a:chOff x="4272" y="1104"/>
                <a:chExt cx="624" cy="144"/>
              </a:xfrm>
            </p:grpSpPr>
            <p:sp>
              <p:nvSpPr>
                <p:cNvPr id="2141251" name="Rectangle 67">
                  <a:extLst>
                    <a:ext uri="{FF2B5EF4-FFF2-40B4-BE49-F238E27FC236}">
                      <a16:creationId xmlns:a16="http://schemas.microsoft.com/office/drawing/2014/main" id="{D9D193DF-97C2-A620-4156-FC49FED8F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1104"/>
                  <a:ext cx="43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Tag</a:t>
                  </a:r>
                </a:p>
              </p:txBody>
            </p:sp>
            <p:sp>
              <p:nvSpPr>
                <p:cNvPr id="2141252" name="Rectangle 68">
                  <a:extLst>
                    <a:ext uri="{FF2B5EF4-FFF2-40B4-BE49-F238E27FC236}">
                      <a16:creationId xmlns:a16="http://schemas.microsoft.com/office/drawing/2014/main" id="{04BF7FEE-BA2E-22DE-8148-0EA294D2B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192" cy="14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V</a:t>
                  </a:r>
                </a:p>
              </p:txBody>
            </p:sp>
          </p:grpSp>
        </p:grpSp>
        <p:sp>
          <p:nvSpPr>
            <p:cNvPr id="2141253" name="Text Box 69">
              <a:extLst>
                <a:ext uri="{FF2B5EF4-FFF2-40B4-BE49-F238E27FC236}">
                  <a16:creationId xmlns:a16="http://schemas.microsoft.com/office/drawing/2014/main" id="{D56BF3DD-9C84-A3D8-F7AA-2584E669C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944"/>
              <a:ext cx="71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Rename Table</a:t>
              </a:r>
            </a:p>
          </p:txBody>
        </p:sp>
        <p:sp>
          <p:nvSpPr>
            <p:cNvPr id="2141254" name="Text Box 70">
              <a:extLst>
                <a:ext uri="{FF2B5EF4-FFF2-40B4-BE49-F238E27FC236}">
                  <a16:creationId xmlns:a16="http://schemas.microsoft.com/office/drawing/2014/main" id="{612D80FD-9FBF-56C9-1931-8084057CC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8" y="3424"/>
              <a:ext cx="3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R0</a:t>
              </a:r>
            </a:p>
          </p:txBody>
        </p:sp>
        <p:sp>
          <p:nvSpPr>
            <p:cNvPr id="2141255" name="Text Box 71">
              <a:extLst>
                <a:ext uri="{FF2B5EF4-FFF2-40B4-BE49-F238E27FC236}">
                  <a16:creationId xmlns:a16="http://schemas.microsoft.com/office/drawing/2014/main" id="{3CF9AEC1-3556-6700-072B-22C988C89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3088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R30</a:t>
              </a:r>
            </a:p>
          </p:txBody>
        </p:sp>
        <p:sp>
          <p:nvSpPr>
            <p:cNvPr id="2141256" name="Text Box 72">
              <a:extLst>
                <a:ext uri="{FF2B5EF4-FFF2-40B4-BE49-F238E27FC236}">
                  <a16:creationId xmlns:a16="http://schemas.microsoft.com/office/drawing/2014/main" id="{0BD4F5F5-7FAF-4864-015C-1074DD814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942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R31</a:t>
              </a:r>
            </a:p>
          </p:txBody>
        </p:sp>
        <p:sp>
          <p:nvSpPr>
            <p:cNvPr id="2141257" name="Rectangle 73">
              <a:extLst>
                <a:ext uri="{FF2B5EF4-FFF2-40B4-BE49-F238E27FC236}">
                  <a16:creationId xmlns:a16="http://schemas.microsoft.com/office/drawing/2014/main" id="{43A0FC1F-E01C-C92D-153B-3C11D1D55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024"/>
              <a:ext cx="624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2141258" name="Rectangle 74">
              <a:extLst>
                <a:ext uri="{FF2B5EF4-FFF2-40B4-BE49-F238E27FC236}">
                  <a16:creationId xmlns:a16="http://schemas.microsoft.com/office/drawing/2014/main" id="{D443DDCB-DB2F-44C3-8408-496B58962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68"/>
              <a:ext cx="624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2141259" name="Rectangle 75">
              <a:extLst>
                <a:ext uri="{FF2B5EF4-FFF2-40B4-BE49-F238E27FC236}">
                  <a16:creationId xmlns:a16="http://schemas.microsoft.com/office/drawing/2014/main" id="{1FC79CAD-9855-3957-FD19-5A172C09D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504"/>
              <a:ext cx="624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2141260" name="Line 76">
              <a:extLst>
                <a:ext uri="{FF2B5EF4-FFF2-40B4-BE49-F238E27FC236}">
                  <a16:creationId xmlns:a16="http://schemas.microsoft.com/office/drawing/2014/main" id="{965133AC-F938-1848-44C1-102D75910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312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61" name="Line 77">
              <a:extLst>
                <a:ext uri="{FF2B5EF4-FFF2-40B4-BE49-F238E27FC236}">
                  <a16:creationId xmlns:a16="http://schemas.microsoft.com/office/drawing/2014/main" id="{0257AE35-81EC-0571-06F3-14BD73A9E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312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62" name="Text Box 78">
              <a:extLst>
                <a:ext uri="{FF2B5EF4-FFF2-40B4-BE49-F238E27FC236}">
                  <a16:creationId xmlns:a16="http://schemas.microsoft.com/office/drawing/2014/main" id="{9F7BF170-C157-BA53-435A-AA8D10FEE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0" y="3408"/>
              <a:ext cx="3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R0</a:t>
              </a:r>
            </a:p>
          </p:txBody>
        </p:sp>
        <p:sp>
          <p:nvSpPr>
            <p:cNvPr id="2141263" name="Text Box 79">
              <a:extLst>
                <a:ext uri="{FF2B5EF4-FFF2-40B4-BE49-F238E27FC236}">
                  <a16:creationId xmlns:a16="http://schemas.microsoft.com/office/drawing/2014/main" id="{22C3AE06-D3BC-06E5-12EC-4360A0514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3122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R30</a:t>
              </a:r>
            </a:p>
          </p:txBody>
        </p:sp>
        <p:sp>
          <p:nvSpPr>
            <p:cNvPr id="2141264" name="Text Box 80">
              <a:extLst>
                <a:ext uri="{FF2B5EF4-FFF2-40B4-BE49-F238E27FC236}">
                  <a16:creationId xmlns:a16="http://schemas.microsoft.com/office/drawing/2014/main" id="{34350554-09A8-6B77-E9AA-3D296FA9E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2976"/>
              <a:ext cx="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R31</a:t>
              </a:r>
            </a:p>
          </p:txBody>
        </p:sp>
        <p:sp>
          <p:nvSpPr>
            <p:cNvPr id="2141265" name="Text Box 81">
              <a:extLst>
                <a:ext uri="{FF2B5EF4-FFF2-40B4-BE49-F238E27FC236}">
                  <a16:creationId xmlns:a16="http://schemas.microsoft.com/office/drawing/2014/main" id="{A4A1F7CF-A4BA-208A-1618-A9A3AD802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024"/>
              <a:ext cx="1096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 i="1">
                  <a:latin typeface="Verdana" panose="020B0604030504040204" pitchFamily="34" charset="0"/>
                </a:rPr>
                <a:t>Committed Architectural Regfile</a:t>
              </a:r>
            </a:p>
          </p:txBody>
        </p:sp>
        <p:sp>
          <p:nvSpPr>
            <p:cNvPr id="2141266" name="Freeform 82">
              <a:extLst>
                <a:ext uri="{FF2B5EF4-FFF2-40B4-BE49-F238E27FC236}">
                  <a16:creationId xmlns:a16="http://schemas.microsoft.com/office/drawing/2014/main" id="{A5E42C6B-7497-D7D6-685C-7CEBEE1E3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592"/>
              <a:ext cx="2352" cy="432"/>
            </a:xfrm>
            <a:custGeom>
              <a:avLst/>
              <a:gdLst>
                <a:gd name="T0" fmla="*/ 2352 w 2352"/>
                <a:gd name="T1" fmla="*/ 0 h 432"/>
                <a:gd name="T2" fmla="*/ 2352 w 2352"/>
                <a:gd name="T3" fmla="*/ 192 h 432"/>
                <a:gd name="T4" fmla="*/ 0 w 2352"/>
                <a:gd name="T5" fmla="*/ 192 h 432"/>
                <a:gd name="T6" fmla="*/ 0 w 2352"/>
                <a:gd name="T7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52" h="432">
                  <a:moveTo>
                    <a:pt x="2352" y="0"/>
                  </a:moveTo>
                  <a:lnTo>
                    <a:pt x="2352" y="192"/>
                  </a:lnTo>
                  <a:lnTo>
                    <a:pt x="0" y="192"/>
                  </a:lnTo>
                  <a:lnTo>
                    <a:pt x="0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67" name="Freeform 83">
              <a:extLst>
                <a:ext uri="{FF2B5EF4-FFF2-40B4-BE49-F238E27FC236}">
                  <a16:creationId xmlns:a16="http://schemas.microsoft.com/office/drawing/2014/main" id="{D52A178A-55C9-1AE3-8800-BBBD68D7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592"/>
              <a:ext cx="2736" cy="672"/>
            </a:xfrm>
            <a:custGeom>
              <a:avLst/>
              <a:gdLst>
                <a:gd name="T0" fmla="*/ 2736 w 2736"/>
                <a:gd name="T1" fmla="*/ 0 h 672"/>
                <a:gd name="T2" fmla="*/ 2736 w 2736"/>
                <a:gd name="T3" fmla="*/ 96 h 672"/>
                <a:gd name="T4" fmla="*/ 0 w 2736"/>
                <a:gd name="T5" fmla="*/ 96 h 672"/>
                <a:gd name="T6" fmla="*/ 0 w 2736"/>
                <a:gd name="T7" fmla="*/ 672 h 672"/>
                <a:gd name="T8" fmla="*/ 96 w 2736"/>
                <a:gd name="T9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6" h="672">
                  <a:moveTo>
                    <a:pt x="2736" y="0"/>
                  </a:moveTo>
                  <a:lnTo>
                    <a:pt x="2736" y="96"/>
                  </a:lnTo>
                  <a:lnTo>
                    <a:pt x="0" y="96"/>
                  </a:lnTo>
                  <a:lnTo>
                    <a:pt x="0" y="672"/>
                  </a:lnTo>
                  <a:lnTo>
                    <a:pt x="96" y="67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0" name="Freeform 86">
              <a:extLst>
                <a:ext uri="{FF2B5EF4-FFF2-40B4-BE49-F238E27FC236}">
                  <a16:creationId xmlns:a16="http://schemas.microsoft.com/office/drawing/2014/main" id="{7B548259-BD81-A19E-FF15-12BE020C8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2592"/>
              <a:ext cx="288" cy="192"/>
            </a:xfrm>
            <a:custGeom>
              <a:avLst/>
              <a:gdLst>
                <a:gd name="T0" fmla="*/ 0 w 288"/>
                <a:gd name="T1" fmla="*/ 0 h 192"/>
                <a:gd name="T2" fmla="*/ 0 w 288"/>
                <a:gd name="T3" fmla="*/ 192 h 192"/>
                <a:gd name="T4" fmla="*/ 288 w 288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92">
                  <a:moveTo>
                    <a:pt x="0" y="0"/>
                  </a:moveTo>
                  <a:lnTo>
                    <a:pt x="0" y="192"/>
                  </a:lnTo>
                  <a:lnTo>
                    <a:pt x="288" y="19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1" name="Text Box 87">
              <a:extLst>
                <a:ext uri="{FF2B5EF4-FFF2-40B4-BE49-F238E27FC236}">
                  <a16:creationId xmlns:a16="http://schemas.microsoft.com/office/drawing/2014/main" id="{AB8CA9A0-11F3-FA0C-FE81-31FB08B91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" y="2793"/>
              <a:ext cx="8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latin typeface="Verdana" panose="020B0604030504040204" pitchFamily="34" charset="0"/>
                </a:rPr>
                <a:t>Exception?</a:t>
              </a:r>
            </a:p>
          </p:txBody>
        </p:sp>
        <p:sp>
          <p:nvSpPr>
            <p:cNvPr id="2141272" name="Freeform 88">
              <a:extLst>
                <a:ext uri="{FF2B5EF4-FFF2-40B4-BE49-F238E27FC236}">
                  <a16:creationId xmlns:a16="http://schemas.microsoft.com/office/drawing/2014/main" id="{32C73B88-7F19-51BC-25FF-E392BC7BC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688"/>
              <a:ext cx="432" cy="816"/>
            </a:xfrm>
            <a:custGeom>
              <a:avLst/>
              <a:gdLst>
                <a:gd name="T0" fmla="*/ 0 w 432"/>
                <a:gd name="T1" fmla="*/ 0 h 816"/>
                <a:gd name="T2" fmla="*/ 0 w 432"/>
                <a:gd name="T3" fmla="*/ 816 h 816"/>
                <a:gd name="T4" fmla="*/ 432 w 432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816">
                  <a:moveTo>
                    <a:pt x="0" y="0"/>
                  </a:moveTo>
                  <a:lnTo>
                    <a:pt x="0" y="816"/>
                  </a:lnTo>
                  <a:lnTo>
                    <a:pt x="432" y="816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3" name="Freeform 89">
              <a:extLst>
                <a:ext uri="{FF2B5EF4-FFF2-40B4-BE49-F238E27FC236}">
                  <a16:creationId xmlns:a16="http://schemas.microsoft.com/office/drawing/2014/main" id="{825AE443-9124-4B75-B024-196C79CC5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2640"/>
              <a:ext cx="3696" cy="1160"/>
            </a:xfrm>
            <a:custGeom>
              <a:avLst/>
              <a:gdLst>
                <a:gd name="T0" fmla="*/ 384 w 3696"/>
                <a:gd name="T1" fmla="*/ 0 h 1344"/>
                <a:gd name="T2" fmla="*/ 384 w 3696"/>
                <a:gd name="T3" fmla="*/ 144 h 1344"/>
                <a:gd name="T4" fmla="*/ 0 w 3696"/>
                <a:gd name="T5" fmla="*/ 144 h 1344"/>
                <a:gd name="T6" fmla="*/ 0 w 3696"/>
                <a:gd name="T7" fmla="*/ 1248 h 1344"/>
                <a:gd name="T8" fmla="*/ 3696 w 3696"/>
                <a:gd name="T9" fmla="*/ 1248 h 1344"/>
                <a:gd name="T10" fmla="*/ 3696 w 3696"/>
                <a:gd name="T11" fmla="*/ 1344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96" h="1344">
                  <a:moveTo>
                    <a:pt x="384" y="0"/>
                  </a:moveTo>
                  <a:lnTo>
                    <a:pt x="384" y="144"/>
                  </a:lnTo>
                  <a:lnTo>
                    <a:pt x="0" y="144"/>
                  </a:lnTo>
                  <a:lnTo>
                    <a:pt x="0" y="1248"/>
                  </a:lnTo>
                  <a:lnTo>
                    <a:pt x="3696" y="1248"/>
                  </a:lnTo>
                  <a:lnTo>
                    <a:pt x="3696" y="134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4" name="Line 90">
              <a:extLst>
                <a:ext uri="{FF2B5EF4-FFF2-40B4-BE49-F238E27FC236}">
                  <a16:creationId xmlns:a16="http://schemas.microsoft.com/office/drawing/2014/main" id="{88B2AEEF-2031-5B07-8A94-8309C4334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616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5" name="AutoShape 91">
              <a:extLst>
                <a:ext uri="{FF2B5EF4-FFF2-40B4-BE49-F238E27FC236}">
                  <a16:creationId xmlns:a16="http://schemas.microsoft.com/office/drawing/2014/main" id="{8B99D8D8-9C9F-3DC6-1F78-29B51C3A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808"/>
              <a:ext cx="336" cy="14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=?</a:t>
              </a:r>
            </a:p>
          </p:txBody>
        </p:sp>
        <p:sp>
          <p:nvSpPr>
            <p:cNvPr id="2141276" name="Line 92">
              <a:extLst>
                <a:ext uri="{FF2B5EF4-FFF2-40B4-BE49-F238E27FC236}">
                  <a16:creationId xmlns:a16="http://schemas.microsoft.com/office/drawing/2014/main" id="{CF008571-7965-3F08-02DC-83BCD44BA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952"/>
              <a:ext cx="0" cy="9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77" name="Text Box 93">
              <a:extLst>
                <a:ext uri="{FF2B5EF4-FFF2-40B4-BE49-F238E27FC236}">
                  <a16:creationId xmlns:a16="http://schemas.microsoft.com/office/drawing/2014/main" id="{95D34AAC-C4B8-2100-7A68-4F9CB8A93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847"/>
              <a:ext cx="156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solidFill>
                    <a:srgbClr val="56127A"/>
                  </a:solidFill>
                  <a:latin typeface="Verdana" panose="020B0604030504040204" pitchFamily="34" charset="0"/>
                </a:rPr>
                <a:t>Clear rename valid?</a:t>
              </a:r>
            </a:p>
          </p:txBody>
        </p:sp>
        <p:sp>
          <p:nvSpPr>
            <p:cNvPr id="2141280" name="Rectangle 96">
              <a:extLst>
                <a:ext uri="{FF2B5EF4-FFF2-40B4-BE49-F238E27FC236}">
                  <a16:creationId xmlns:a16="http://schemas.microsoft.com/office/drawing/2014/main" id="{68E12E88-3B79-A68F-F919-29773FE1E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" y="1760"/>
              <a:ext cx="4656" cy="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141200" name="Group 16">
              <a:extLst>
                <a:ext uri="{FF2B5EF4-FFF2-40B4-BE49-F238E27FC236}">
                  <a16:creationId xmlns:a16="http://schemas.microsoft.com/office/drawing/2014/main" id="{DAC05237-0166-8A32-7321-4CA32767F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3" y="2080"/>
              <a:ext cx="4656" cy="192"/>
              <a:chOff x="240" y="1632"/>
              <a:chExt cx="5136" cy="240"/>
            </a:xfrm>
          </p:grpSpPr>
          <p:grpSp>
            <p:nvGrpSpPr>
              <p:cNvPr id="2141201" name="Group 17">
                <a:extLst>
                  <a:ext uri="{FF2B5EF4-FFF2-40B4-BE49-F238E27FC236}">
                    <a16:creationId xmlns:a16="http://schemas.microsoft.com/office/drawing/2014/main" id="{685D00A6-AA54-BB12-BDFC-87B8DB0F2C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632"/>
                <a:ext cx="1008" cy="240"/>
                <a:chOff x="912" y="1776"/>
                <a:chExt cx="1008" cy="240"/>
              </a:xfrm>
            </p:grpSpPr>
            <p:sp>
              <p:nvSpPr>
                <p:cNvPr id="2141202" name="Rectangle 18">
                  <a:extLst>
                    <a:ext uri="{FF2B5EF4-FFF2-40B4-BE49-F238E27FC236}">
                      <a16:creationId xmlns:a16="http://schemas.microsoft.com/office/drawing/2014/main" id="{2694B882-AB80-9740-8F87-7B3B52147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1776"/>
                  <a:ext cx="624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Opcode</a:t>
                  </a:r>
                </a:p>
              </p:txBody>
            </p:sp>
            <p:sp>
              <p:nvSpPr>
                <p:cNvPr id="2141203" name="Rectangle 19">
                  <a:extLst>
                    <a:ext uri="{FF2B5EF4-FFF2-40B4-BE49-F238E27FC236}">
                      <a16:creationId xmlns:a16="http://schemas.microsoft.com/office/drawing/2014/main" id="{5875E319-3A44-812D-E6D6-8EF6DF917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776"/>
                  <a:ext cx="192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U</a:t>
                  </a:r>
                </a:p>
              </p:txBody>
            </p:sp>
            <p:sp>
              <p:nvSpPr>
                <p:cNvPr id="2141204" name="Rectangle 20">
                  <a:extLst>
                    <a:ext uri="{FF2B5EF4-FFF2-40B4-BE49-F238E27FC236}">
                      <a16:creationId xmlns:a16="http://schemas.microsoft.com/office/drawing/2014/main" id="{D30FEBA1-B6B6-2A9A-D169-1E289D724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1776"/>
                  <a:ext cx="192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2141205" name="Group 21">
                <a:extLst>
                  <a:ext uri="{FF2B5EF4-FFF2-40B4-BE49-F238E27FC236}">
                    <a16:creationId xmlns:a16="http://schemas.microsoft.com/office/drawing/2014/main" id="{622FC2F5-004C-451B-341F-F9416D03CF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632"/>
                <a:ext cx="1200" cy="240"/>
                <a:chOff x="1920" y="1776"/>
                <a:chExt cx="1200" cy="240"/>
              </a:xfrm>
            </p:grpSpPr>
            <p:sp>
              <p:nvSpPr>
                <p:cNvPr id="2141206" name="Rectangle 22">
                  <a:extLst>
                    <a:ext uri="{FF2B5EF4-FFF2-40B4-BE49-F238E27FC236}">
                      <a16:creationId xmlns:a16="http://schemas.microsoft.com/office/drawing/2014/main" id="{57CECF6D-0301-D9B8-8868-B06C7D3BD8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776"/>
                  <a:ext cx="432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Tag1</a:t>
                  </a:r>
                </a:p>
              </p:txBody>
            </p:sp>
            <p:sp>
              <p:nvSpPr>
                <p:cNvPr id="2141207" name="Rectangle 23">
                  <a:extLst>
                    <a:ext uri="{FF2B5EF4-FFF2-40B4-BE49-F238E27FC236}">
                      <a16:creationId xmlns:a16="http://schemas.microsoft.com/office/drawing/2014/main" id="{D743625B-01D1-15A7-0947-C93935175A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1776"/>
                  <a:ext cx="240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P1</a:t>
                  </a:r>
                </a:p>
              </p:txBody>
            </p:sp>
            <p:sp>
              <p:nvSpPr>
                <p:cNvPr id="2141208" name="Rectangle 24">
                  <a:extLst>
                    <a:ext uri="{FF2B5EF4-FFF2-40B4-BE49-F238E27FC236}">
                      <a16:creationId xmlns:a16="http://schemas.microsoft.com/office/drawing/2014/main" id="{8879D029-C4C2-172A-9A09-317AEF194A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1776"/>
                  <a:ext cx="528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Data1</a:t>
                  </a:r>
                </a:p>
              </p:txBody>
            </p:sp>
          </p:grpSp>
          <p:grpSp>
            <p:nvGrpSpPr>
              <p:cNvPr id="2141209" name="Group 25">
                <a:extLst>
                  <a:ext uri="{FF2B5EF4-FFF2-40B4-BE49-F238E27FC236}">
                    <a16:creationId xmlns:a16="http://schemas.microsoft.com/office/drawing/2014/main" id="{1EF1C837-86FD-1D2E-D58E-1AFD3B6D4E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1632"/>
                <a:ext cx="1200" cy="240"/>
                <a:chOff x="1920" y="1776"/>
                <a:chExt cx="1200" cy="240"/>
              </a:xfrm>
            </p:grpSpPr>
            <p:sp>
              <p:nvSpPr>
                <p:cNvPr id="2141210" name="Rectangle 26">
                  <a:extLst>
                    <a:ext uri="{FF2B5EF4-FFF2-40B4-BE49-F238E27FC236}">
                      <a16:creationId xmlns:a16="http://schemas.microsoft.com/office/drawing/2014/main" id="{08F2F53C-F947-F70C-658D-8B2BCCE3EC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776"/>
                  <a:ext cx="432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Tag2</a:t>
                  </a:r>
                </a:p>
              </p:txBody>
            </p:sp>
            <p:sp>
              <p:nvSpPr>
                <p:cNvPr id="2141211" name="Rectangle 27">
                  <a:extLst>
                    <a:ext uri="{FF2B5EF4-FFF2-40B4-BE49-F238E27FC236}">
                      <a16:creationId xmlns:a16="http://schemas.microsoft.com/office/drawing/2014/main" id="{ADBF1C87-17E0-8A8C-6E7D-77D5CF387E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1776"/>
                  <a:ext cx="240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P2</a:t>
                  </a:r>
                </a:p>
              </p:txBody>
            </p:sp>
            <p:sp>
              <p:nvSpPr>
                <p:cNvPr id="2141212" name="Rectangle 28">
                  <a:extLst>
                    <a:ext uri="{FF2B5EF4-FFF2-40B4-BE49-F238E27FC236}">
                      <a16:creationId xmlns:a16="http://schemas.microsoft.com/office/drawing/2014/main" id="{03586A74-2FF7-F39B-7459-8CC541A7E3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1776"/>
                  <a:ext cx="528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Data2</a:t>
                  </a:r>
                </a:p>
              </p:txBody>
            </p:sp>
          </p:grpSp>
          <p:grpSp>
            <p:nvGrpSpPr>
              <p:cNvPr id="2141213" name="Group 29">
                <a:extLst>
                  <a:ext uri="{FF2B5EF4-FFF2-40B4-BE49-F238E27FC236}">
                    <a16:creationId xmlns:a16="http://schemas.microsoft.com/office/drawing/2014/main" id="{D2D79842-19D9-E729-D706-6905B26642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632"/>
                <a:ext cx="1728" cy="240"/>
                <a:chOff x="2640" y="2208"/>
                <a:chExt cx="1728" cy="240"/>
              </a:xfrm>
            </p:grpSpPr>
            <p:sp>
              <p:nvSpPr>
                <p:cNvPr id="2141214" name="Rectangle 30">
                  <a:extLst>
                    <a:ext uri="{FF2B5EF4-FFF2-40B4-BE49-F238E27FC236}">
                      <a16:creationId xmlns:a16="http://schemas.microsoft.com/office/drawing/2014/main" id="{246D5C74-3EE4-64E6-E2E0-5B8A316838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208"/>
                  <a:ext cx="432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Rd</a:t>
                  </a:r>
                </a:p>
              </p:txBody>
            </p:sp>
            <p:sp>
              <p:nvSpPr>
                <p:cNvPr id="2141215" name="Rectangle 31">
                  <a:extLst>
                    <a:ext uri="{FF2B5EF4-FFF2-40B4-BE49-F238E27FC236}">
                      <a16:creationId xmlns:a16="http://schemas.microsoft.com/office/drawing/2014/main" id="{BF9071FB-3520-9AA3-D447-64FF957995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2208"/>
                  <a:ext cx="240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Pd</a:t>
                  </a:r>
                </a:p>
              </p:txBody>
            </p:sp>
            <p:sp>
              <p:nvSpPr>
                <p:cNvPr id="2141216" name="Rectangle 32">
                  <a:extLst>
                    <a:ext uri="{FF2B5EF4-FFF2-40B4-BE49-F238E27FC236}">
                      <a16:creationId xmlns:a16="http://schemas.microsoft.com/office/drawing/2014/main" id="{81E4785E-34E8-B9AE-4E19-E735023B51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208"/>
                  <a:ext cx="528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Datad</a:t>
                  </a:r>
                </a:p>
              </p:txBody>
            </p:sp>
            <p:sp>
              <p:nvSpPr>
                <p:cNvPr id="2141217" name="Rectangle 33">
                  <a:extLst>
                    <a:ext uri="{FF2B5EF4-FFF2-40B4-BE49-F238E27FC236}">
                      <a16:creationId xmlns:a16="http://schemas.microsoft.com/office/drawing/2014/main" id="{8620FB85-A0C3-34A2-3FB9-C22D07AB94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0" y="2208"/>
                  <a:ext cx="528" cy="24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en-US" sz="1800">
                      <a:solidFill>
                        <a:srgbClr val="56127A"/>
                      </a:solidFill>
                      <a:latin typeface="Verdana" panose="020B0604030504040204" pitchFamily="34" charset="0"/>
                    </a:rPr>
                    <a:t>Cause</a:t>
                  </a:r>
                </a:p>
              </p:txBody>
            </p:sp>
          </p:grpSp>
        </p:grpSp>
        <p:sp>
          <p:nvSpPr>
            <p:cNvPr id="2141236" name="Line 52">
              <a:extLst>
                <a:ext uri="{FF2B5EF4-FFF2-40B4-BE49-F238E27FC236}">
                  <a16:creationId xmlns:a16="http://schemas.microsoft.com/office/drawing/2014/main" id="{6BB1CC9E-E81C-1BA4-61C2-2F26361B6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" y="1704"/>
              <a:ext cx="0" cy="88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37" name="Line 53">
              <a:extLst>
                <a:ext uri="{FF2B5EF4-FFF2-40B4-BE49-F238E27FC236}">
                  <a16:creationId xmlns:a16="http://schemas.microsoft.com/office/drawing/2014/main" id="{7DD6CA30-65DE-771B-125B-437925188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1" y="1720"/>
              <a:ext cx="8" cy="8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38" name="Text Box 54">
              <a:extLst>
                <a:ext uri="{FF2B5EF4-FFF2-40B4-BE49-F238E27FC236}">
                  <a16:creationId xmlns:a16="http://schemas.microsoft.com/office/drawing/2014/main" id="{CA330540-43C9-CD43-69EC-0CE95EFF8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" y="1720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latin typeface="Verdana" panose="020B0604030504040204" pitchFamily="34" charset="0"/>
                </a:rPr>
                <a:t>t1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2141268" name="Line 84">
              <a:extLst>
                <a:ext uri="{FF2B5EF4-FFF2-40B4-BE49-F238E27FC236}">
                  <a16:creationId xmlns:a16="http://schemas.microsoft.com/office/drawing/2014/main" id="{D28CDED0-4C48-D49D-8EED-2F37C074D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" y="2167"/>
              <a:ext cx="19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269" name="Text Box 85">
              <a:extLst>
                <a:ext uri="{FF2B5EF4-FFF2-40B4-BE49-F238E27FC236}">
                  <a16:creationId xmlns:a16="http://schemas.microsoft.com/office/drawing/2014/main" id="{11811835-39D7-30B6-984B-262F4B499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2048"/>
              <a:ext cx="4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800">
                  <a:latin typeface="Verdana" panose="020B0604030504040204" pitchFamily="34" charset="0"/>
                </a:rPr>
                <a:t>ptr2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2141278" name="Text Box 94">
              <a:extLst>
                <a:ext uri="{FF2B5EF4-FFF2-40B4-BE49-F238E27FC236}">
                  <a16:creationId xmlns:a16="http://schemas.microsoft.com/office/drawing/2014/main" id="{44070081-4566-3A01-B91D-802CF903B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2280"/>
              <a:ext cx="6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800" i="1">
                  <a:solidFill>
                    <a:srgbClr val="FFA74F"/>
                  </a:solidFill>
                  <a:latin typeface="Verdana" panose="020B0604030504040204" pitchFamily="34" charset="0"/>
                </a:rPr>
                <a:t>ROB</a:t>
              </a:r>
            </a:p>
          </p:txBody>
        </p:sp>
      </p:grpSp>
      <p:sp>
        <p:nvSpPr>
          <p:cNvPr id="2141279" name="Text Box 95">
            <a:extLst>
              <a:ext uri="{FF2B5EF4-FFF2-40B4-BE49-F238E27FC236}">
                <a16:creationId xmlns:a16="http://schemas.microsoft.com/office/drawing/2014/main" id="{83C883C4-6939-3F53-92D3-C9D3561EB69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936625" y="1285875"/>
            <a:ext cx="7265988" cy="1751013"/>
          </a:xfrm>
          <a:noFill/>
          <a:ln/>
          <a:extLs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/>
              <a:t>When instruction at ptr2 (commit point) has completed, write back result to architectural state and check for exceptions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/>
              <a:t>Check if rename table entry for architectural register written matches tag, if so, clear valid bit in rename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33A05-D6FB-460B-3DBC-D605DAC7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March 14, 2024</a:t>
            </a:r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E2A17-F65F-69E9-1FFF-16364924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6.1920</a:t>
            </a:r>
            <a:endParaRPr lang="en-US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77F91-7F3D-4514-E473-24916EB5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L11-</a:t>
            </a:r>
            <a:fld id="{4B69DDD6-8F21-4B34-BC24-E00FBA920423}" type="slidenum">
              <a:rPr lang="en-US" altLang="en-US" smtClean="0"/>
              <a:pPr/>
              <a:t>51</a:t>
            </a:fld>
            <a:endParaRPr lang="en-US" altLang="en-US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02" name="Rectangle 2">
            <a:extLst>
              <a:ext uri="{FF2B5EF4-FFF2-40B4-BE49-F238E27FC236}">
                <a16:creationId xmlns:a16="http://schemas.microsoft.com/office/drawing/2014/main" id="{E21E4D42-E7E5-3C2C-2F30-B5EB862874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60063" y="1758998"/>
            <a:ext cx="6788199" cy="1752600"/>
          </a:xfrm>
        </p:spPr>
        <p:txBody>
          <a:bodyPr/>
          <a:lstStyle/>
          <a:p>
            <a:pPr algn="l"/>
            <a:r>
              <a:rPr lang="en-US" altLang="en-US" i="1" dirty="0">
                <a:latin typeface="+mn-lt"/>
              </a:rPr>
              <a:t>Many optimizations are needed before an OOO architecture becomes profitable.</a:t>
            </a:r>
          </a:p>
          <a:p>
            <a:pPr algn="l"/>
            <a:endParaRPr lang="en-US" altLang="en-US" i="1" dirty="0">
              <a:latin typeface="+mn-lt"/>
            </a:endParaRPr>
          </a:p>
          <a:p>
            <a:pPr algn="l"/>
            <a:r>
              <a:rPr lang="en-US" altLang="en-US" sz="2400" i="1" dirty="0">
                <a:latin typeface="+mn-lt"/>
              </a:rPr>
              <a:t>Thank you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36352-0284-35A6-3006-DAA0A30F4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0138" y="6400800"/>
            <a:ext cx="1905000" cy="457200"/>
          </a:xfrm>
        </p:spPr>
        <p:txBody>
          <a:bodyPr/>
          <a:lstStyle/>
          <a:p>
            <a:fld id="{7C1648ED-8F98-4AE1-A3A5-89594527E5A3}" type="slidenum">
              <a:rPr lang="en-US" altLang="en-US" smtClean="0"/>
              <a:pPr/>
              <a:t>52</a:t>
            </a:fld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1A67C"/>
      </a:accent1>
      <a:accent2>
        <a:srgbClr val="686EA8"/>
      </a:accent2>
      <a:accent3>
        <a:srgbClr val="FFFFFF"/>
      </a:accent3>
      <a:accent4>
        <a:srgbClr val="000000"/>
      </a:accent4>
      <a:accent5>
        <a:srgbClr val="C7D0BF"/>
      </a:accent5>
      <a:accent6>
        <a:srgbClr val="5E6398"/>
      </a:accent6>
      <a:hlink>
        <a:srgbClr val="9E7B91"/>
      </a:hlink>
      <a:folHlink>
        <a:srgbClr val="7F6759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58586</TotalTime>
  <Words>4566</Words>
  <Application>Microsoft Office PowerPoint</Application>
  <PresentationFormat>On-screen Show (4:3)</PresentationFormat>
  <Paragraphs>1050</Paragraphs>
  <Slides>52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Times New Roman</vt:lpstr>
      <vt:lpstr>Verdana</vt:lpstr>
      <vt:lpstr>DINNeuzeitGrotesk BoldCond</vt:lpstr>
      <vt:lpstr>Times</vt:lpstr>
      <vt:lpstr>Wingdings</vt:lpstr>
      <vt:lpstr>Symbol</vt:lpstr>
      <vt:lpstr>Arial</vt:lpstr>
      <vt:lpstr>Courier New</vt:lpstr>
      <vt:lpstr>Default Design</vt:lpstr>
      <vt:lpstr>PowerPoint Presentation</vt:lpstr>
      <vt:lpstr>Complex Pipelining: Motivation</vt:lpstr>
      <vt:lpstr>Function Unit Characteristics</vt:lpstr>
      <vt:lpstr>Improving Memory Performance </vt:lpstr>
      <vt:lpstr>Complex Pipeline Structure (abstract view)</vt:lpstr>
      <vt:lpstr>Complex Pipeline Control Issues</vt:lpstr>
      <vt:lpstr>Complex In-Order Pipeline</vt:lpstr>
      <vt:lpstr>Need to understand Dependence Analysis in order to understand OOO execution </vt:lpstr>
      <vt:lpstr>Types of Data Hazards </vt:lpstr>
      <vt:lpstr>Detecting Data Hazards</vt:lpstr>
      <vt:lpstr>Register vs. Memory Data Dependence</vt:lpstr>
      <vt:lpstr>Data Hazards: An Example</vt:lpstr>
      <vt:lpstr>Instruction Scheduling</vt:lpstr>
      <vt:lpstr>Out-of-order Completion In-order Issue</vt:lpstr>
      <vt:lpstr>PowerPoint Presentation</vt:lpstr>
      <vt:lpstr>CDC 6600 Seymour Cray, 1963</vt:lpstr>
      <vt:lpstr>IBM Memo on CDC6600</vt:lpstr>
      <vt:lpstr>Complex Pipeline</vt:lpstr>
      <vt:lpstr>When is it Safe to Issue an Instruction?</vt:lpstr>
      <vt:lpstr>A Data Structure for Correct Issues Keeps track of the status of Functional Units</vt:lpstr>
      <vt:lpstr>Simplifying the Data Structure  Assuming In-order Issue</vt:lpstr>
      <vt:lpstr>Simplifying the Data Structure ...</vt:lpstr>
      <vt:lpstr>Scoreboard for In-order Issues</vt:lpstr>
      <vt:lpstr>Scoreboard Dynamics</vt:lpstr>
      <vt:lpstr>In-Order Issue Pipeline</vt:lpstr>
      <vt:lpstr>Scoreboard for In-order Issues</vt:lpstr>
      <vt:lpstr>In-Order Issue Limitations: an example</vt:lpstr>
      <vt:lpstr>Out-of-Order Issue</vt:lpstr>
      <vt:lpstr>In-Order Issue Limitations: an example</vt:lpstr>
      <vt:lpstr>How many Instructions can be in the pipeline</vt:lpstr>
      <vt:lpstr>Overcoming the Lack of Register Names</vt:lpstr>
      <vt:lpstr>Instruction-Level Parallelism with Renaming</vt:lpstr>
      <vt:lpstr>Register Renaming</vt:lpstr>
      <vt:lpstr>Renaming &amp; Out-of-order Issue An example</vt:lpstr>
      <vt:lpstr>Data-Driven Execution</vt:lpstr>
      <vt:lpstr>Dataflow execution</vt:lpstr>
      <vt:lpstr>Simplifying Allocation/Deallocation</vt:lpstr>
      <vt:lpstr>IBM 360/91 Floating Point Unit R. M. Tomasulo, 1967</vt:lpstr>
      <vt:lpstr>Effectiveness?</vt:lpstr>
      <vt:lpstr>Precise Interrupts</vt:lpstr>
      <vt:lpstr>Effect on Interrupts Out-of-order Completion</vt:lpstr>
      <vt:lpstr>In-Order Commit for Precise Exceptions</vt:lpstr>
      <vt:lpstr>Extensions for Precise Exceptions</vt:lpstr>
      <vt:lpstr>Rollback and Renaming</vt:lpstr>
      <vt:lpstr>Renaming Table</vt:lpstr>
      <vt:lpstr>PowerPoint Presentation</vt:lpstr>
      <vt:lpstr>Phases of Instruction Execution</vt:lpstr>
      <vt:lpstr>Fetch Stage</vt:lpstr>
      <vt:lpstr>Decode &amp; Rename Stage</vt:lpstr>
      <vt:lpstr>Execute Stage</vt:lpstr>
      <vt:lpstr>Commit Stage</vt:lpstr>
      <vt:lpstr>PowerPoint Presentation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labyex</dc:creator>
  <cp:lastModifiedBy>Arvind Arvind</cp:lastModifiedBy>
  <cp:revision>1047</cp:revision>
  <cp:lastPrinted>2000-11-03T14:05:27Z</cp:lastPrinted>
  <dcterms:created xsi:type="dcterms:W3CDTF">2000-10-09T18:23:52Z</dcterms:created>
  <dcterms:modified xsi:type="dcterms:W3CDTF">2024-03-14T02:49:47Z</dcterms:modified>
</cp:coreProperties>
</file>